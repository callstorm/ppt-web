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大家好,这一节我们一起来聊 TCP/IP 协议,目标是用最短的时间把"它是什么、为什么可靠、面试怎么答"一次性讲清楚。TCP/IP 不是单个协议,而是一整个协议族的总称,我们日常访问网页、发消息、看视频都跑在它之上。如果你之前对网络只有模糊的概念,这一节会帮你把骨架搭起来;如果你正在准备面试,后面三次握手、四次挥手的部分可以直接拿去用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我们先看 TCP/IP 四层模型。从上到下分别是应用层、传输层、网络层和链路层。一次 HTTP 请求从浏览器出发,先在应用层打包成数据,然后到传输层加上 TCP 头变成 Segment,再到网络层加上 IP 头变成 Packet,最后到链路层加上以太网头尾变成 Frame,通过网卡发出去。接收端按相反顺序层层拆开,这就是"封装"和"分用"。记住一句话:TCP 是其中一层的协议,而 TCP/IP 是整个协议族的总称,面试被问到时不要答反。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接下来看三次握手。第一次,Client 发一个 SYN 包,带上自己的初始序列号 x,进入 SYN_SENT。第二次,Server 回 SYN 加 ACK,带上自己的序列号 y,并确认收到 x 加一,进入 SYN_RCVD。第三次,Client 再发一个 ACK,确认收到 y 加一,双方都进入 ESTABLISHED,连接就建好了。为什么要三次而不是两次?两个原因:一是防止网络中滞留的失效请求突然到达 Server 而误开连接,二是必须同步双方的初始序列号,后续数据传输全靠这两个序列号来排序和确认。面试如果只让你背一句话,背这个:"三次握手同步序列号并确认双方收发能力"。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再看四次挥手。Client 先发 FIN,自己进入 FIN_WAIT_1;Server 回 ACK,Client 进入 FIN_WAIT_2;等到 Server 应用层也关完了,Server 发自己的 FIN,进入 LAST_ACK;最后 Client 回 ACK,进入 TIME_WAIT,等 2MSL 后才真正关闭。Server 收到 ACK 后直接 CLOSED。为什么比握手多一次?因为 TCP 是全双工,Server 收到 FIN 只表示对方不发数据了,自己这边可能还有数据要发,所以必须先 ACK 确认,再单独发自己的 FIN。面试追问 TIME_WAIT 时,记住两点:一是保证最后一个 ACK 能到对端,二是让旧报文在网络中消散,避免污染下一个连接。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最后给一张面试速记卡。最常被追问的四个问题:三次握手为什么不是两次、四次挥手为什么多一次、为什么要有 TIME_WAIT、丢包怎么办。回答时抓住关键词:防失效、同步序列号、全双工、2MSL、重传计时器。TCP 的可靠性归根到底来自四件事:序号、确认、重传、流量与拥塞控制。把这八个字记住,基本上 90% 的网络面试追问都有底。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5FFF">
                    <a:alpha val="10000"/>
                  </a:srgbClr>
                </a:gs>
                <a:gs pos="100000">
                  <a:srgbClr val="0B5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5715000"/>
              <a:ext cx="12192000" cy="1143000"/>
            </a:xfrm>
            <a:prstGeom prst="rect">
              <a:avLst/>
            </a:prstGeom>
            <a:gradFill>
              <a:gsLst>
                <a:gs pos="0">
                  <a:srgbClr val="0B5FFF">
                    <a:alpha val="0"/>
                  </a:srgbClr>
                </a:gs>
                <a:gs pos="100000">
                  <a:srgbClr val="0B5FFF">
                    <a:alpha val="8000"/>
                  </a:srgb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762000"/>
            <a:ext cx="438150" cy="666750"/>
            <a:chOff x="762000" y="762000"/>
            <a:chExt cx="438150" cy="666750"/>
          </a:xfrm>
        </p:grpSpPr>
        <p:sp>
          <p:nvSpPr>
            <p:cNvPr id="6" name="Rectangle 6"/>
            <p:cNvSpPr/>
            <p:nvPr/>
          </p:nvSpPr>
          <p:spPr>
            <a:xfrm>
              <a:off x="762000" y="762000"/>
              <a:ext cx="57150" cy="609600"/>
            </a:xfrm>
            <a:prstGeom prst="rect">
              <a:avLst/>
            </a:prstGeom>
            <a:solidFill>
              <a:srgbClr val="0B5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19150" y="1371600"/>
              <a:ext cx="381000" cy="5715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144000" y="1524000"/>
            <a:ext cx="2286000" cy="2286000"/>
            <a:chOff x="9144000" y="1524000"/>
            <a:chExt cx="2286000" cy="2286000"/>
          </a:xfrm>
        </p:grpSpPr>
        <p:sp>
          <p:nvSpPr>
            <p:cNvPr id="9" name="Ellipse 9"/>
            <p:cNvSpPr/>
            <p:nvPr/>
          </p:nvSpPr>
          <p:spPr>
            <a:xfrm>
              <a:off x="9144000" y="1524000"/>
              <a:ext cx="2286000" cy="2286000"/>
            </a:xfrm>
            <a:prstGeom prst="ellipse">
              <a:avLst/>
            </a:prstGeom>
            <a:solidFill>
              <a:srgbClr val="F4F6FA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9744075" y="2124075"/>
              <a:ext cx="1085850" cy="1146174"/>
              <a:chOff x="9744075" y="2124075"/>
              <a:chExt cx="1085850" cy="114617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925050" y="2124075"/>
                <a:ext cx="7239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723900" h="723900">
                    <a:moveTo>
                      <a:pt x="0" y="361950"/>
                    </a:moveTo>
                    <a:cubicBezTo>
                      <a:pt x="0" y="561849"/>
                      <a:pt x="162050" y="723900"/>
                      <a:pt x="361950" y="723900"/>
                    </a:cubicBezTo>
                    <a:cubicBezTo>
                      <a:pt x="561849" y="723900"/>
                      <a:pt x="723900" y="561849"/>
                      <a:pt x="723900" y="361950"/>
                    </a:cubicBezTo>
                    <a:cubicBezTo>
                      <a:pt x="723900" y="162050"/>
                      <a:pt x="561849" y="0"/>
                      <a:pt x="361950" y="0"/>
                    </a:cubicBezTo>
                    <a:cubicBezTo>
                      <a:pt x="162050" y="0"/>
                      <a:pt x="0" y="162050"/>
                      <a:pt x="0" y="361950"/>
                    </a:cubicBezTo>
                  </a:path>
                </a:pathLst>
              </a:custGeom>
              <a:noFill/>
              <a:ln w="19050">
                <a:solidFill>
                  <a:srgbClr val="0B5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287000" y="2124075"/>
                <a:ext cx="1206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723900">
                    <a:moveTo>
                      <a:pt x="0" y="0"/>
                    </a:moveTo>
                    <a:cubicBezTo>
                      <a:pt x="80413" y="20088"/>
                      <a:pt x="120650" y="140738"/>
                      <a:pt x="120650" y="361950"/>
                    </a:cubicBezTo>
                    <a:cubicBezTo>
                      <a:pt x="120650" y="583161"/>
                      <a:pt x="80413" y="703811"/>
                      <a:pt x="0" y="723900"/>
                    </a:cubicBezTo>
                  </a:path>
                </a:pathLst>
              </a:custGeom>
              <a:noFill/>
              <a:ln w="19050">
                <a:solidFill>
                  <a:srgbClr val="0B5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166350" y="2124075"/>
                <a:ext cx="12065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723900">
                    <a:moveTo>
                      <a:pt x="120650" y="0"/>
                    </a:moveTo>
                    <a:cubicBezTo>
                      <a:pt x="40237" y="20088"/>
                      <a:pt x="0" y="140738"/>
                      <a:pt x="0" y="361950"/>
                    </a:cubicBezTo>
                    <a:cubicBezTo>
                      <a:pt x="0" y="583161"/>
                      <a:pt x="40237" y="703811"/>
                      <a:pt x="120650" y="723900"/>
                    </a:cubicBezTo>
                  </a:path>
                </a:pathLst>
              </a:custGeom>
              <a:noFill/>
              <a:ln w="19050">
                <a:solidFill>
                  <a:srgbClr val="0B5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25050" y="2486025"/>
                <a:ext cx="723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" h="9525">
                    <a:moveTo>
                      <a:pt x="0" y="0"/>
                    </a:moveTo>
                    <a:lnTo>
                      <a:pt x="723900" y="0"/>
                    </a:lnTo>
                  </a:path>
                </a:pathLst>
              </a:custGeom>
              <a:noFill/>
              <a:ln w="19050">
                <a:solidFill>
                  <a:srgbClr val="0B5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744075" y="3149599"/>
                <a:ext cx="422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2275" h="9525">
                    <a:moveTo>
                      <a:pt x="0" y="0"/>
                    </a:moveTo>
                    <a:lnTo>
                      <a:pt x="422275" y="0"/>
                    </a:lnTo>
                  </a:path>
                </a:pathLst>
              </a:custGeom>
              <a:noFill/>
              <a:ln w="19050">
                <a:solidFill>
                  <a:srgbClr val="0B5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407650" y="3149599"/>
                <a:ext cx="422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2275" h="9525">
                    <a:moveTo>
                      <a:pt x="0" y="0"/>
                    </a:moveTo>
                    <a:lnTo>
                      <a:pt x="422275" y="0"/>
                    </a:lnTo>
                  </a:path>
                </a:pathLst>
              </a:custGeom>
              <a:noFill/>
              <a:ln w="19050">
                <a:solidFill>
                  <a:srgbClr val="0B5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166350" y="3028949"/>
                <a:ext cx="241300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241300" h="241300">
                    <a:moveTo>
                      <a:pt x="0" y="120650"/>
                    </a:moveTo>
                    <a:cubicBezTo>
                      <a:pt x="0" y="187283"/>
                      <a:pt x="54017" y="241300"/>
                      <a:pt x="120650" y="241300"/>
                    </a:cubicBezTo>
                    <a:cubicBezTo>
                      <a:pt x="187283" y="241300"/>
                      <a:pt x="241300" y="187283"/>
                      <a:pt x="241300" y="120650"/>
                    </a:cubicBezTo>
                    <a:cubicBezTo>
                      <a:pt x="241300" y="54017"/>
                      <a:pt x="187283" y="0"/>
                      <a:pt x="120650" y="0"/>
                    </a:cubicBezTo>
                    <a:cubicBezTo>
                      <a:pt x="54017" y="0"/>
                      <a:pt x="0" y="54017"/>
                      <a:pt x="0" y="120650"/>
                    </a:cubicBezTo>
                  </a:path>
                </a:pathLst>
              </a:custGeom>
              <a:noFill/>
              <a:ln w="19050">
                <a:solidFill>
                  <a:srgbClr val="0B5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287000" y="2847975"/>
                <a:ext cx="952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0975">
                    <a:moveTo>
                      <a:pt x="0" y="0"/>
                    </a:moveTo>
                    <a:lnTo>
                      <a:pt x="0" y="180975"/>
                    </a:lnTo>
                  </a:path>
                </a:pathLst>
              </a:custGeom>
              <a:noFill/>
              <a:ln w="19050">
                <a:solidFill>
                  <a:srgbClr val="0B5FFF"/>
                </a:solidFill>
              </a:ln>
            </p:spPr>
          </p:sp>
        </p:grpSp>
      </p:grpSp>
      <p:grpSp>
        <p:nvGrpSpPr>
          <p:cNvPr id="24" name="Group 24"/>
          <p:cNvGrpSpPr/>
          <p:nvPr/>
        </p:nvGrpSpPr>
        <p:grpSpPr>
          <a:xfrm>
            <a:off x="883920" y="3125152"/>
            <a:ext cx="5694455" cy="2061210"/>
            <a:chOff x="883920" y="3125152"/>
            <a:chExt cx="5694455" cy="2061210"/>
          </a:xfrm>
        </p:grpSpPr>
        <p:sp>
          <p:nvSpPr>
            <p:cNvPr id="20" name="TextBox 20"/>
            <p:cNvSpPr txBox="1"/>
            <p:nvPr/>
          </p:nvSpPr>
          <p:spPr>
            <a:xfrm>
              <a:off x="939165" y="3125152"/>
              <a:ext cx="1812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网络协议 · 入门与面试指南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3920" y="3512820"/>
              <a:ext cx="5694455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TCP/IP 协议简介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2020" y="4408170"/>
              <a:ext cx="486156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从报文传输到</a:t>
              </a:r>
              <a:r>
                <a:rPr lang="zh-CN" sz="240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三次握手</a:t>
              </a:r>
              <a:r>
                <a:rPr lang="zh-CN" sz="24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240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四次挥手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1545" y="4851082"/>
              <a:ext cx="54435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写给小白用户的一节网络基础课,以及面试时的标准答法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39165" y="5905500"/>
            <a:ext cx="10311765" cy="385762"/>
            <a:chOff x="939165" y="5905500"/>
            <a:chExt cx="10311765" cy="385762"/>
          </a:xfrm>
        </p:grpSpPr>
        <p:sp>
          <p:nvSpPr>
            <p:cNvPr id="25" name="Rectangle 25"/>
            <p:cNvSpPr/>
            <p:nvPr/>
          </p:nvSpPr>
          <p:spPr>
            <a:xfrm>
              <a:off x="952500" y="5905500"/>
              <a:ext cx="762000" cy="28575"/>
            </a:xfrm>
            <a:prstGeom prst="rect">
              <a:avLst/>
            </a:prstGeom>
            <a:gradFill>
              <a:gsLst>
                <a:gs pos="0">
                  <a:srgbClr val="0B5FFF"/>
                </a:gs>
                <a:gs pos="100000">
                  <a:srgbClr val="0EA5E9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9165" y="6077902"/>
              <a:ext cx="17768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主讲 / 网络协议科普 · 2026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26020" y="6094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01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571500"/>
            <a:ext cx="4092940" cy="1042988"/>
            <a:chOff x="537210" y="571500"/>
            <a:chExt cx="4092940" cy="104298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57150" cy="304800"/>
            </a:xfrm>
            <a:prstGeom prst="rect">
              <a:avLst/>
            </a:prstGeom>
            <a:solidFill>
              <a:srgbClr val="0B5F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10552"/>
              <a:ext cx="1291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02 · TCP/IP 协议族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851535"/>
              <a:ext cx="284722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TCP/IP 四层模型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4355" y="1340168"/>
              <a:ext cx="40757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一次 HTTP 请求,从浏览器到服务器,经历了哪四层?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71500" y="1809750"/>
            <a:ext cx="3619500" cy="3712369"/>
            <a:chOff x="571500" y="1809750"/>
            <a:chExt cx="3619500" cy="3712369"/>
          </a:xfrm>
        </p:grpSpPr>
        <p:grpSp>
          <p:nvGrpSpPr>
            <p:cNvPr id="16" name="Group 16"/>
            <p:cNvGrpSpPr/>
            <p:nvPr/>
          </p:nvGrpSpPr>
          <p:grpSpPr>
            <a:xfrm>
              <a:off x="571500" y="1809750"/>
              <a:ext cx="3619500" cy="854869"/>
              <a:chOff x="571500" y="1809750"/>
              <a:chExt cx="3619500" cy="854869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809750"/>
                <a:ext cx="3619500" cy="819150"/>
              </a:xfrm>
              <a:prstGeom prst="roundRect">
                <a:avLst>
                  <a:gd name="adj" fmla="val 11628"/>
                </a:avLst>
              </a:prstGeom>
              <a:gradFill>
                <a:gsLst>
                  <a:gs pos="0">
                    <a:srgbClr val="0B5FFF"/>
                  </a:gs>
                  <a:gs pos="100000">
                    <a:srgbClr val="0EA5E9"/>
                  </a:gs>
                </a:gsLst>
                <a:lin ang="0" scaled="1"/>
              </a:gra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795337" y="2106612"/>
                <a:ext cx="314324" cy="244475"/>
                <a:chOff x="795337" y="2106612"/>
                <a:chExt cx="314324" cy="244475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795337" y="2106612"/>
                  <a:ext cx="314324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4" h="244475">
                      <a:moveTo>
                        <a:pt x="0" y="34925"/>
                      </a:moveTo>
                      <a:cubicBezTo>
                        <a:pt x="0" y="15636"/>
                        <a:pt x="15636" y="0"/>
                        <a:pt x="34925" y="0"/>
                      </a:cubicBezTo>
                      <a:lnTo>
                        <a:pt x="279399" y="0"/>
                      </a:lnTo>
                      <a:cubicBezTo>
                        <a:pt x="298688" y="0"/>
                        <a:pt x="314324" y="15636"/>
                        <a:pt x="314324" y="34925"/>
                      </a:cubicBezTo>
                      <a:lnTo>
                        <a:pt x="314324" y="209550"/>
                      </a:lnTo>
                      <a:cubicBezTo>
                        <a:pt x="314324" y="228838"/>
                        <a:pt x="298688" y="244475"/>
                        <a:pt x="279399" y="244475"/>
                      </a:cubicBezTo>
                      <a:lnTo>
                        <a:pt x="34925" y="244475"/>
                      </a:lnTo>
                      <a:cubicBezTo>
                        <a:pt x="15636" y="244475"/>
                        <a:pt x="0" y="228838"/>
                        <a:pt x="0" y="209550"/>
                      </a:cubicBezTo>
                      <a:lnTo>
                        <a:pt x="0" y="349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847725" y="21590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900112" y="21590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321118" y="2056924"/>
                <a:ext cx="10213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0EDFF"/>
                    </a:solidFill>
                    <a:latin typeface="Arial"/>
                    <a:ea typeface="Microsoft YaHei"/>
                    <a:cs typeface="Arial"/>
                  </a:rPr>
                  <a:t>第 4 层 · 应用层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312545" y="2222182"/>
                <a:ext cx="266408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HTTP · DNS · FTP · SMTP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321118" y="2466499"/>
                <a:ext cx="204651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0EDFF"/>
                    </a:solidFill>
                    <a:latin typeface="Arial"/>
                    <a:ea typeface="Microsoft YaHei"/>
                    <a:cs typeface="Arial"/>
                  </a:rPr>
                  <a:t>提供端到端网络服务,直接面向用户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571500" y="2762250"/>
              <a:ext cx="3619500" cy="854869"/>
              <a:chOff x="571500" y="2762250"/>
              <a:chExt cx="3619500" cy="854869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71500" y="2762250"/>
                <a:ext cx="3619500" cy="819150"/>
              </a:xfrm>
              <a:prstGeom prst="roundRect">
                <a:avLst>
                  <a:gd name="adj" fmla="val 11628"/>
                </a:avLst>
              </a:prstGeom>
              <a:solidFill>
                <a:srgbClr val="F4F6FA"/>
              </a:solidFill>
              <a:ln w="19050">
                <a:solidFill>
                  <a:srgbClr val="0B5FFF"/>
                </a:solidFill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812800" y="3041650"/>
                <a:ext cx="279399" cy="279399"/>
                <a:chOff x="812800" y="3041650"/>
                <a:chExt cx="279399" cy="279399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812800" y="3041650"/>
                  <a:ext cx="279399" cy="279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399" h="279399">
                      <a:moveTo>
                        <a:pt x="209550" y="209550"/>
                      </a:moveTo>
                      <a:lnTo>
                        <a:pt x="209550" y="244475"/>
                      </a:lnTo>
                      <a:cubicBezTo>
                        <a:pt x="209550" y="263763"/>
                        <a:pt x="193913" y="279399"/>
                        <a:pt x="174625" y="279399"/>
                      </a:cubicBezTo>
                      <a:lnTo>
                        <a:pt x="34925" y="279399"/>
                      </a:lnTo>
                      <a:cubicBezTo>
                        <a:pt x="15636" y="279399"/>
                        <a:pt x="0" y="263763"/>
                        <a:pt x="0" y="244475"/>
                      </a:cubicBezTo>
                      <a:lnTo>
                        <a:pt x="0" y="104775"/>
                      </a:lnTo>
                      <a:cubicBezTo>
                        <a:pt x="0" y="85486"/>
                        <a:pt x="15636" y="69850"/>
                        <a:pt x="34925" y="69850"/>
                      </a:cubicBezTo>
                      <a:lnTo>
                        <a:pt x="69850" y="69850"/>
                      </a:lnTo>
                      <a:lnTo>
                        <a:pt x="69850" y="34925"/>
                      </a:lnTo>
                      <a:cubicBezTo>
                        <a:pt x="69850" y="15636"/>
                        <a:pt x="85486" y="0"/>
                        <a:pt x="104775" y="0"/>
                      </a:cubicBezTo>
                      <a:lnTo>
                        <a:pt x="244475" y="0"/>
                      </a:lnTo>
                      <a:cubicBezTo>
                        <a:pt x="263763" y="0"/>
                        <a:pt x="279399" y="15636"/>
                        <a:pt x="279399" y="34925"/>
                      </a:cubicBezTo>
                      <a:lnTo>
                        <a:pt x="279399" y="174625"/>
                      </a:lnTo>
                      <a:cubicBezTo>
                        <a:pt x="279399" y="193913"/>
                        <a:pt x="263763" y="209550"/>
                        <a:pt x="244475" y="209550"/>
                      </a:cubicBezTo>
                      <a:lnTo>
                        <a:pt x="209550" y="209550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882650" y="3111500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34925" y="0"/>
                      </a:moveTo>
                      <a:lnTo>
                        <a:pt x="0" y="0"/>
                      </a:lnTo>
                      <a:lnTo>
                        <a:pt x="0" y="34925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882650" y="3216275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0"/>
                      </a:moveTo>
                      <a:lnTo>
                        <a:pt x="0" y="34925"/>
                      </a:lnTo>
                      <a:lnTo>
                        <a:pt x="34925" y="34925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987425" y="3111500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0"/>
                      </a:moveTo>
                      <a:lnTo>
                        <a:pt x="34925" y="0"/>
                      </a:lnTo>
                      <a:lnTo>
                        <a:pt x="34925" y="34925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987425" y="3216275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34925" y="0"/>
                      </a:moveTo>
                      <a:lnTo>
                        <a:pt x="34925" y="34925"/>
                      </a:lnTo>
                      <a:lnTo>
                        <a:pt x="0" y="34925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1321118" y="3009424"/>
                <a:ext cx="10213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第 3 层 · 传输层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312545" y="3174682"/>
                <a:ext cx="106998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E3A5F"/>
                    </a:solidFill>
                    <a:latin typeface="Arial"/>
                    <a:ea typeface="Microsoft YaHei"/>
                    <a:cs typeface="Arial"/>
                  </a:rPr>
                  <a:t>TCP · UDP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321118" y="3418999"/>
                <a:ext cx="217653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端到端连接,负责可靠传输与端口寻址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714750"/>
              <a:ext cx="3619500" cy="854869"/>
              <a:chOff x="571500" y="3714750"/>
              <a:chExt cx="3619500" cy="854869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3714750"/>
                <a:ext cx="3619500" cy="819150"/>
              </a:xfrm>
              <a:prstGeom prst="roundRect">
                <a:avLst>
                  <a:gd name="adj" fmla="val 11628"/>
                </a:avLst>
              </a:prstGeom>
              <a:solidFill>
                <a:srgbClr val="F4F6FA"/>
              </a:solidFill>
              <a:ln w="19050">
                <a:solidFill>
                  <a:srgbClr val="0B5FFF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795337" y="3979546"/>
                <a:ext cx="323056" cy="311466"/>
                <a:chOff x="795337" y="3979546"/>
                <a:chExt cx="323056" cy="311466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795337" y="4151312"/>
                  <a:ext cx="314324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4" h="139700">
                      <a:moveTo>
                        <a:pt x="0" y="34925"/>
                      </a:moveTo>
                      <a:cubicBezTo>
                        <a:pt x="0" y="15636"/>
                        <a:pt x="15636" y="0"/>
                        <a:pt x="34925" y="0"/>
                      </a:cubicBezTo>
                      <a:lnTo>
                        <a:pt x="279399" y="0"/>
                      </a:lnTo>
                      <a:cubicBezTo>
                        <a:pt x="298688" y="0"/>
                        <a:pt x="314324" y="15636"/>
                        <a:pt x="314324" y="34925"/>
                      </a:cubicBezTo>
                      <a:lnTo>
                        <a:pt x="314324" y="104775"/>
                      </a:lnTo>
                      <a:cubicBezTo>
                        <a:pt x="314324" y="124063"/>
                        <a:pt x="298688" y="139700"/>
                        <a:pt x="279399" y="139700"/>
                      </a:cubicBezTo>
                      <a:lnTo>
                        <a:pt x="34925" y="139700"/>
                      </a:lnTo>
                      <a:cubicBezTo>
                        <a:pt x="15636" y="139700"/>
                        <a:pt x="0" y="124063"/>
                        <a:pt x="0" y="104775"/>
                      </a:cubicBezTo>
                      <a:lnTo>
                        <a:pt x="0" y="34925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039812" y="422116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75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969962" y="422116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75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004887" y="4116387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349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948134" y="4047966"/>
                  <a:ext cx="113506" cy="29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06" h="29130">
                      <a:moveTo>
                        <a:pt x="0" y="29130"/>
                      </a:moveTo>
                      <a:cubicBezTo>
                        <a:pt x="13120" y="10844"/>
                        <a:pt x="34247" y="0"/>
                        <a:pt x="56753" y="0"/>
                      </a:cubicBezTo>
                      <a:cubicBezTo>
                        <a:pt x="79259" y="0"/>
                        <a:pt x="100386" y="10844"/>
                        <a:pt x="113506" y="29130"/>
                      </a:cubicBez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91381" y="3979546"/>
                  <a:ext cx="227012" cy="58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12" h="58260">
                      <a:moveTo>
                        <a:pt x="0" y="58260"/>
                      </a:moveTo>
                      <a:cubicBezTo>
                        <a:pt x="26240" y="21688"/>
                        <a:pt x="68494" y="0"/>
                        <a:pt x="113506" y="0"/>
                      </a:cubicBezTo>
                      <a:cubicBezTo>
                        <a:pt x="158518" y="0"/>
                        <a:pt x="200772" y="21688"/>
                        <a:pt x="227012" y="58260"/>
                      </a:cubicBez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321118" y="3961924"/>
                <a:ext cx="10213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第 2 层 · 网络层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312545" y="4127182"/>
                <a:ext cx="164756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E3A5F"/>
                    </a:solidFill>
                    <a:latin typeface="Arial"/>
                    <a:ea typeface="Microsoft YaHei"/>
                    <a:cs typeface="Arial"/>
                  </a:rPr>
                  <a:t>IP · ICMP · ARP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321118" y="4371499"/>
                <a:ext cx="23065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跨网络寻址与路由选择,确定下一跳地址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71500" y="4667250"/>
              <a:ext cx="3619500" cy="854869"/>
              <a:chOff x="571500" y="4667250"/>
              <a:chExt cx="3619500" cy="854869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4667250"/>
                <a:ext cx="3619500" cy="819150"/>
              </a:xfrm>
              <a:prstGeom prst="roundRect">
                <a:avLst>
                  <a:gd name="adj" fmla="val 11628"/>
                </a:avLst>
              </a:prstGeom>
              <a:solidFill>
                <a:srgbClr val="F4F6FA"/>
              </a:solidFill>
              <a:ln w="19050">
                <a:solidFill>
                  <a:srgbClr val="0B5FFF"/>
                </a:solidFill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847725" y="4981575"/>
                <a:ext cx="219074" cy="209550"/>
                <a:chOff x="847725" y="4981575"/>
                <a:chExt cx="219074" cy="20955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847725" y="5138737"/>
                  <a:ext cx="9525" cy="52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2387">
                      <a:moveTo>
                        <a:pt x="0" y="5238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917575" y="5086350"/>
                  <a:ext cx="952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4775">
                      <a:moveTo>
                        <a:pt x="0" y="1047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987425" y="5033962"/>
                  <a:ext cx="952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7162">
                      <a:moveTo>
                        <a:pt x="0" y="15716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057274" y="4981575"/>
                  <a:ext cx="9525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9550">
                      <a:moveTo>
                        <a:pt x="0" y="2095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1321118" y="4914424"/>
                <a:ext cx="10213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第 1 层 · 链路层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312545" y="5079682"/>
                <a:ext cx="221358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E3A5F"/>
                    </a:solidFill>
                    <a:latin typeface="Arial"/>
                    <a:ea typeface="Microsoft YaHei"/>
                    <a:cs typeface="Arial"/>
                  </a:rPr>
                  <a:t>以太网 · Wi-Fi · PPP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321118" y="5323999"/>
                <a:ext cx="19815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在同一物理网络内收发帧(Frame)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4191000" y="2190750"/>
            <a:ext cx="666750" cy="2857501"/>
            <a:chOff x="4191000" y="2190750"/>
            <a:chExt cx="666750" cy="2857501"/>
          </a:xfrm>
        </p:grpSpPr>
        <p:sp>
          <p:nvSpPr>
            <p:cNvPr id="51" name="Line 51"/>
            <p:cNvSpPr/>
            <p:nvPr/>
          </p:nvSpPr>
          <p:spPr>
            <a:xfrm>
              <a:off x="4191000" y="2190750"/>
              <a:ext cx="666750" cy="1"/>
            </a:xfrm>
            <a:prstGeom prst="line">
              <a:avLst/>
            </a:prstGeom>
            <a:noFill/>
            <a:ln w="19050">
              <a:solidFill>
                <a:srgbClr val="0B5FFF"/>
              </a:solidFill>
              <a:tailEnd type="triangle" w="lg" len="lg"/>
            </a:ln>
          </p:spPr>
        </p:sp>
        <p:sp>
          <p:nvSpPr>
            <p:cNvPr id="52" name="Line 52"/>
            <p:cNvSpPr/>
            <p:nvPr/>
          </p:nvSpPr>
          <p:spPr>
            <a:xfrm>
              <a:off x="4191000" y="3143250"/>
              <a:ext cx="666750" cy="1"/>
            </a:xfrm>
            <a:prstGeom prst="line">
              <a:avLst/>
            </a:prstGeom>
            <a:noFill/>
            <a:ln w="19050">
              <a:solidFill>
                <a:srgbClr val="0B5FFF"/>
              </a:solidFill>
              <a:tailEnd type="triangle" w="lg" len="lg"/>
            </a:ln>
          </p:spPr>
        </p:sp>
        <p:sp>
          <p:nvSpPr>
            <p:cNvPr id="53" name="Line 53"/>
            <p:cNvSpPr/>
            <p:nvPr/>
          </p:nvSpPr>
          <p:spPr>
            <a:xfrm>
              <a:off x="4191000" y="4095750"/>
              <a:ext cx="666750" cy="1"/>
            </a:xfrm>
            <a:prstGeom prst="line">
              <a:avLst/>
            </a:prstGeom>
            <a:noFill/>
            <a:ln w="19050">
              <a:solidFill>
                <a:srgbClr val="0B5FFF"/>
              </a:solidFill>
              <a:tailEnd type="triangle" w="lg" len="lg"/>
            </a:ln>
          </p:spPr>
        </p:sp>
        <p:sp>
          <p:nvSpPr>
            <p:cNvPr id="54" name="Line 54"/>
            <p:cNvSpPr/>
            <p:nvPr/>
          </p:nvSpPr>
          <p:spPr>
            <a:xfrm>
              <a:off x="4191000" y="5048250"/>
              <a:ext cx="666750" cy="1"/>
            </a:xfrm>
            <a:prstGeom prst="line">
              <a:avLst/>
            </a:prstGeom>
            <a:noFill/>
            <a:ln w="19050">
              <a:solidFill>
                <a:srgbClr val="0B5FFF"/>
              </a:solidFill>
              <a:tailEnd type="triangle" w="lg" len="lg"/>
            </a:ln>
          </p:spPr>
        </p:sp>
      </p:grpSp>
      <p:grpSp>
        <p:nvGrpSpPr>
          <p:cNvPr id="90" name="Group 90"/>
          <p:cNvGrpSpPr/>
          <p:nvPr/>
        </p:nvGrpSpPr>
        <p:grpSpPr>
          <a:xfrm>
            <a:off x="5143500" y="1809750"/>
            <a:ext cx="6477000" cy="3676650"/>
            <a:chOff x="5143500" y="1809750"/>
            <a:chExt cx="6477000" cy="3676650"/>
          </a:xfrm>
        </p:grpSpPr>
        <p:sp>
          <p:nvSpPr>
            <p:cNvPr id="56" name="Rectangle 56"/>
            <p:cNvSpPr/>
            <p:nvPr/>
          </p:nvSpPr>
          <p:spPr>
            <a:xfrm>
              <a:off x="5143500" y="1809750"/>
              <a:ext cx="6477000" cy="3676650"/>
            </a:xfrm>
            <a:prstGeom prst="roundRect">
              <a:avLst>
                <a:gd name="adj" fmla="val 3627"/>
              </a:avLst>
            </a:prstGeom>
            <a:solidFill>
              <a:srgbClr val="F8FAFD"/>
            </a:solidFill>
            <a:ln w="9525">
              <a:solidFill>
                <a:srgbClr val="E5E7E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320665" y="2001202"/>
              <a:ext cx="1834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核心机制 · 数据封装 / 分用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309235" y="2227898"/>
              <a:ext cx="293004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每经过一层,就加一个头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318760" y="2632710"/>
              <a:ext cx="62792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发送方自上而下逐层</a:t>
              </a:r>
              <a:r>
                <a:rPr lang="zh-CN" sz="120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封装</a:t>
              </a:r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(Encapsulation);接收方自下而上逐层</a:t>
              </a:r>
              <a:r>
                <a:rPr lang="zh-CN" sz="120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分用</a:t>
              </a:r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(Decapsulation)。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5334000" y="3048000"/>
              <a:ext cx="6096000" cy="438150"/>
              <a:chOff x="5334000" y="3048000"/>
              <a:chExt cx="6096000" cy="43815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5334000" y="3048000"/>
                <a:ext cx="6096000" cy="438150"/>
              </a:xfrm>
              <a:prstGeom prst="roundRect">
                <a:avLst>
                  <a:gd name="adj" fmla="val 13043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5529262" y="3202781"/>
                <a:ext cx="70365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HTTP 请求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43712" y="3202781"/>
                <a:ext cx="74866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+ TCP 头部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177212" y="3202781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+ IP 头部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510712" y="3202781"/>
                <a:ext cx="98869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+ 以太网头/尾</a:t>
                </a:r>
              </a:p>
            </p:txBody>
          </p:sp>
          <p:sp>
            <p:nvSpPr>
              <p:cNvPr id="65" name="Line 65"/>
              <p:cNvSpPr/>
              <p:nvPr/>
            </p:nvSpPr>
            <p:spPr>
              <a:xfrm>
                <a:off x="6762750" y="32670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4288">
                <a:solidFill>
                  <a:srgbClr val="0B5FFF"/>
                </a:solidFill>
              </a:ln>
            </p:spPr>
          </p:sp>
          <p:sp>
            <p:nvSpPr>
              <p:cNvPr id="66" name="Line 66"/>
              <p:cNvSpPr/>
              <p:nvPr/>
            </p:nvSpPr>
            <p:spPr>
              <a:xfrm>
                <a:off x="8096250" y="32670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4288">
                <a:solidFill>
                  <a:srgbClr val="0B5FFF"/>
                </a:solidFill>
              </a:ln>
            </p:spPr>
          </p:sp>
          <p:sp>
            <p:nvSpPr>
              <p:cNvPr id="67" name="Line 67"/>
              <p:cNvSpPr/>
              <p:nvPr/>
            </p:nvSpPr>
            <p:spPr>
              <a:xfrm>
                <a:off x="9429750" y="32670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4288">
                <a:solidFill>
                  <a:srgbClr val="0B5FFF"/>
                </a:solidFill>
              </a:ln>
            </p:spPr>
          </p:sp>
        </p:grpSp>
        <p:grpSp>
          <p:nvGrpSpPr>
            <p:cNvPr id="81" name="Group 81"/>
            <p:cNvGrpSpPr/>
            <p:nvPr/>
          </p:nvGrpSpPr>
          <p:grpSpPr>
            <a:xfrm>
              <a:off x="5334000" y="3667125"/>
              <a:ext cx="6096000" cy="661987"/>
              <a:chOff x="5334000" y="3667125"/>
              <a:chExt cx="6096000" cy="661987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5334000" y="3667125"/>
                <a:ext cx="1447800" cy="64770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19050">
                <a:solidFill>
                  <a:srgbClr val="0B5FFF"/>
                </a:solidFill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5723727" y="3819049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应用层 PDU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5569112" y="3993832"/>
                <a:ext cx="9775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Message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6896100" y="3667125"/>
                <a:ext cx="1447800" cy="64770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19050">
                <a:solidFill>
                  <a:srgbClr val="0B5FFF"/>
                </a:solidFill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7285827" y="3819049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传输层 PDU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131212" y="3993832"/>
                <a:ext cx="9775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Segment</a:t>
                </a:r>
              </a:p>
            </p:txBody>
          </p:sp>
          <p:sp>
            <p:nvSpPr>
              <p:cNvPr id="75" name="Rectangle 75"/>
              <p:cNvSpPr/>
              <p:nvPr/>
            </p:nvSpPr>
            <p:spPr>
              <a:xfrm>
                <a:off x="8458200" y="3667125"/>
                <a:ext cx="1447800" cy="64770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19050">
                <a:solidFill>
                  <a:srgbClr val="0B5FFF"/>
                </a:solidFill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8847927" y="3819049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网络层 PDU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8779947" y="3993832"/>
                <a:ext cx="80430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Packet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10020300" y="3667125"/>
                <a:ext cx="1409700" cy="647700"/>
              </a:xfrm>
              <a:prstGeom prst="roundRect">
                <a:avLst>
                  <a:gd name="adj" fmla="val 11765"/>
                </a:avLst>
              </a:prstGeom>
              <a:solidFill>
                <a:srgbClr val="FFFFFF"/>
              </a:solidFill>
              <a:ln w="19050">
                <a:solidFill>
                  <a:srgbClr val="0B5FFF"/>
                </a:solidFill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10390977" y="3819049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链路层 PDU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0363427" y="3993832"/>
                <a:ext cx="7234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Frame</a:t>
                </a: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5334000" y="4552950"/>
              <a:ext cx="6096000" cy="742950"/>
              <a:chOff x="5334000" y="4552950"/>
              <a:chExt cx="6096000" cy="742950"/>
            </a:xfrm>
          </p:grpSpPr>
          <p:sp>
            <p:nvSpPr>
              <p:cNvPr id="82" name="Rectangle 82"/>
              <p:cNvSpPr/>
              <p:nvPr/>
            </p:nvSpPr>
            <p:spPr>
              <a:xfrm>
                <a:off x="5334000" y="4552950"/>
                <a:ext cx="6096000" cy="742950"/>
              </a:xfrm>
              <a:prstGeom prst="roundRect">
                <a:avLst>
                  <a:gd name="adj" fmla="val 12821"/>
                </a:avLst>
              </a:prstGeom>
              <a:solidFill>
                <a:srgbClr val="0B5FFF">
                  <a:alpha val="6000"/>
                </a:srgbClr>
              </a:solidFill>
              <a:ln>
                <a:noFill/>
              </a:ln>
            </p:spPr>
          </p:sp>
          <p:grpSp>
            <p:nvGrpSpPr>
              <p:cNvPr id="86" name="Group 86"/>
              <p:cNvGrpSpPr/>
              <p:nvPr/>
            </p:nvGrpSpPr>
            <p:grpSpPr>
              <a:xfrm>
                <a:off x="5588794" y="4788694"/>
                <a:ext cx="271462" cy="271462"/>
                <a:chOff x="5588794" y="4788694"/>
                <a:chExt cx="271462" cy="271462"/>
              </a:xfrm>
            </p:grpSpPr>
            <p:sp>
              <p:nvSpPr>
                <p:cNvPr id="83" name="Freeform 83"/>
                <p:cNvSpPr/>
                <p:nvPr/>
              </p:nvSpPr>
              <p:spPr>
                <a:xfrm>
                  <a:off x="5588794" y="4788694"/>
                  <a:ext cx="271462" cy="135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2" h="135731">
                      <a:moveTo>
                        <a:pt x="0" y="135731"/>
                      </a:moveTo>
                      <a:lnTo>
                        <a:pt x="15081" y="135731"/>
                      </a:lnTo>
                      <a:moveTo>
                        <a:pt x="135731" y="0"/>
                      </a:moveTo>
                      <a:lnTo>
                        <a:pt x="135731" y="15081"/>
                      </a:lnTo>
                      <a:moveTo>
                        <a:pt x="256381" y="135731"/>
                      </a:moveTo>
                      <a:lnTo>
                        <a:pt x="271462" y="135731"/>
                      </a:lnTo>
                      <a:moveTo>
                        <a:pt x="39211" y="39211"/>
                      </a:moveTo>
                      <a:lnTo>
                        <a:pt x="49768" y="49768"/>
                      </a:lnTo>
                      <a:moveTo>
                        <a:pt x="232251" y="39211"/>
                      </a:moveTo>
                      <a:lnTo>
                        <a:pt x="221694" y="49768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84" name="Freeform 84"/>
                <p:cNvSpPr/>
                <p:nvPr/>
              </p:nvSpPr>
              <p:spPr>
                <a:xfrm>
                  <a:off x="5642724" y="4849019"/>
                  <a:ext cx="163601" cy="211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01" h="211137">
                      <a:moveTo>
                        <a:pt x="36557" y="135731"/>
                      </a:moveTo>
                      <a:cubicBezTo>
                        <a:pt x="10591" y="116257"/>
                        <a:pt x="0" y="82352"/>
                        <a:pt x="10264" y="51561"/>
                      </a:cubicBezTo>
                      <a:cubicBezTo>
                        <a:pt x="20528" y="20769"/>
                        <a:pt x="49343" y="0"/>
                        <a:pt x="81800" y="0"/>
                      </a:cubicBezTo>
                      <a:cubicBezTo>
                        <a:pt x="114257" y="0"/>
                        <a:pt x="143073" y="20769"/>
                        <a:pt x="153337" y="51561"/>
                      </a:cubicBezTo>
                      <a:cubicBezTo>
                        <a:pt x="163601" y="82352"/>
                        <a:pt x="153010" y="116257"/>
                        <a:pt x="127044" y="135731"/>
                      </a:cubicBezTo>
                      <a:cubicBezTo>
                        <a:pt x="115102" y="147552"/>
                        <a:pt x="109502" y="164353"/>
                        <a:pt x="111963" y="180975"/>
                      </a:cubicBezTo>
                      <a:cubicBezTo>
                        <a:pt x="111963" y="197633"/>
                        <a:pt x="98459" y="211137"/>
                        <a:pt x="81800" y="211137"/>
                      </a:cubicBezTo>
                      <a:cubicBezTo>
                        <a:pt x="65142" y="211137"/>
                        <a:pt x="51638" y="197633"/>
                        <a:pt x="51638" y="180975"/>
                      </a:cubicBezTo>
                      <a:cubicBezTo>
                        <a:pt x="54099" y="164353"/>
                        <a:pt x="48499" y="147552"/>
                        <a:pt x="36557" y="135731"/>
                      </a:cubicBez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85" name="Freeform 85"/>
                <p:cNvSpPr/>
                <p:nvPr/>
              </p:nvSpPr>
              <p:spPr>
                <a:xfrm>
                  <a:off x="5689838" y="4999831"/>
                  <a:ext cx="6937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74" h="9525">
                      <a:moveTo>
                        <a:pt x="0" y="0"/>
                      </a:moveTo>
                      <a:lnTo>
                        <a:pt x="69374" y="0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</p:grpSp>
          <p:sp>
            <p:nvSpPr>
              <p:cNvPr id="87" name="TextBox 87"/>
              <p:cNvSpPr txBox="1"/>
              <p:nvPr/>
            </p:nvSpPr>
            <p:spPr>
              <a:xfrm>
                <a:off x="6081712" y="47172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一句话理解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6079808" y="4986814"/>
                <a:ext cx="413839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E3A5F"/>
                    </a:solidFill>
                    <a:latin typeface="Arial"/>
                    <a:ea typeface="Microsoft YaHei"/>
                    <a:cs typeface="Arial"/>
                  </a:rPr>
                  <a:t>TCP 是其中一层的协议,而 TCP/IP 是整个协议族的总称</a:t>
                </a:r>
              </a:p>
            </p:txBody>
          </p:sp>
        </p:grpSp>
      </p:grpSp>
      <p:grpSp>
        <p:nvGrpSpPr>
          <p:cNvPr id="93" name="Group 93"/>
          <p:cNvGrpSpPr/>
          <p:nvPr/>
        </p:nvGrpSpPr>
        <p:grpSpPr>
          <a:xfrm>
            <a:off x="560070" y="6379845"/>
            <a:ext cx="11071860" cy="182880"/>
            <a:chOff x="560070" y="6379845"/>
            <a:chExt cx="11071860" cy="182880"/>
          </a:xfrm>
        </p:grpSpPr>
        <p:sp>
          <p:nvSpPr>
            <p:cNvPr id="91" name="TextBox 91"/>
            <p:cNvSpPr txBox="1"/>
            <p:nvPr/>
          </p:nvSpPr>
          <p:spPr>
            <a:xfrm>
              <a:off x="560070" y="6379845"/>
              <a:ext cx="772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02 · 四层模型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207020" y="63798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02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571500"/>
            <a:ext cx="4290965" cy="1042988"/>
            <a:chOff x="537210" y="571500"/>
            <a:chExt cx="4290965" cy="104298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57150" cy="304800"/>
            </a:xfrm>
            <a:prstGeom prst="rect">
              <a:avLst/>
            </a:prstGeom>
            <a:solidFill>
              <a:srgbClr val="0B5F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10552"/>
              <a:ext cx="12322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03 · TCP 连接建立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851535"/>
              <a:ext cx="428380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三次握手 — 建立可靠连接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4355" y="1340168"/>
              <a:ext cx="42738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三次,是为了</a:t>
              </a:r>
              <a:r>
                <a:rPr lang="zh-CN" sz="135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同步双方初始序列号</a:t>
              </a:r>
              <a:r>
                <a:rPr lang="zh-CN" sz="13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并确认彼此都能收发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905000"/>
            <a:ext cx="10668000" cy="4191000"/>
            <a:chOff x="762000" y="1905000"/>
            <a:chExt cx="10668000" cy="4191000"/>
          </a:xfrm>
        </p:grpSpPr>
        <p:grpSp>
          <p:nvGrpSpPr>
            <p:cNvPr id="11" name="Group 11"/>
            <p:cNvGrpSpPr/>
            <p:nvPr/>
          </p:nvGrpSpPr>
          <p:grpSpPr>
            <a:xfrm>
              <a:off x="762000" y="1905000"/>
              <a:ext cx="1714500" cy="533400"/>
              <a:chOff x="762000" y="1905000"/>
              <a:chExt cx="1714500" cy="5334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905000"/>
                <a:ext cx="1714500" cy="533400"/>
              </a:xfrm>
              <a:prstGeom prst="roundRect">
                <a:avLst>
                  <a:gd name="adj" fmla="val 17857"/>
                </a:avLst>
              </a:prstGeom>
              <a:solidFill>
                <a:srgbClr val="0B5FFF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00089" y="2048828"/>
                <a:ext cx="43832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0EDFF"/>
                    </a:solidFill>
                    <a:latin typeface="Arial"/>
                    <a:ea typeface="Microsoft YaHei"/>
                    <a:cs typeface="Arial"/>
                  </a:rPr>
                  <a:t>Client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16819" y="22378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主动发起连接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9715500" y="1905000"/>
              <a:ext cx="1714500" cy="533400"/>
              <a:chOff x="9715500" y="1905000"/>
              <a:chExt cx="1714500" cy="5334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9715500" y="1905000"/>
                <a:ext cx="1714500" cy="533400"/>
              </a:xfrm>
              <a:prstGeom prst="roundRect">
                <a:avLst>
                  <a:gd name="adj" fmla="val 17857"/>
                </a:avLst>
              </a:prstGeom>
              <a:solidFill>
                <a:srgbClr val="1E3A5F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316835" y="2048828"/>
                <a:ext cx="511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A8C0DC"/>
                    </a:solidFill>
                    <a:latin typeface="Arial"/>
                    <a:ea typeface="Microsoft YaHei"/>
                    <a:cs typeface="Arial"/>
                  </a:rPr>
                  <a:t>Server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105311" y="223789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监听并接受连接</a:t>
                </a:r>
              </a:p>
            </p:txBody>
          </p:sp>
        </p:grpSp>
        <p:sp>
          <p:nvSpPr>
            <p:cNvPr id="16" name="Line 16"/>
            <p:cNvSpPr/>
            <p:nvPr/>
          </p:nvSpPr>
          <p:spPr>
            <a:xfrm>
              <a:off x="1619250" y="2438400"/>
              <a:ext cx="9525" cy="3657600"/>
            </a:xfrm>
            <a:custGeom>
              <a:avLst/>
              <a:gdLst/>
              <a:ahLst/>
              <a:cxnLst/>
              <a:rect l="l" t="t" r="r" b="b"/>
              <a:pathLst>
                <a:path w="9525" h="3657600">
                  <a:moveTo>
                    <a:pt x="0" y="0"/>
                  </a:moveTo>
                  <a:lnTo>
                    <a:pt x="0" y="3657600"/>
                  </a:lnTo>
                </a:path>
              </a:pathLst>
            </a:custGeom>
            <a:noFill/>
            <a:ln w="19050">
              <a:solidFill>
                <a:srgbClr val="E5E7EB"/>
              </a:solidFill>
              <a:prstDash val="dash"/>
            </a:ln>
          </p:spPr>
        </p:sp>
        <p:sp>
          <p:nvSpPr>
            <p:cNvPr id="17" name="Line 17"/>
            <p:cNvSpPr/>
            <p:nvPr/>
          </p:nvSpPr>
          <p:spPr>
            <a:xfrm>
              <a:off x="10572750" y="2438400"/>
              <a:ext cx="9525" cy="3657600"/>
            </a:xfrm>
            <a:custGeom>
              <a:avLst/>
              <a:gdLst/>
              <a:ahLst/>
              <a:cxnLst/>
              <a:rect l="l" t="t" r="r" b="b"/>
              <a:pathLst>
                <a:path w="9525" h="3657600">
                  <a:moveTo>
                    <a:pt x="0" y="0"/>
                  </a:moveTo>
                  <a:lnTo>
                    <a:pt x="0" y="3657600"/>
                  </a:lnTo>
                </a:path>
              </a:pathLst>
            </a:custGeom>
            <a:noFill/>
            <a:ln w="19050">
              <a:solidFill>
                <a:srgbClr val="E5E7EB"/>
              </a:solidFill>
              <a:prstDash val="dash"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714500" y="2667000"/>
            <a:ext cx="7905750" cy="759619"/>
            <a:chOff x="1714500" y="2667000"/>
            <a:chExt cx="7905750" cy="759619"/>
          </a:xfrm>
        </p:grpSpPr>
        <p:sp>
          <p:nvSpPr>
            <p:cNvPr id="19" name="Rectangle 19"/>
            <p:cNvSpPr/>
            <p:nvPr/>
          </p:nvSpPr>
          <p:spPr>
            <a:xfrm>
              <a:off x="2667000" y="2667000"/>
              <a:ext cx="6858000" cy="723900"/>
            </a:xfrm>
            <a:prstGeom prst="roundRect">
              <a:avLst>
                <a:gd name="adj" fmla="val 13158"/>
              </a:avLst>
            </a:prstGeom>
            <a:solidFill>
              <a:srgbClr val="F4F6FA"/>
            </a:solidFill>
            <a:ln w="14288">
              <a:solidFill>
                <a:srgbClr val="0B5FFF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838450" y="2819400"/>
              <a:ext cx="419100" cy="419100"/>
            </a:xfrm>
            <a:prstGeom prst="ellipse">
              <a:avLst/>
            </a:prstGeom>
            <a:solidFill>
              <a:srgbClr val="0B5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978874" y="29403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75660" y="2804160"/>
              <a:ext cx="13410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第一次握手 · SYN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77565" y="3048952"/>
              <a:ext cx="1979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Client → Server :</a:t>
              </a:r>
              <a:r>
                <a:rPr lang="zh-CN" sz="105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SYN, seq = x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78518" y="3228499"/>
              <a:ext cx="2319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同步序列号,Client 进入 SYN_SENT 状态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714500" y="3028950"/>
              <a:ext cx="7905750" cy="1"/>
            </a:xfrm>
            <a:prstGeom prst="line">
              <a:avLst/>
            </a:prstGeom>
            <a:noFill/>
            <a:ln w="23812">
              <a:solidFill>
                <a:srgbClr val="0B5FFF"/>
              </a:solidFill>
              <a:tailEnd type="triangle" w="lg" len="lg"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571750" y="3619500"/>
            <a:ext cx="7905750" cy="759619"/>
            <a:chOff x="2571750" y="3619500"/>
            <a:chExt cx="7905750" cy="759619"/>
          </a:xfrm>
        </p:grpSpPr>
        <p:sp>
          <p:nvSpPr>
            <p:cNvPr id="27" name="Rectangle 27"/>
            <p:cNvSpPr/>
            <p:nvPr/>
          </p:nvSpPr>
          <p:spPr>
            <a:xfrm>
              <a:off x="2667000" y="3619500"/>
              <a:ext cx="6858000" cy="723900"/>
            </a:xfrm>
            <a:prstGeom prst="roundRect">
              <a:avLst>
                <a:gd name="adj" fmla="val 13158"/>
              </a:avLst>
            </a:prstGeom>
            <a:solidFill>
              <a:srgbClr val="F4F6FA"/>
            </a:solidFill>
            <a:ln w="14288">
              <a:solidFill>
                <a:srgbClr val="0B5FFF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838450" y="3771900"/>
              <a:ext cx="419100" cy="419100"/>
            </a:xfrm>
            <a:prstGeom prst="ellipse">
              <a:avLst/>
            </a:prstGeom>
            <a:solidFill>
              <a:srgbClr val="0B5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978874" y="38928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75660" y="3756660"/>
              <a:ext cx="1811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第二次握手 · SYN + ACK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77565" y="4001452"/>
              <a:ext cx="28060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Server → Client :</a:t>
              </a:r>
              <a:r>
                <a:rPr lang="zh-CN" sz="105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SYN, seq = y, ack = x + 1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78518" y="4180999"/>
              <a:ext cx="31256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同时确认并同步自己的序列号,Server 进入 SYN_RCVD</a:t>
              </a:r>
            </a:p>
          </p:txBody>
        </p:sp>
        <p:sp>
          <p:nvSpPr>
            <p:cNvPr id="33" name="Line 33"/>
            <p:cNvSpPr/>
            <p:nvPr/>
          </p:nvSpPr>
          <p:spPr>
            <a:xfrm flipH="1">
              <a:off x="2571750" y="3981450"/>
              <a:ext cx="7905750" cy="1"/>
            </a:xfrm>
            <a:prstGeom prst="line">
              <a:avLst/>
            </a:prstGeom>
            <a:noFill/>
            <a:ln w="23812">
              <a:solidFill>
                <a:srgbClr val="0B5FFF"/>
              </a:solidFill>
              <a:tailEnd type="triangle" w="lg" len="lg"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714500" y="4572000"/>
            <a:ext cx="7905750" cy="759619"/>
            <a:chOff x="1714500" y="4572000"/>
            <a:chExt cx="7905750" cy="759619"/>
          </a:xfrm>
        </p:grpSpPr>
        <p:sp>
          <p:nvSpPr>
            <p:cNvPr id="35" name="Rectangle 35"/>
            <p:cNvSpPr/>
            <p:nvPr/>
          </p:nvSpPr>
          <p:spPr>
            <a:xfrm>
              <a:off x="2667000" y="4572000"/>
              <a:ext cx="6858000" cy="723900"/>
            </a:xfrm>
            <a:prstGeom prst="roundRect">
              <a:avLst>
                <a:gd name="adj" fmla="val 13158"/>
              </a:avLst>
            </a:prstGeom>
            <a:solidFill>
              <a:srgbClr val="ECFDF5"/>
            </a:solidFill>
            <a:ln w="14288">
              <a:solidFill>
                <a:srgbClr val="16A34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2838450" y="4724400"/>
              <a:ext cx="419100" cy="4191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978874" y="48453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75660" y="4709160"/>
              <a:ext cx="13410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第三次握手 · ACK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77565" y="4953952"/>
              <a:ext cx="30440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Client → Server :</a:t>
              </a:r>
              <a:r>
                <a:rPr lang="zh-CN" sz="10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ACK, seq = x + 1, ack = y + 1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78518" y="5133499"/>
              <a:ext cx="22977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双方进入 ESTABLISHED,连接建立完成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1714500" y="4933950"/>
              <a:ext cx="7905750" cy="1"/>
            </a:xfrm>
            <a:prstGeom prst="line">
              <a:avLst/>
            </a:prstGeom>
            <a:noFill/>
            <a:ln w="23812">
              <a:solidFill>
                <a:srgbClr val="16A34A"/>
              </a:solidFill>
              <a:tailEnd type="triangle" w="lg" len="lg"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762000" y="5572125"/>
            <a:ext cx="10668000" cy="552450"/>
            <a:chOff x="762000" y="5572125"/>
            <a:chExt cx="10668000" cy="552450"/>
          </a:xfrm>
        </p:grpSpPr>
        <p:sp>
          <p:nvSpPr>
            <p:cNvPr id="43" name="Rectangle 43"/>
            <p:cNvSpPr/>
            <p:nvPr/>
          </p:nvSpPr>
          <p:spPr>
            <a:xfrm>
              <a:off x="762000" y="5572125"/>
              <a:ext cx="10668000" cy="552450"/>
            </a:xfrm>
            <a:prstGeom prst="roundRect">
              <a:avLst>
                <a:gd name="adj" fmla="val 17241"/>
              </a:avLst>
            </a:prstGeom>
            <a:solidFill>
              <a:srgbClr val="F8FAFD"/>
            </a:solidFill>
            <a:ln w="9525">
              <a:solidFill>
                <a:srgbClr val="E5E7E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1070" y="5694045"/>
              <a:ext cx="3757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Client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952500" y="5876925"/>
              <a:ext cx="10477500" cy="221456"/>
              <a:chOff x="952500" y="5876925"/>
              <a:chExt cx="10477500" cy="221456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952500" y="5876925"/>
                <a:ext cx="1714500" cy="190500"/>
              </a:xfrm>
              <a:prstGeom prst="roundRect">
                <a:avLst>
                  <a:gd name="adj" fmla="val 20000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301460" y="5930741"/>
                <a:ext cx="101657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92400E"/>
                    </a:solidFill>
                    <a:latin typeface="Arial"/>
                    <a:ea typeface="Microsoft YaHei"/>
                    <a:cs typeface="Arial"/>
                  </a:rPr>
                  <a:t>CLOSED → SYN_SENT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2667000" y="5876925"/>
                <a:ext cx="6096000" cy="190500"/>
              </a:xfrm>
              <a:prstGeom prst="roundRect">
                <a:avLst>
                  <a:gd name="adj" fmla="val 20000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5195709" y="5930741"/>
                <a:ext cx="103858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92400E"/>
                    </a:solidFill>
                    <a:latin typeface="Arial"/>
                    <a:ea typeface="Microsoft YaHei"/>
                    <a:cs typeface="Arial"/>
                  </a:rPr>
                  <a:t>…… 等待第二次握手 …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8763000" y="5876925"/>
                <a:ext cx="2667000" cy="190500"/>
              </a:xfrm>
              <a:prstGeom prst="roundRect">
                <a:avLst>
                  <a:gd name="adj" fmla="val 20000"/>
                </a:avLst>
              </a:prstGeom>
              <a:solidFill>
                <a:srgbClr val="D1FAE5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9701937" y="5930741"/>
                <a:ext cx="78912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065F46"/>
                    </a:solidFill>
                    <a:latin typeface="Arial"/>
                    <a:ea typeface="Microsoft YaHei"/>
                    <a:cs typeface="Arial"/>
                  </a:rPr>
                  <a:t>ESTABLISHED ✓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762000" y="6191250"/>
            <a:ext cx="10668000" cy="476250"/>
            <a:chOff x="762000" y="6191250"/>
            <a:chExt cx="10668000" cy="476250"/>
          </a:xfrm>
        </p:grpSpPr>
        <p:sp>
          <p:nvSpPr>
            <p:cNvPr id="53" name="Rectangle 53"/>
            <p:cNvSpPr/>
            <p:nvPr/>
          </p:nvSpPr>
          <p:spPr>
            <a:xfrm>
              <a:off x="762000" y="6191250"/>
              <a:ext cx="10668000" cy="476250"/>
            </a:xfrm>
            <a:prstGeom prst="roundRect">
              <a:avLst>
                <a:gd name="adj" fmla="val 20000"/>
              </a:avLst>
            </a:prstGeom>
            <a:solidFill>
              <a:srgbClr val="F8FAFD"/>
            </a:solidFill>
            <a:ln w="9525">
              <a:solidFill>
                <a:srgbClr val="E5E7E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41070" y="6303645"/>
              <a:ext cx="4387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Server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2667000" y="6286500"/>
              <a:ext cx="8763000" cy="221456"/>
              <a:chOff x="2667000" y="6286500"/>
              <a:chExt cx="8763000" cy="221456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2667000" y="6286500"/>
                <a:ext cx="2667000" cy="190500"/>
              </a:xfrm>
              <a:prstGeom prst="roundRect">
                <a:avLst>
                  <a:gd name="adj" fmla="val 20000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3516963" y="6340316"/>
                <a:ext cx="96707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92400E"/>
                    </a:solidFill>
                    <a:latin typeface="Arial"/>
                    <a:ea typeface="Microsoft YaHei"/>
                    <a:cs typeface="Arial"/>
                  </a:rPr>
                  <a:t>LISTEN → SYN_RCVD</a:t>
                </a:r>
              </a:p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5334000" y="6286500"/>
                <a:ext cx="3429000" cy="190500"/>
              </a:xfrm>
              <a:prstGeom prst="roundRect">
                <a:avLst>
                  <a:gd name="adj" fmla="val 20000"/>
                </a:avLst>
              </a:prstGeom>
              <a:solidFill>
                <a:srgbClr val="FEF3C7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531959" y="6340316"/>
                <a:ext cx="103308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92400E"/>
                    </a:solidFill>
                    <a:latin typeface="Arial"/>
                    <a:ea typeface="Microsoft YaHei"/>
                    <a:cs typeface="Arial"/>
                  </a:rPr>
                  <a:t>…… 等待第三次 ACK …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8763000" y="6286500"/>
                <a:ext cx="2667000" cy="190500"/>
              </a:xfrm>
              <a:prstGeom prst="roundRect">
                <a:avLst>
                  <a:gd name="adj" fmla="val 20000"/>
                </a:avLst>
              </a:prstGeom>
              <a:solidFill>
                <a:srgbClr val="D1FAE5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9701937" y="6340316"/>
                <a:ext cx="78912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065F46"/>
                    </a:solidFill>
                    <a:latin typeface="Arial"/>
                    <a:ea typeface="Microsoft YaHei"/>
                    <a:cs typeface="Arial"/>
                  </a:rPr>
                  <a:t>ESTABLISHED ✓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0070" y="6665595"/>
            <a:ext cx="11071860" cy="182880"/>
            <a:chOff x="560070" y="6665595"/>
            <a:chExt cx="110718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60070" y="6665595"/>
              <a:ext cx="772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03 · 三次握手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07020" y="66655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03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571500"/>
            <a:ext cx="4283807" cy="1042988"/>
            <a:chOff x="537210" y="571500"/>
            <a:chExt cx="4283807" cy="104298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57150" cy="30480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10552"/>
              <a:ext cx="12322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04 · TCP 连接释放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851535"/>
              <a:ext cx="428380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四次挥手 — 优雅断开连接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4355" y="1340168"/>
              <a:ext cx="42648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TCP 是</a:t>
              </a:r>
              <a:r>
                <a:rPr lang="zh-CN" sz="13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全双工</a:t>
              </a:r>
              <a:r>
                <a:rPr lang="zh-CN" sz="13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,所以客户端和服务端必须各自关闭一端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857375"/>
            <a:ext cx="10668000" cy="3429000"/>
            <a:chOff x="762000" y="1857375"/>
            <a:chExt cx="10668000" cy="3429000"/>
          </a:xfrm>
        </p:grpSpPr>
        <p:grpSp>
          <p:nvGrpSpPr>
            <p:cNvPr id="11" name="Group 11"/>
            <p:cNvGrpSpPr/>
            <p:nvPr/>
          </p:nvGrpSpPr>
          <p:grpSpPr>
            <a:xfrm>
              <a:off x="762000" y="1857375"/>
              <a:ext cx="1714500" cy="485775"/>
              <a:chOff x="762000" y="1857375"/>
              <a:chExt cx="1714500" cy="48577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857375"/>
                <a:ext cx="171450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0B5FFF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00089" y="1982152"/>
                <a:ext cx="43832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0EDFF"/>
                    </a:solidFill>
                    <a:latin typeface="Arial"/>
                    <a:ea typeface="Microsoft YaHei"/>
                    <a:cs typeface="Arial"/>
                  </a:rPr>
                  <a:t>Client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07782" y="2160270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先发起关闭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9715500" y="1857375"/>
              <a:ext cx="1714500" cy="485775"/>
              <a:chOff x="9715500" y="1857375"/>
              <a:chExt cx="1714500" cy="48577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9715500" y="1857375"/>
                <a:ext cx="171450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1E3A5F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316835" y="1982152"/>
                <a:ext cx="511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A8C0DC"/>
                    </a:solidFill>
                    <a:latin typeface="Arial"/>
                    <a:ea typeface="Microsoft YaHei"/>
                    <a:cs typeface="Arial"/>
                  </a:rPr>
                  <a:t>Server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21290" y="2160270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被动关闭</a:t>
                </a:r>
              </a:p>
            </p:txBody>
          </p:sp>
        </p:grpSp>
        <p:sp>
          <p:nvSpPr>
            <p:cNvPr id="16" name="Line 16"/>
            <p:cNvSpPr/>
            <p:nvPr/>
          </p:nvSpPr>
          <p:spPr>
            <a:xfrm>
              <a:off x="1619250" y="2333625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0"/>
                  </a:moveTo>
                  <a:lnTo>
                    <a:pt x="0" y="2952750"/>
                  </a:lnTo>
                </a:path>
              </a:pathLst>
            </a:custGeom>
            <a:noFill/>
            <a:ln w="19050">
              <a:solidFill>
                <a:srgbClr val="E5E7EB"/>
              </a:solidFill>
              <a:prstDash val="dash"/>
            </a:ln>
          </p:spPr>
        </p:sp>
        <p:sp>
          <p:nvSpPr>
            <p:cNvPr id="17" name="Line 17"/>
            <p:cNvSpPr/>
            <p:nvPr/>
          </p:nvSpPr>
          <p:spPr>
            <a:xfrm>
              <a:off x="10572750" y="2333625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0"/>
                  </a:moveTo>
                  <a:lnTo>
                    <a:pt x="0" y="2952750"/>
                  </a:lnTo>
                </a:path>
              </a:pathLst>
            </a:custGeom>
            <a:noFill/>
            <a:ln w="19050">
              <a:solidFill>
                <a:srgbClr val="E5E7EB"/>
              </a:solidFill>
              <a:prstDash val="dash"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714500" y="2524125"/>
            <a:ext cx="7905750" cy="533400"/>
            <a:chOff x="1714500" y="2524125"/>
            <a:chExt cx="7905750" cy="533400"/>
          </a:xfrm>
        </p:grpSpPr>
        <p:sp>
          <p:nvSpPr>
            <p:cNvPr id="19" name="Rectangle 19"/>
            <p:cNvSpPr/>
            <p:nvPr/>
          </p:nvSpPr>
          <p:spPr>
            <a:xfrm>
              <a:off x="2667000" y="2524125"/>
              <a:ext cx="6858000" cy="533400"/>
            </a:xfrm>
            <a:prstGeom prst="roundRect">
              <a:avLst>
                <a:gd name="adj" fmla="val 14286"/>
              </a:avLst>
            </a:prstGeom>
            <a:solidFill>
              <a:srgbClr val="FEF2F2"/>
            </a:solidFill>
            <a:ln w="14288">
              <a:solidFill>
                <a:srgbClr val="DC262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838450" y="2619375"/>
              <a:ext cx="342900" cy="34290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956135" y="27251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81362" y="2593181"/>
              <a:ext cx="2491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FIN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83268" y="2818924"/>
              <a:ext cx="17669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Client → Server:</a:t>
              </a:r>
              <a:r>
                <a:rPr lang="zh-CN" sz="975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FIN, seq = u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714500" y="2790825"/>
              <a:ext cx="7905750" cy="1"/>
            </a:xfrm>
            <a:prstGeom prst="line">
              <a:avLst/>
            </a:prstGeom>
            <a:noFill/>
            <a:ln w="23812">
              <a:solidFill>
                <a:srgbClr val="DC2626"/>
              </a:solidFill>
              <a:tailEnd type="triangle" w="lg" len="lg"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2571750" y="3171825"/>
            <a:ext cx="7905750" cy="533400"/>
            <a:chOff x="2571750" y="3171825"/>
            <a:chExt cx="7905750" cy="533400"/>
          </a:xfrm>
        </p:grpSpPr>
        <p:sp>
          <p:nvSpPr>
            <p:cNvPr id="26" name="Rectangle 26"/>
            <p:cNvSpPr/>
            <p:nvPr/>
          </p:nvSpPr>
          <p:spPr>
            <a:xfrm>
              <a:off x="2667000" y="3171825"/>
              <a:ext cx="6858000" cy="533400"/>
            </a:xfrm>
            <a:prstGeom prst="roundRect">
              <a:avLst>
                <a:gd name="adj" fmla="val 14286"/>
              </a:avLst>
            </a:prstGeom>
            <a:solidFill>
              <a:srgbClr val="F4F6FA"/>
            </a:solidFill>
            <a:ln w="14288">
              <a:solidFill>
                <a:srgbClr val="0B5FFF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838450" y="3267075"/>
              <a:ext cx="342900" cy="342900"/>
            </a:xfrm>
            <a:prstGeom prst="ellipse">
              <a:avLst/>
            </a:prstGeom>
            <a:solidFill>
              <a:srgbClr val="0B5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56135" y="33728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81362" y="3240881"/>
              <a:ext cx="2884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ACK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83268" y="3466624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Server → Client:</a:t>
              </a:r>
              <a:r>
                <a:rPr lang="zh-CN" sz="975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ACK, ack = u + 1</a:t>
              </a:r>
            </a:p>
          </p:txBody>
        </p:sp>
        <p:sp>
          <p:nvSpPr>
            <p:cNvPr id="31" name="Line 31"/>
            <p:cNvSpPr/>
            <p:nvPr/>
          </p:nvSpPr>
          <p:spPr>
            <a:xfrm flipH="1">
              <a:off x="2571750" y="3438525"/>
              <a:ext cx="7905750" cy="1"/>
            </a:xfrm>
            <a:prstGeom prst="line">
              <a:avLst/>
            </a:prstGeom>
            <a:noFill/>
            <a:ln w="23812">
              <a:solidFill>
                <a:srgbClr val="0B5FFF"/>
              </a:solidFill>
              <a:tailEnd type="triangle" w="lg" len="lg"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2571750" y="3819525"/>
            <a:ext cx="7905750" cy="533400"/>
            <a:chOff x="2571750" y="3819525"/>
            <a:chExt cx="7905750" cy="533400"/>
          </a:xfrm>
        </p:grpSpPr>
        <p:sp>
          <p:nvSpPr>
            <p:cNvPr id="33" name="Rectangle 33"/>
            <p:cNvSpPr/>
            <p:nvPr/>
          </p:nvSpPr>
          <p:spPr>
            <a:xfrm>
              <a:off x="2667000" y="3819525"/>
              <a:ext cx="6858000" cy="533400"/>
            </a:xfrm>
            <a:prstGeom prst="roundRect">
              <a:avLst>
                <a:gd name="adj" fmla="val 14286"/>
              </a:avLst>
            </a:prstGeom>
            <a:solidFill>
              <a:srgbClr val="FEF2F2"/>
            </a:solidFill>
            <a:ln w="14288">
              <a:solidFill>
                <a:srgbClr val="DC2626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2838450" y="3914775"/>
              <a:ext cx="342900" cy="34290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956135" y="40205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81362" y="3888581"/>
              <a:ext cx="2491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FIN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283268" y="4114324"/>
              <a:ext cx="27161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Server → Client:</a:t>
              </a:r>
              <a:r>
                <a:rPr lang="zh-CN" sz="975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FIN, seq = w</a:t>
              </a:r>
              <a:r>
                <a:rPr lang="zh-CN" sz="97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(应用层关闭后)</a:t>
              </a:r>
            </a:p>
          </p:txBody>
        </p:sp>
        <p:sp>
          <p:nvSpPr>
            <p:cNvPr id="38" name="Line 38"/>
            <p:cNvSpPr/>
            <p:nvPr/>
          </p:nvSpPr>
          <p:spPr>
            <a:xfrm flipH="1">
              <a:off x="2571750" y="4086225"/>
              <a:ext cx="7905750" cy="1"/>
            </a:xfrm>
            <a:prstGeom prst="line">
              <a:avLst/>
            </a:prstGeom>
            <a:noFill/>
            <a:ln w="23812">
              <a:solidFill>
                <a:srgbClr val="DC2626"/>
              </a:solidFill>
              <a:tailEnd type="triangle" w="lg" len="lg"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714500" y="4467225"/>
            <a:ext cx="7905750" cy="533400"/>
            <a:chOff x="1714500" y="4467225"/>
            <a:chExt cx="7905750" cy="533400"/>
          </a:xfrm>
        </p:grpSpPr>
        <p:sp>
          <p:nvSpPr>
            <p:cNvPr id="40" name="Rectangle 40"/>
            <p:cNvSpPr/>
            <p:nvPr/>
          </p:nvSpPr>
          <p:spPr>
            <a:xfrm>
              <a:off x="2667000" y="4467225"/>
              <a:ext cx="6858000" cy="533400"/>
            </a:xfrm>
            <a:prstGeom prst="roundRect">
              <a:avLst>
                <a:gd name="adj" fmla="val 14286"/>
              </a:avLst>
            </a:prstGeom>
            <a:solidFill>
              <a:srgbClr val="ECFDF5"/>
            </a:solidFill>
            <a:ln w="14288">
              <a:solidFill>
                <a:srgbClr val="16A34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2838450" y="4562475"/>
              <a:ext cx="342900" cy="3429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956135" y="466820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81362" y="4536281"/>
              <a:ext cx="2884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ACK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83268" y="4762024"/>
              <a:ext cx="28006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Client → Server:</a:t>
              </a:r>
              <a:r>
                <a:rPr lang="zh-CN" sz="975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ACK, ack = w + 1</a:t>
              </a:r>
              <a:r>
                <a:rPr lang="zh-CN" sz="975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(等待 2MSL)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1714500" y="4733925"/>
              <a:ext cx="7905750" cy="1"/>
            </a:xfrm>
            <a:prstGeom prst="line">
              <a:avLst/>
            </a:prstGeom>
            <a:noFill/>
            <a:ln w="23812">
              <a:solidFill>
                <a:srgbClr val="16A34A"/>
              </a:solidFill>
              <a:tailEnd type="triangle" w="lg" len="lg"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571500" y="5334000"/>
            <a:ext cx="5715000" cy="1143000"/>
            <a:chOff x="571500" y="5334000"/>
            <a:chExt cx="5715000" cy="1143000"/>
          </a:xfrm>
        </p:grpSpPr>
        <p:sp>
          <p:nvSpPr>
            <p:cNvPr id="47" name="Rectangle 47"/>
            <p:cNvSpPr/>
            <p:nvPr/>
          </p:nvSpPr>
          <p:spPr>
            <a:xfrm>
              <a:off x="571500" y="5334000"/>
              <a:ext cx="5715000" cy="1143000"/>
            </a:xfrm>
            <a:prstGeom prst="roundRect">
              <a:avLst>
                <a:gd name="adj" fmla="val 10000"/>
              </a:avLst>
            </a:prstGeom>
            <a:solidFill>
              <a:srgbClr val="F4F6FA"/>
            </a:solidFill>
            <a:ln w="9525">
              <a:solidFill>
                <a:srgbClr val="E5E7EB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85812" y="5586412"/>
              <a:ext cx="257175" cy="266701"/>
              <a:chOff x="785812" y="5586412"/>
              <a:chExt cx="257175" cy="26670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928688" y="571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85812" y="5843588"/>
                <a:ext cx="2571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525">
                    <a:moveTo>
                      <a:pt x="0" y="0"/>
                    </a:moveTo>
                    <a:lnTo>
                      <a:pt x="257175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4388" y="5586412"/>
                <a:ext cx="17145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57175">
                    <a:moveTo>
                      <a:pt x="0" y="257175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35731" y="0"/>
                    </a:lnTo>
                    <a:moveTo>
                      <a:pt x="171450" y="150019"/>
                    </a:moveTo>
                    <a:lnTo>
                      <a:pt x="171450" y="257175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42975" y="5600700"/>
                <a:ext cx="100012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85725">
                    <a:moveTo>
                      <a:pt x="0" y="42862"/>
                    </a:moveTo>
                    <a:lnTo>
                      <a:pt x="100012" y="42862"/>
                    </a:lnTo>
                    <a:moveTo>
                      <a:pt x="57150" y="0"/>
                    </a:moveTo>
                    <a:lnTo>
                      <a:pt x="100012" y="42862"/>
                    </a:lnTo>
                    <a:lnTo>
                      <a:pt x="57150" y="85725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224915" y="55254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关键概念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22058" y="5767864"/>
              <a:ext cx="20943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为什么是四次而不是三次?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9615" y="6058852"/>
              <a:ext cx="42341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TCP 是</a:t>
              </a:r>
              <a:r>
                <a:rPr lang="zh-CN" sz="10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全双工</a:t>
              </a:r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,收到 FIN 仅代表对方不再发数据,自己仍可继续发送。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9615" y="6249352"/>
              <a:ext cx="42201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所以 Server 必须先 ACK 确认,再单独发自己的 FIN,于是多了一次。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477000" y="5334000"/>
            <a:ext cx="5143500" cy="1143000"/>
            <a:chOff x="6477000" y="5334000"/>
            <a:chExt cx="5143500" cy="1143000"/>
          </a:xfrm>
        </p:grpSpPr>
        <p:sp>
          <p:nvSpPr>
            <p:cNvPr id="58" name="Rectangle 58"/>
            <p:cNvSpPr/>
            <p:nvPr/>
          </p:nvSpPr>
          <p:spPr>
            <a:xfrm>
              <a:off x="6477000" y="5334000"/>
              <a:ext cx="5143500" cy="1143000"/>
            </a:xfrm>
            <a:prstGeom prst="roundRect">
              <a:avLst>
                <a:gd name="adj" fmla="val 10000"/>
              </a:avLst>
            </a:prstGeom>
            <a:solidFill>
              <a:srgbClr val="0B5FFF">
                <a:alpha val="6000"/>
              </a:srgbClr>
            </a:solidFill>
            <a:ln w="14288">
              <a:solidFill>
                <a:srgbClr val="0B5FFF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691312" y="5586412"/>
              <a:ext cx="257175" cy="257175"/>
              <a:chOff x="6691312" y="5586412"/>
              <a:chExt cx="257175" cy="25717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691312" y="5586412"/>
                <a:ext cx="257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28588">
                    <a:moveTo>
                      <a:pt x="0" y="128588"/>
                    </a:moveTo>
                    <a:lnTo>
                      <a:pt x="14288" y="128588"/>
                    </a:lnTo>
                    <a:moveTo>
                      <a:pt x="128588" y="0"/>
                    </a:moveTo>
                    <a:lnTo>
                      <a:pt x="128588" y="14288"/>
                    </a:lnTo>
                    <a:moveTo>
                      <a:pt x="242888" y="128588"/>
                    </a:moveTo>
                    <a:lnTo>
                      <a:pt x="257175" y="128588"/>
                    </a:lnTo>
                    <a:moveTo>
                      <a:pt x="37147" y="37147"/>
                    </a:moveTo>
                    <a:lnTo>
                      <a:pt x="47149" y="47149"/>
                    </a:lnTo>
                    <a:moveTo>
                      <a:pt x="220028" y="37147"/>
                    </a:moveTo>
                    <a:lnTo>
                      <a:pt x="210026" y="47149"/>
                    </a:lnTo>
                  </a:path>
                </a:pathLst>
              </a:custGeom>
              <a:noFill/>
              <a:ln w="19050">
                <a:solidFill>
                  <a:srgbClr val="0B5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42405" y="5643562"/>
                <a:ext cx="15499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54990" h="200025">
                    <a:moveTo>
                      <a:pt x="34633" y="128588"/>
                    </a:moveTo>
                    <a:cubicBezTo>
                      <a:pt x="10034" y="110138"/>
                      <a:pt x="0" y="78018"/>
                      <a:pt x="9724" y="48847"/>
                    </a:cubicBezTo>
                    <a:cubicBezTo>
                      <a:pt x="19447" y="19676"/>
                      <a:pt x="46746" y="0"/>
                      <a:pt x="77495" y="0"/>
                    </a:cubicBezTo>
                    <a:cubicBezTo>
                      <a:pt x="108244" y="0"/>
                      <a:pt x="135543" y="19676"/>
                      <a:pt x="145267" y="48847"/>
                    </a:cubicBezTo>
                    <a:cubicBezTo>
                      <a:pt x="154990" y="78018"/>
                      <a:pt x="144957" y="110138"/>
                      <a:pt x="120358" y="128588"/>
                    </a:cubicBezTo>
                    <a:cubicBezTo>
                      <a:pt x="109044" y="139786"/>
                      <a:pt x="103739" y="155703"/>
                      <a:pt x="106070" y="171450"/>
                    </a:cubicBezTo>
                    <a:cubicBezTo>
                      <a:pt x="106070" y="187232"/>
                      <a:pt x="93277" y="200025"/>
                      <a:pt x="77495" y="200025"/>
                    </a:cubicBezTo>
                    <a:cubicBezTo>
                      <a:pt x="61714" y="200025"/>
                      <a:pt x="48920" y="187232"/>
                      <a:pt x="48920" y="171450"/>
                    </a:cubicBezTo>
                    <a:cubicBezTo>
                      <a:pt x="51252" y="155703"/>
                      <a:pt x="45946" y="139786"/>
                      <a:pt x="34633" y="128588"/>
                    </a:cubicBezTo>
                  </a:path>
                </a:pathLst>
              </a:custGeom>
              <a:noFill/>
              <a:ln w="19050">
                <a:solidFill>
                  <a:srgbClr val="0B5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87039" y="5786438"/>
                <a:ext cx="6572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723" h="9525">
                    <a:moveTo>
                      <a:pt x="0" y="0"/>
                    </a:moveTo>
                    <a:lnTo>
                      <a:pt x="65723" y="0"/>
                    </a:lnTo>
                  </a:path>
                </a:pathLst>
              </a:custGeom>
              <a:noFill/>
              <a:ln w="19050">
                <a:solidFill>
                  <a:srgbClr val="0B5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130415" y="55254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面试加分点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27558" y="5767864"/>
              <a:ext cx="176405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为什么有 TIME_WAIT?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54165" y="6058852"/>
              <a:ext cx="3590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① 保证最后一个 ACK 能到达对端(若丢失,对端会重传 FIN)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54165" y="6249352"/>
              <a:ext cx="40101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② 让本连接在网络中的</a:t>
              </a:r>
              <a:r>
                <a:rPr lang="zh-CN" sz="105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旧报文自然消散</a:t>
              </a:r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,持续 2MSL(约 1~4 分钟)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60070" y="6665595"/>
            <a:ext cx="11071860" cy="182880"/>
            <a:chOff x="560070" y="6665595"/>
            <a:chExt cx="11071860" cy="182880"/>
          </a:xfrm>
        </p:grpSpPr>
        <p:sp>
          <p:nvSpPr>
            <p:cNvPr id="68" name="TextBox 68"/>
            <p:cNvSpPr txBox="1"/>
            <p:nvPr/>
          </p:nvSpPr>
          <p:spPr>
            <a:xfrm>
              <a:off x="560070" y="6665595"/>
              <a:ext cx="772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04 · 四次挥手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207020" y="66655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04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571500"/>
            <a:ext cx="4661854" cy="1042988"/>
            <a:chOff x="537210" y="571500"/>
            <a:chExt cx="4661854" cy="104298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57150" cy="304800"/>
            </a:xfrm>
            <a:prstGeom prst="rect">
              <a:avLst/>
            </a:prstGeom>
            <a:solidFill>
              <a:srgbClr val="0B5F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10552"/>
              <a:ext cx="9455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05 · 面试速记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851535"/>
              <a:ext cx="466185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面试高频问答 &amp; 关键点回顾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4355" y="1340168"/>
              <a:ext cx="35537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三句话答完,三句话讲清,够应付 90% 的追问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1809750"/>
            <a:ext cx="11049000" cy="1624012"/>
            <a:chOff x="571500" y="1809750"/>
            <a:chExt cx="11049000" cy="1624012"/>
          </a:xfrm>
        </p:grpSpPr>
        <p:grpSp>
          <p:nvGrpSpPr>
            <p:cNvPr id="20" name="Group 20"/>
            <p:cNvGrpSpPr/>
            <p:nvPr/>
          </p:nvGrpSpPr>
          <p:grpSpPr>
            <a:xfrm>
              <a:off x="571500" y="1809750"/>
              <a:ext cx="3619500" cy="1624012"/>
              <a:chOff x="571500" y="1809750"/>
              <a:chExt cx="3619500" cy="1624012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809750"/>
                <a:ext cx="3619500" cy="1619250"/>
              </a:xfrm>
              <a:prstGeom prst="roundRect">
                <a:avLst>
                  <a:gd name="adj" fmla="val 8235"/>
                </a:avLst>
              </a:prstGeom>
              <a:solidFill>
                <a:srgbClr val="FFFFFF"/>
              </a:solidFill>
              <a:ln w="19050">
                <a:solidFill>
                  <a:srgbClr val="0B5FFF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809750"/>
                <a:ext cx="762000" cy="304800"/>
              </a:xfrm>
              <a:prstGeom prst="roundRect">
                <a:avLst>
                  <a:gd name="adj" fmla="val 43750"/>
                </a:avLst>
              </a:prstGeom>
              <a:gradFill>
                <a:gsLst>
                  <a:gs pos="0">
                    <a:srgbClr val="0B5FFF"/>
                  </a:gs>
                  <a:gs pos="100000">
                    <a:srgbClr val="0EA5E9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43603" y="1905952"/>
                <a:ext cx="21779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Q1</a:t>
                </a:r>
              </a:p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1476375" y="1876425"/>
                <a:ext cx="171450" cy="171450"/>
                <a:chOff x="1476375" y="1876425"/>
                <a:chExt cx="171450" cy="17145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476375" y="18764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562100" y="2009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543050" y="1912225"/>
                  <a:ext cx="44771" cy="64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71" h="64212">
                      <a:moveTo>
                        <a:pt x="19050" y="64212"/>
                      </a:moveTo>
                      <a:cubicBezTo>
                        <a:pt x="18690" y="57860"/>
                        <a:pt x="22573" y="52035"/>
                        <a:pt x="28575" y="49925"/>
                      </a:cubicBezTo>
                      <a:cubicBezTo>
                        <a:pt x="38392" y="46170"/>
                        <a:pt x="44771" y="36628"/>
                        <a:pt x="44485" y="26121"/>
                      </a:cubicBezTo>
                      <a:cubicBezTo>
                        <a:pt x="44200" y="15614"/>
                        <a:pt x="37313" y="6432"/>
                        <a:pt x="27306" y="3216"/>
                      </a:cubicBezTo>
                      <a:cubicBezTo>
                        <a:pt x="17300" y="0"/>
                        <a:pt x="6353" y="3451"/>
                        <a:pt x="0" y="11825"/>
                      </a:cubicBez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745808" y="2224564"/>
                <a:ext cx="20943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E3A5F"/>
                    </a:solidFill>
                    <a:latin typeface="Arial"/>
                    <a:ea typeface="Microsoft YaHei"/>
                    <a:cs typeface="Arial"/>
                  </a:rPr>
                  <a:t>三次握手为什么不是两次?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48665" y="2553652"/>
                <a:ext cx="18258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① 防止已失效的请求报文突然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48665" y="2763202"/>
                <a:ext cx="155286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到达 Server 而浪费资源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48665" y="3010852"/>
                <a:ext cx="176288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② 需要</a:t>
                </a:r>
                <a:r>
                  <a:rPr lang="zh-CN" sz="1050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同步双方初始序列号</a:t>
                </a:r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,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48665" y="32204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保证后续数据传输可靠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286250" y="1809750"/>
              <a:ext cx="3619500" cy="1624012"/>
              <a:chOff x="4286250" y="1809750"/>
              <a:chExt cx="3619500" cy="1624012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286250" y="1809750"/>
                <a:ext cx="3619500" cy="1619250"/>
              </a:xfrm>
              <a:prstGeom prst="roundRect">
                <a:avLst>
                  <a:gd name="adj" fmla="val 8235"/>
                </a:avLst>
              </a:prstGeom>
              <a:solidFill>
                <a:srgbClr val="FFFFFF"/>
              </a:solidFill>
              <a:ln w="19050">
                <a:solidFill>
                  <a:srgbClr val="0B5FFF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286250" y="1809750"/>
                <a:ext cx="762000" cy="304800"/>
              </a:xfrm>
              <a:prstGeom prst="roundRect">
                <a:avLst>
                  <a:gd name="adj" fmla="val 43750"/>
                </a:avLst>
              </a:prstGeom>
              <a:gradFill>
                <a:gsLst>
                  <a:gs pos="0">
                    <a:srgbClr val="0B5FFF"/>
                  </a:gs>
                  <a:gs pos="100000">
                    <a:srgbClr val="0EA5E9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558353" y="1905952"/>
                <a:ext cx="21779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Q2</a:t>
                </a:r>
              </a:p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5191125" y="1876425"/>
                <a:ext cx="171450" cy="171450"/>
                <a:chOff x="5191125" y="1876425"/>
                <a:chExt cx="171450" cy="17145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5191125" y="18764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276850" y="2009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5257800" y="1912225"/>
                  <a:ext cx="44771" cy="64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71" h="64212">
                      <a:moveTo>
                        <a:pt x="19050" y="64212"/>
                      </a:moveTo>
                      <a:cubicBezTo>
                        <a:pt x="18690" y="57860"/>
                        <a:pt x="22573" y="52035"/>
                        <a:pt x="28575" y="49925"/>
                      </a:cubicBezTo>
                      <a:cubicBezTo>
                        <a:pt x="38392" y="46170"/>
                        <a:pt x="44771" y="36628"/>
                        <a:pt x="44485" y="26121"/>
                      </a:cubicBezTo>
                      <a:cubicBezTo>
                        <a:pt x="44200" y="15614"/>
                        <a:pt x="37313" y="6432"/>
                        <a:pt x="27306" y="3216"/>
                      </a:cubicBezTo>
                      <a:cubicBezTo>
                        <a:pt x="17300" y="0"/>
                        <a:pt x="6353" y="3451"/>
                        <a:pt x="0" y="11825"/>
                      </a:cubicBez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460558" y="2224564"/>
                <a:ext cx="191579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E3A5F"/>
                    </a:solidFill>
                    <a:latin typeface="Arial"/>
                    <a:ea typeface="Microsoft YaHei"/>
                    <a:cs typeface="Arial"/>
                  </a:rPr>
                  <a:t>四次挥手为什么多一次?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463415" y="2553652"/>
                <a:ext cx="1573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① TCP 是</a:t>
                </a:r>
                <a:r>
                  <a:rPr lang="zh-CN" sz="1050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全双工</a:t>
                </a:r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,收到 FIN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463415" y="2763202"/>
                <a:ext cx="19239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仅表示对方不再发,自己仍可发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63415" y="3010852"/>
                <a:ext cx="18398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② Server 必须</a:t>
                </a:r>
                <a:r>
                  <a:rPr lang="zh-CN" sz="1050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先 ACK 再 FIN</a:t>
                </a:r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,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63415" y="322040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所以比握手多一次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8001000" y="1809750"/>
              <a:ext cx="3619500" cy="1624012"/>
              <a:chOff x="8001000" y="1809750"/>
              <a:chExt cx="3619500" cy="1624012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001000" y="1809750"/>
                <a:ext cx="3619500" cy="1619250"/>
              </a:xfrm>
              <a:prstGeom prst="roundRect">
                <a:avLst>
                  <a:gd name="adj" fmla="val 8235"/>
                </a:avLst>
              </a:prstGeom>
              <a:solidFill>
                <a:srgbClr val="FFFFFF"/>
              </a:solidFill>
              <a:ln w="19050">
                <a:solidFill>
                  <a:srgbClr val="0B5FFF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8001000" y="1809750"/>
                <a:ext cx="762000" cy="304800"/>
              </a:xfrm>
              <a:prstGeom prst="roundRect">
                <a:avLst>
                  <a:gd name="adj" fmla="val 43750"/>
                </a:avLst>
              </a:prstGeom>
              <a:gradFill>
                <a:gsLst>
                  <a:gs pos="0">
                    <a:srgbClr val="0B5FFF"/>
                  </a:gs>
                  <a:gs pos="100000">
                    <a:srgbClr val="0EA5E9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273103" y="1905952"/>
                <a:ext cx="21779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Q3</a:t>
                </a:r>
              </a:p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8905875" y="1876425"/>
                <a:ext cx="171450" cy="171450"/>
                <a:chOff x="8905875" y="1876425"/>
                <a:chExt cx="171450" cy="17145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8905875" y="18764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991600" y="2009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972550" y="1912225"/>
                  <a:ext cx="44771" cy="64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71" h="64212">
                      <a:moveTo>
                        <a:pt x="19050" y="64212"/>
                      </a:moveTo>
                      <a:cubicBezTo>
                        <a:pt x="18690" y="57860"/>
                        <a:pt x="22573" y="52035"/>
                        <a:pt x="28575" y="49925"/>
                      </a:cubicBezTo>
                      <a:cubicBezTo>
                        <a:pt x="38392" y="46170"/>
                        <a:pt x="44771" y="36628"/>
                        <a:pt x="44485" y="26121"/>
                      </a:cubicBezTo>
                      <a:cubicBezTo>
                        <a:pt x="44200" y="15614"/>
                        <a:pt x="37313" y="6432"/>
                        <a:pt x="27306" y="3216"/>
                      </a:cubicBezTo>
                      <a:cubicBezTo>
                        <a:pt x="17300" y="0"/>
                        <a:pt x="6353" y="3451"/>
                        <a:pt x="0" y="11825"/>
                      </a:cubicBezTo>
                    </a:path>
                  </a:pathLst>
                </a:custGeom>
                <a:noFill/>
                <a:ln w="19050">
                  <a:solidFill>
                    <a:srgbClr val="0B5FFF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8175308" y="2224564"/>
                <a:ext cx="19425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E3A5F"/>
                    </a:solidFill>
                    <a:latin typeface="Arial"/>
                    <a:ea typeface="Microsoft YaHei"/>
                    <a:cs typeface="Arial"/>
                  </a:rPr>
                  <a:t>为什么要有 TIME_WAIT?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178165" y="2553652"/>
                <a:ext cx="144084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① 保证</a:t>
                </a:r>
                <a:r>
                  <a:rPr lang="zh-CN" sz="1050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最后 ACK 能送达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178165" y="2763202"/>
                <a:ext cx="96478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对端可重传 FIN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178165" y="3010852"/>
                <a:ext cx="14828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② 让网络中</a:t>
                </a:r>
                <a:r>
                  <a:rPr lang="zh-CN" sz="1050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旧报文消散</a:t>
                </a:r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,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178165" y="3220402"/>
                <a:ext cx="1573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B5563"/>
                    </a:solidFill>
                    <a:latin typeface="Arial"/>
                    <a:ea typeface="Microsoft YaHei"/>
                    <a:cs typeface="Arial"/>
                  </a:rPr>
                  <a:t>持续 2MSL(约 1~4 分钟)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571500" y="3600450"/>
            <a:ext cx="11049000" cy="914400"/>
            <a:chOff x="571500" y="3600450"/>
            <a:chExt cx="11049000" cy="914400"/>
          </a:xfrm>
        </p:grpSpPr>
        <p:sp>
          <p:nvSpPr>
            <p:cNvPr id="48" name="Rectangle 48"/>
            <p:cNvSpPr/>
            <p:nvPr/>
          </p:nvSpPr>
          <p:spPr>
            <a:xfrm>
              <a:off x="571500" y="3600450"/>
              <a:ext cx="11049000" cy="914400"/>
            </a:xfrm>
            <a:prstGeom prst="roundRect">
              <a:avLst>
                <a:gd name="adj" fmla="val 14583"/>
              </a:avLst>
            </a:prstGeom>
            <a:solidFill>
              <a:srgbClr val="F4F6FA"/>
            </a:solidFill>
            <a:ln w="14288">
              <a:solidFill>
                <a:srgbClr val="0B5FFF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71500" y="3600450"/>
              <a:ext cx="762000" cy="304800"/>
            </a:xfrm>
            <a:prstGeom prst="roundRect">
              <a:avLst>
                <a:gd name="adj" fmla="val 43750"/>
              </a:avLst>
            </a:prstGeom>
            <a:gradFill>
              <a:gsLst>
                <a:gs pos="0">
                  <a:srgbClr val="0B5FFF"/>
                </a:gs>
                <a:gs pos="100000">
                  <a:srgbClr val="0EA5E9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3603" y="3696652"/>
              <a:ext cx="2177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Q4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1476375" y="3667125"/>
              <a:ext cx="171450" cy="171450"/>
              <a:chOff x="1476375" y="3667125"/>
              <a:chExt cx="171450" cy="17145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1476375" y="36671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0B5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562100" y="38004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B5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543050" y="3702925"/>
                <a:ext cx="44771" cy="64212"/>
              </a:xfrm>
              <a:custGeom>
                <a:avLst/>
                <a:gdLst/>
                <a:ahLst/>
                <a:cxnLst/>
                <a:rect l="l" t="t" r="r" b="b"/>
                <a:pathLst>
                  <a:path w="44771" h="64212">
                    <a:moveTo>
                      <a:pt x="19050" y="64212"/>
                    </a:moveTo>
                    <a:cubicBezTo>
                      <a:pt x="18690" y="57860"/>
                      <a:pt x="22573" y="52035"/>
                      <a:pt x="28575" y="49925"/>
                    </a:cubicBezTo>
                    <a:cubicBezTo>
                      <a:pt x="38392" y="46170"/>
                      <a:pt x="44771" y="36628"/>
                      <a:pt x="44485" y="26121"/>
                    </a:cubicBezTo>
                    <a:cubicBezTo>
                      <a:pt x="44200" y="15614"/>
                      <a:pt x="37313" y="6432"/>
                      <a:pt x="27306" y="3216"/>
                    </a:cubicBezTo>
                    <a:cubicBezTo>
                      <a:pt x="17300" y="0"/>
                      <a:pt x="6353" y="3451"/>
                      <a:pt x="0" y="11825"/>
                    </a:cubicBezTo>
                  </a:path>
                </a:pathLst>
              </a:custGeom>
              <a:noFill/>
              <a:ln w="19050">
                <a:solidFill>
                  <a:srgbClr val="0B5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603058" y="3710464"/>
              <a:ext cx="155875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握手时丢包怎么办?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605915" y="4039552"/>
              <a:ext cx="50532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① 每一方都启</a:t>
              </a:r>
              <a:r>
                <a:rPr lang="zh-CN" sz="105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重传计时器</a:t>
              </a:r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,超时重传 SYN / FIN · ② 多次重传失败则</a:t>
              </a:r>
              <a:r>
                <a:rPr lang="zh-CN" sz="105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放弃连接</a:t>
              </a:r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并报错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605915" y="4249102"/>
              <a:ext cx="62924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③ 收到非法报文(序列号错乱等)会回 RST 强制重置 · ④ TCP 的</a:t>
              </a:r>
              <a:r>
                <a:rPr lang="zh-CN" sz="1050" b="1" dirty="0">
                  <a:solidFill>
                    <a:srgbClr val="0B5FFF"/>
                  </a:solidFill>
                  <a:latin typeface="Arial"/>
                  <a:ea typeface="Microsoft YaHei"/>
                  <a:cs typeface="Arial"/>
                </a:rPr>
                <a:t>可靠性 = 序号 + 确认 + 重传 + 流量控制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71500" y="4762500"/>
            <a:ext cx="11049000" cy="1524000"/>
            <a:chOff x="571500" y="4762500"/>
            <a:chExt cx="11049000" cy="1524000"/>
          </a:xfrm>
        </p:grpSpPr>
        <p:sp>
          <p:nvSpPr>
            <p:cNvPr id="59" name="Rectangle 59"/>
            <p:cNvSpPr/>
            <p:nvPr/>
          </p:nvSpPr>
          <p:spPr>
            <a:xfrm>
              <a:off x="571500" y="4762500"/>
              <a:ext cx="11049000" cy="15240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0B5FFF"/>
                </a:gs>
                <a:gs pos="100000">
                  <a:srgbClr val="0EA5E9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28687" y="5081587"/>
              <a:ext cx="314324" cy="314325"/>
              <a:chOff x="928687" y="5081587"/>
              <a:chExt cx="314324" cy="3143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928687" y="5081587"/>
                <a:ext cx="314324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57162">
                    <a:moveTo>
                      <a:pt x="0" y="157162"/>
                    </a:moveTo>
                    <a:lnTo>
                      <a:pt x="17462" y="157162"/>
                    </a:lnTo>
                    <a:moveTo>
                      <a:pt x="157162" y="0"/>
                    </a:moveTo>
                    <a:lnTo>
                      <a:pt x="157162" y="17462"/>
                    </a:lnTo>
                    <a:moveTo>
                      <a:pt x="296862" y="157162"/>
                    </a:moveTo>
                    <a:lnTo>
                      <a:pt x="314324" y="157162"/>
                    </a:lnTo>
                    <a:moveTo>
                      <a:pt x="45402" y="45402"/>
                    </a:moveTo>
                    <a:lnTo>
                      <a:pt x="57626" y="57626"/>
                    </a:lnTo>
                    <a:moveTo>
                      <a:pt x="268922" y="45402"/>
                    </a:moveTo>
                    <a:lnTo>
                      <a:pt x="256698" y="57626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91133" y="5151437"/>
                <a:ext cx="189432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89432" h="244475">
                    <a:moveTo>
                      <a:pt x="42329" y="157162"/>
                    </a:moveTo>
                    <a:cubicBezTo>
                      <a:pt x="12263" y="134613"/>
                      <a:pt x="0" y="95355"/>
                      <a:pt x="11884" y="59702"/>
                    </a:cubicBezTo>
                    <a:cubicBezTo>
                      <a:pt x="23769" y="24048"/>
                      <a:pt x="57134" y="0"/>
                      <a:pt x="94716" y="0"/>
                    </a:cubicBezTo>
                    <a:cubicBezTo>
                      <a:pt x="132298" y="0"/>
                      <a:pt x="165664" y="24048"/>
                      <a:pt x="177548" y="59702"/>
                    </a:cubicBezTo>
                    <a:cubicBezTo>
                      <a:pt x="189432" y="95355"/>
                      <a:pt x="177169" y="134613"/>
                      <a:pt x="147104" y="157162"/>
                    </a:cubicBezTo>
                    <a:cubicBezTo>
                      <a:pt x="133276" y="170850"/>
                      <a:pt x="126792" y="190303"/>
                      <a:pt x="129641" y="209550"/>
                    </a:cubicBezTo>
                    <a:cubicBezTo>
                      <a:pt x="129641" y="228838"/>
                      <a:pt x="114005" y="244475"/>
                      <a:pt x="94716" y="244475"/>
                    </a:cubicBezTo>
                    <a:cubicBezTo>
                      <a:pt x="75428" y="244475"/>
                      <a:pt x="59791" y="228838"/>
                      <a:pt x="59791" y="209550"/>
                    </a:cubicBezTo>
                    <a:cubicBezTo>
                      <a:pt x="62641" y="190303"/>
                      <a:pt x="56156" y="170850"/>
                      <a:pt x="42329" y="15716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045686" y="5326062"/>
                <a:ext cx="8032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327" h="9525">
                    <a:moveTo>
                      <a:pt x="0" y="0"/>
                    </a:moveTo>
                    <a:lnTo>
                      <a:pt x="80327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510665" y="5068252"/>
              <a:ext cx="14086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EDFF"/>
                  </a:solidFill>
                  <a:latin typeface="Arial"/>
                  <a:ea typeface="Microsoft YaHei"/>
                  <a:cs typeface="Arial"/>
                </a:rPr>
                <a:t>SUMMARY · 一图带走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499235" y="5313998"/>
              <a:ext cx="318942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TCP 的可靠性,来自四件事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1524000" y="5715000"/>
              <a:ext cx="9144000" cy="419100"/>
              <a:chOff x="1524000" y="5715000"/>
              <a:chExt cx="9144000" cy="4191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1524000" y="5715000"/>
                <a:ext cx="1905000" cy="4191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2037007" y="5852160"/>
                <a:ext cx="87898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序号 (Seq)</a:t>
                </a: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3619500" y="5715000"/>
                <a:ext cx="1905000" cy="4191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4132507" y="5852160"/>
                <a:ext cx="87898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确认 (ACK)</a:t>
                </a:r>
              </a:p>
            </p:txBody>
          </p:sp>
          <p:sp>
            <p:nvSpPr>
              <p:cNvPr id="70" name="Rectangle 70"/>
              <p:cNvSpPr/>
              <p:nvPr/>
            </p:nvSpPr>
            <p:spPr>
              <a:xfrm>
                <a:off x="5715000" y="5715000"/>
                <a:ext cx="1905000" cy="4191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6484239" y="58521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重传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7810500" y="5715000"/>
                <a:ext cx="2857500" cy="4191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623335" y="5852160"/>
                <a:ext cx="12318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5FFF"/>
                    </a:solidFill>
                    <a:latin typeface="Arial"/>
                    <a:ea typeface="Microsoft YaHei"/>
                    <a:cs typeface="Arial"/>
                  </a:rPr>
                  <a:t>流量 &amp; 拥塞控制</a:t>
                </a:r>
              </a:p>
            </p:txBody>
          </p:sp>
        </p:grpSp>
      </p:grpSp>
      <p:grpSp>
        <p:nvGrpSpPr>
          <p:cNvPr id="86" name="Group 86"/>
          <p:cNvGrpSpPr/>
          <p:nvPr/>
        </p:nvGrpSpPr>
        <p:grpSpPr>
          <a:xfrm>
            <a:off x="10358438" y="5214938"/>
            <a:ext cx="428625" cy="731043"/>
            <a:chOff x="10358438" y="5214938"/>
            <a:chExt cx="428625" cy="731043"/>
          </a:xfrm>
        </p:grpSpPr>
        <p:grpSp>
          <p:nvGrpSpPr>
            <p:cNvPr id="84" name="Group 84"/>
            <p:cNvGrpSpPr/>
            <p:nvPr/>
          </p:nvGrpSpPr>
          <p:grpSpPr>
            <a:xfrm>
              <a:off x="10358438" y="5214938"/>
              <a:ext cx="428625" cy="452437"/>
              <a:chOff x="10358438" y="5214938"/>
              <a:chExt cx="428625" cy="452437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10429875" y="5214938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10572750" y="5214938"/>
                <a:ext cx="476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85750">
                    <a:moveTo>
                      <a:pt x="0" y="0"/>
                    </a:moveTo>
                    <a:cubicBezTo>
                      <a:pt x="31742" y="7930"/>
                      <a:pt x="47625" y="55555"/>
                      <a:pt x="47625" y="142875"/>
                    </a:cubicBezTo>
                    <a:cubicBezTo>
                      <a:pt x="47625" y="230195"/>
                      <a:pt x="31742" y="277820"/>
                      <a:pt x="0" y="285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10525125" y="5214938"/>
                <a:ext cx="476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85750">
                    <a:moveTo>
                      <a:pt x="47625" y="0"/>
                    </a:moveTo>
                    <a:cubicBezTo>
                      <a:pt x="15883" y="7930"/>
                      <a:pt x="0" y="55555"/>
                      <a:pt x="0" y="142875"/>
                    </a:cubicBezTo>
                    <a:cubicBezTo>
                      <a:pt x="0" y="230195"/>
                      <a:pt x="15883" y="277820"/>
                      <a:pt x="47625" y="285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10429875" y="5357812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10358438" y="5619750"/>
                <a:ext cx="1666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">
                    <a:moveTo>
                      <a:pt x="0" y="0"/>
                    </a:move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10620375" y="5619750"/>
                <a:ext cx="1666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">
                    <a:moveTo>
                      <a:pt x="0" y="0"/>
                    </a:move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10525125" y="5572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10572750" y="5500688"/>
                <a:ext cx="95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1438">
                    <a:moveTo>
                      <a:pt x="0" y="0"/>
                    </a:moveTo>
                    <a:lnTo>
                      <a:pt x="0" y="714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394502" y="5778341"/>
              <a:ext cx="3564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0EDFF"/>
                  </a:solidFill>
                  <a:latin typeface="Arial"/>
                  <a:ea typeface="Microsoft YaHei"/>
                  <a:cs typeface="Arial"/>
                </a:rPr>
                <a:t>TCP/IP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60070" y="6570345"/>
            <a:ext cx="11071860" cy="182880"/>
            <a:chOff x="560070" y="6570345"/>
            <a:chExt cx="11071860" cy="182880"/>
          </a:xfrm>
        </p:grpSpPr>
        <p:sp>
          <p:nvSpPr>
            <p:cNvPr id="87" name="TextBox 87"/>
            <p:cNvSpPr txBox="1"/>
            <p:nvPr/>
          </p:nvSpPr>
          <p:spPr>
            <a:xfrm>
              <a:off x="560070" y="6570345"/>
              <a:ext cx="772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05 · 面试速记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2070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05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2026-06-21T09:44:43Z</dcterms:created>
  <dcterms:modified xsi:type="dcterms:W3CDTF">2026-06-21T09:44:43Z</dcterms:modified>
  <cp:category/>
  <cp:contentStatus/>
</cp:coreProperties>
</file>