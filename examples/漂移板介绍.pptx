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嗨，欢迎来到《新手漂移板入门指南》。这一份是给零基础玩家的轻松手册 —— 我们会用 7 张幻灯片，从漂移板是什么一直讲到安全底线。准备好地毯和护腕，咱们这就开始。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简单说，漂移板就是两块板面，中间一根弹簧连着。你踩上去，重心往左，左边板子压下去，右边板子自然就抬起来。它也叫滑移板、Street Slider、Drift Board —— 四个名字，都是它。</a:t>
            </a:r>
          </a:p>
          <a:p>
            <a:endParaRPr lang="zh-CN" dirty="0"/>
          </a:p>
          <a:p>
            <a:r>
              <a:rPr lang="zh-CN" dirty="0"/>
              <a:t>记住一句话：漂移板等于一块会跟着你重心跳舞的板。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装备很简单，三件就够。第一，护腕，这是必备的，因为摔倒时人本能会用手撑；第二，护肘护膝，强烈建议，戴上之后摔倒不破皮；第三，平底的运动鞋就行，鞋底别太厚，板感才清晰。</a:t>
            </a:r>
          </a:p>
          <a:p>
            <a:endParaRPr lang="zh-CN" dirty="0"/>
          </a:p>
          <a:p>
            <a:r>
              <a:rPr lang="zh-CN" dirty="0"/>
              <a:t>最后一个小贴士：第一次一定要找平整、有摩擦力的地面 —— 地毯、草坪、木地板都行，千万别去光滑的地砖上练。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上板第一步不是滑，是找感觉。先把板平放在地上，双脚踩在两块板面中间，脚与肩同宽。然后不要急，轻轻左右晃一晃。</a:t>
            </a:r>
          </a:p>
          <a:p>
            <a:endParaRPr lang="zh-CN" dirty="0"/>
          </a:p>
          <a:p>
            <a:r>
              <a:rPr lang="zh-CN" dirty="0"/>
              <a:t>第三步是体会"一板压下去，另一板抬起"的连锁反应。这个阶段可能要持续 30 到 60 分钟 —— 完全正常，不要嫌慢。慢慢来，比较快。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漂移板的灵魂在于让两只脚交替画"8"字。前脚负责控方向，用脚尖脚跟切换；后脚是支点，靠脚踝力量抬起落下；身体呢，肩膀放松，重心略下沉。</a:t>
            </a:r>
          </a:p>
          <a:p>
            <a:endParaRPr lang="zh-CN" dirty="0"/>
          </a:p>
          <a:p>
            <a:r>
              <a:rPr lang="zh-CN" dirty="0"/>
              <a:t>一句话总结：想象你在原地跳一支小舞 —— 但脚底永远贴着板面。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练成路径我列了五个阶段。站稳 1 到 2 天；原地画 8 字 3 到 5 天；小幅前进 1 到 2 周；转向刹车 2 到 4 周；组合动作大约 1 到 2 个月。</a:t>
            </a:r>
          </a:p>
          <a:p>
            <a:endParaRPr lang="zh-CN" dirty="0"/>
          </a:p>
          <a:p>
            <a:r>
              <a:rPr lang="zh-CN" dirty="0"/>
              <a:t>右边那五个小方块就是难度，从浅绿到深蓝，越往后越有挑战。重要的事：每个人进度不同，不要和别人比进度。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最后三条安全底线。第一，不戴耳机，要听得到周围声音；第二，不挑人流密集处，找空旷公园、广场、车库；第三，不疲劳练，累了就停，因为受伤往往发生在"再来一组"。</a:t>
            </a:r>
          </a:p>
          <a:p>
            <a:endParaRPr lang="zh-CN" dirty="0"/>
          </a:p>
          <a:p>
            <a:r>
              <a:rPr lang="zh-CN" dirty="0"/>
              <a:t>一旦上板，世界会变得更有趣。祝早日起飞。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1143000"/>
          </a:xfrm>
          <a:prstGeom prst="rect">
            <a:avLst/>
          </a:prstGeom>
          <a:solidFill>
            <a:srgbClr val="F6F8F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FF8A3D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762000" y="323850"/>
            <a:ext cx="1447228" cy="504825"/>
            <a:chOff x="762000" y="323850"/>
            <a:chExt cx="1447228" cy="504825"/>
          </a:xfrm>
        </p:grpSpPr>
        <p:sp>
          <p:nvSpPr>
            <p:cNvPr id="5" name="Rectangle 5"/>
            <p:cNvSpPr/>
            <p:nvPr/>
          </p:nvSpPr>
          <p:spPr>
            <a:xfrm>
              <a:off x="762000" y="323850"/>
              <a:ext cx="133350" cy="304800"/>
            </a:xfrm>
            <a:prstGeom prst="roundRect">
              <a:avLst>
                <a:gd name="adj" fmla="val 21429"/>
              </a:avLst>
            </a:prstGeom>
            <a:solidFill>
              <a:srgbClr val="FF8A3D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92505" y="3876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4E79"/>
                  </a:solidFill>
                  <a:latin typeface="Arial"/>
                  <a:ea typeface="Microsoft YaHei"/>
                  <a:cs typeface="Arial"/>
                </a:rPr>
                <a:t>新手运动入门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98220" y="645795"/>
              <a:ext cx="121100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DRIFT BOARD · 漂移板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0" y="1905000"/>
            <a:ext cx="1143000" cy="273844"/>
            <a:chOff x="762000" y="1905000"/>
            <a:chExt cx="1143000" cy="273844"/>
          </a:xfrm>
        </p:grpSpPr>
        <p:sp>
          <p:nvSpPr>
            <p:cNvPr id="9" name="Rectangle 9"/>
            <p:cNvSpPr/>
            <p:nvPr/>
          </p:nvSpPr>
          <p:spPr>
            <a:xfrm>
              <a:off x="762000" y="190500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FFEFE2"/>
            </a:solidFill>
            <a:ln w="9525">
              <a:solidFill>
                <a:srgbClr val="FF8A3D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11566" y="1980724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8A3D"/>
                  </a:solidFill>
                  <a:latin typeface="Arial"/>
                  <a:ea typeface="Microsoft YaHei"/>
                  <a:cs typeface="Arial"/>
                </a:rPr>
                <a:t>轻松入门指南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01040" y="2529840"/>
            <a:ext cx="3482340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D1D1F"/>
                </a:solidFill>
                <a:latin typeface="Arial"/>
                <a:ea typeface="Microsoft YaHei"/>
                <a:cs typeface="Arial"/>
              </a:rPr>
              <a:t>新手漂移板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1040" y="3253740"/>
            <a:ext cx="2810256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800" b="1" dirty="0">
                <a:solidFill>
                  <a:srgbClr val="1F4E79"/>
                </a:solidFill>
                <a:latin typeface="Arial"/>
                <a:ea typeface="Microsoft YaHei"/>
                <a:cs typeface="Arial"/>
              </a:rPr>
              <a:t>入门指南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1045" y="4108132"/>
            <a:ext cx="36063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从"漂移板是什么"到"我可以滑起来"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62000" y="4849178"/>
            <a:ext cx="3640455" cy="213360"/>
            <a:chOff x="762000" y="4849178"/>
            <a:chExt cx="3640455" cy="213360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4849178"/>
              <a:ext cx="761952" cy="213360"/>
              <a:chOff x="762000" y="4849178"/>
              <a:chExt cx="761952" cy="213360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762000" y="4857750"/>
                <a:ext cx="114300" cy="114300"/>
              </a:xfrm>
              <a:prstGeom prst="ellipse">
                <a:avLst/>
              </a:prstGeom>
              <a:solidFill>
                <a:srgbClr val="4FB7B3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58215" y="4849178"/>
                <a:ext cx="5657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7 页速读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2095500" y="4849178"/>
              <a:ext cx="922973" cy="213360"/>
              <a:chOff x="2095500" y="4849178"/>
              <a:chExt cx="922973" cy="213360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2095500" y="4857750"/>
                <a:ext cx="114300" cy="114300"/>
              </a:xfrm>
              <a:prstGeom prst="ellipse">
                <a:avLst/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291715" y="4849178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零基础友好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3619500" y="4849178"/>
              <a:ext cx="782955" cy="213360"/>
              <a:chOff x="3619500" y="4849178"/>
              <a:chExt cx="782955" cy="213360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3619500" y="4857750"/>
                <a:ext cx="114300" cy="1143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3815715" y="4849178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安全优先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7429500" y="1333500"/>
            <a:ext cx="4572000" cy="4572000"/>
            <a:chOff x="7429500" y="1333500"/>
            <a:chExt cx="4572000" cy="4572000"/>
          </a:xfrm>
        </p:grpSpPr>
        <p:sp>
          <p:nvSpPr>
            <p:cNvPr id="25" name="Ellipse 25"/>
            <p:cNvSpPr/>
            <p:nvPr/>
          </p:nvSpPr>
          <p:spPr>
            <a:xfrm>
              <a:off x="7429500" y="1333500"/>
              <a:ext cx="4572000" cy="4572000"/>
            </a:xfrm>
            <a:prstGeom prst="ellipse">
              <a:avLst/>
            </a:prstGeom>
            <a:solidFill>
              <a:srgbClr val="F6F8FB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9461500" y="2571750"/>
              <a:ext cx="127000" cy="1905000"/>
            </a:xfrm>
            <a:custGeom>
              <a:avLst/>
              <a:gdLst/>
              <a:ahLst/>
              <a:cxnLst/>
              <a:rect l="l" t="t" r="r" b="b"/>
              <a:pathLst>
                <a:path w="127000" h="1905000">
                  <a:moveTo>
                    <a:pt x="63500" y="0"/>
                  </a:moveTo>
                  <a:cubicBezTo>
                    <a:pt x="127000" y="127000"/>
                    <a:pt x="127000" y="254000"/>
                    <a:pt x="63500" y="381000"/>
                  </a:cubicBezTo>
                  <a:cubicBezTo>
                    <a:pt x="0" y="508000"/>
                    <a:pt x="0" y="635000"/>
                    <a:pt x="63500" y="762000"/>
                  </a:cubicBezTo>
                  <a:cubicBezTo>
                    <a:pt x="127000" y="889000"/>
                    <a:pt x="127000" y="1016000"/>
                    <a:pt x="63500" y="1143000"/>
                  </a:cubicBezTo>
                  <a:cubicBezTo>
                    <a:pt x="0" y="1270000"/>
                    <a:pt x="0" y="1397000"/>
                    <a:pt x="63500" y="1524000"/>
                  </a:cubicBezTo>
                  <a:cubicBezTo>
                    <a:pt x="127000" y="1651000"/>
                    <a:pt x="127000" y="1778000"/>
                    <a:pt x="63500" y="1905000"/>
                  </a:cubicBezTo>
                </a:path>
              </a:pathLst>
            </a:custGeom>
            <a:noFill/>
            <a:ln w="28575" cap="rnd">
              <a:solidFill>
                <a:srgbClr val="5C6470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9391650" y="2667000"/>
              <a:ext cx="266700" cy="1714500"/>
            </a:xfrm>
            <a:custGeom>
              <a:avLst/>
              <a:gdLst/>
              <a:ahLst/>
              <a:cxnLst/>
              <a:rect l="l" t="t" r="r" b="b"/>
              <a:pathLst>
                <a:path w="266700" h="1714500">
                  <a:moveTo>
                    <a:pt x="0" y="0"/>
                  </a:moveTo>
                  <a:lnTo>
                    <a:pt x="266700" y="0"/>
                  </a:lnTo>
                  <a:moveTo>
                    <a:pt x="0" y="190500"/>
                  </a:moveTo>
                  <a:lnTo>
                    <a:pt x="266700" y="190500"/>
                  </a:lnTo>
                  <a:moveTo>
                    <a:pt x="0" y="381000"/>
                  </a:moveTo>
                  <a:lnTo>
                    <a:pt x="266700" y="381000"/>
                  </a:lnTo>
                  <a:moveTo>
                    <a:pt x="0" y="571500"/>
                  </a:moveTo>
                  <a:lnTo>
                    <a:pt x="266700" y="571500"/>
                  </a:lnTo>
                  <a:moveTo>
                    <a:pt x="0" y="762000"/>
                  </a:moveTo>
                  <a:lnTo>
                    <a:pt x="266700" y="762000"/>
                  </a:lnTo>
                  <a:moveTo>
                    <a:pt x="0" y="952500"/>
                  </a:moveTo>
                  <a:lnTo>
                    <a:pt x="266700" y="952500"/>
                  </a:lnTo>
                  <a:moveTo>
                    <a:pt x="0" y="1143000"/>
                  </a:moveTo>
                  <a:lnTo>
                    <a:pt x="266700" y="1143000"/>
                  </a:lnTo>
                  <a:moveTo>
                    <a:pt x="0" y="1333500"/>
                  </a:moveTo>
                  <a:lnTo>
                    <a:pt x="266700" y="1333500"/>
                  </a:lnTo>
                  <a:moveTo>
                    <a:pt x="0" y="1524000"/>
                  </a:moveTo>
                  <a:lnTo>
                    <a:pt x="266700" y="1524000"/>
                  </a:lnTo>
                  <a:moveTo>
                    <a:pt x="0" y="1714500"/>
                  </a:moveTo>
                  <a:lnTo>
                    <a:pt x="266700" y="1714500"/>
                  </a:lnTo>
                </a:path>
              </a:pathLst>
            </a:custGeom>
            <a:noFill/>
            <a:ln w="19050" cap="rnd">
              <a:solidFill>
                <a:srgbClr val="5C6470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 rot="-720000">
              <a:off x="7966567" y="2529887"/>
              <a:ext cx="2286000" cy="571500"/>
              <a:chOff x="7966567" y="2529887"/>
              <a:chExt cx="2286000" cy="5715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966567" y="2529887"/>
                <a:ext cx="2286000" cy="571500"/>
              </a:xfrm>
              <a:prstGeom prst="roundRect">
                <a:avLst>
                  <a:gd name="adj" fmla="val 23333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8099917" y="2663237"/>
                <a:ext cx="20193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8A3D">
                  <a:alpha val="95000"/>
                </a:srgbClr>
              </a:solidFill>
              <a:ln>
                <a:noFill/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9814417" y="2758487"/>
                <a:ext cx="114300" cy="114300"/>
              </a:xfrm>
              <a:prstGeom prst="ellipse">
                <a:avLst/>
              </a:prstGeom>
              <a:solidFill>
                <a:srgbClr val="FFFFFF">
                  <a:alpha val="90000"/>
                </a:srgbClr>
              </a:solidFill>
              <a:ln>
                <a:noFill/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 rot="720000">
              <a:off x="9228388" y="4245351"/>
              <a:ext cx="2286000" cy="571500"/>
              <a:chOff x="9228388" y="4245351"/>
              <a:chExt cx="2286000" cy="571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9228388" y="4245351"/>
                <a:ext cx="2286000" cy="571500"/>
              </a:xfrm>
              <a:prstGeom prst="roundRect">
                <a:avLst>
                  <a:gd name="adj" fmla="val 23333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9361738" y="4378701"/>
                <a:ext cx="20193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4FB7B3">
                  <a:alpha val="95000"/>
                </a:srgbClr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9552238" y="4473951"/>
                <a:ext cx="114300" cy="114300"/>
              </a:xfrm>
              <a:prstGeom prst="ellipse">
                <a:avLst/>
              </a:prstGeom>
              <a:solidFill>
                <a:srgbClr val="FFFFFF">
                  <a:alpha val="90000"/>
                </a:srgbClr>
              </a:solidFill>
              <a:ln>
                <a:noFill/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7905750" y="3067050"/>
              <a:ext cx="381000" cy="552450"/>
              <a:chOff x="7905750" y="3067050"/>
              <a:chExt cx="381000" cy="5524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905750" y="314325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381000" y="476250"/>
                    </a:moveTo>
                    <a:cubicBezTo>
                      <a:pt x="190500" y="349250"/>
                      <a:pt x="63500" y="190500"/>
                      <a:pt x="0" y="0"/>
                    </a:cubicBezTo>
                  </a:path>
                </a:pathLst>
              </a:custGeom>
              <a:noFill/>
              <a:ln w="28575" cap="rnd">
                <a:solidFill>
                  <a:srgbClr val="FF8A3D"/>
                </a:solidFill>
                <a:round/>
              </a:ln>
            </p:spPr>
          </p:sp>
          <p:sp>
            <p:nvSpPr>
              <p:cNvPr id="37" name="Polygon 37"/>
              <p:cNvSpPr/>
              <p:nvPr/>
            </p:nvSpPr>
            <p:spPr>
              <a:xfrm>
                <a:off x="7905750" y="306705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0" y="76200"/>
                    </a:moveTo>
                    <a:lnTo>
                      <a:pt x="76200" y="133350"/>
                    </a:lnTo>
                    <a:lnTo>
                      <a:pt x="57150" y="0"/>
                    </a:lnTo>
                    <a:close/>
                  </a:path>
                </a:pathLst>
              </a:custGeom>
              <a:solidFill>
                <a:srgbClr val="FF8A3D"/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11239500" y="3810000"/>
              <a:ext cx="381000" cy="552450"/>
              <a:chOff x="11239500" y="3810000"/>
              <a:chExt cx="381000" cy="55245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1239500" y="3810000"/>
                <a:ext cx="381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476250">
                    <a:moveTo>
                      <a:pt x="0" y="0"/>
                    </a:moveTo>
                    <a:cubicBezTo>
                      <a:pt x="190500" y="127000"/>
                      <a:pt x="317500" y="285750"/>
                      <a:pt x="381000" y="476250"/>
                    </a:cubicBezTo>
                  </a:path>
                </a:pathLst>
              </a:custGeom>
              <a:noFill/>
              <a:ln w="28575" cap="rnd">
                <a:solidFill>
                  <a:srgbClr val="4FB7B3"/>
                </a:solidFill>
                <a:round/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11544300" y="422910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76200" y="57150"/>
                    </a:moveTo>
                    <a:lnTo>
                      <a:pt x="0" y="0"/>
                    </a:lnTo>
                    <a:lnTo>
                      <a:pt x="19050" y="133350"/>
                    </a:lnTo>
                    <a:close/>
                  </a:path>
                </a:pathLst>
              </a:custGeom>
              <a:solidFill>
                <a:srgbClr val="4FB7B3"/>
              </a:solidFill>
              <a:ln>
                <a:noFill/>
              </a:ln>
            </p:spPr>
          </p:sp>
        </p:grpSp>
      </p:grpSp>
      <p:grpSp>
        <p:nvGrpSpPr>
          <p:cNvPr id="46" name="Group 46"/>
          <p:cNvGrpSpPr/>
          <p:nvPr/>
        </p:nvGrpSpPr>
        <p:grpSpPr>
          <a:xfrm>
            <a:off x="750570" y="6189345"/>
            <a:ext cx="3842904" cy="182880"/>
            <a:chOff x="750570" y="6189345"/>
            <a:chExt cx="3842904" cy="182880"/>
          </a:xfrm>
        </p:grpSpPr>
        <p:sp>
          <p:nvSpPr>
            <p:cNvPr id="43" name="TextBox 43"/>
            <p:cNvSpPr txBox="1"/>
            <p:nvPr/>
          </p:nvSpPr>
          <p:spPr>
            <a:xfrm>
              <a:off x="750570" y="6189345"/>
              <a:ext cx="11450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2026 · 个人入门手册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655570" y="6189345"/>
              <a:ext cx="4489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页 1 / 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417570" y="6189345"/>
              <a:ext cx="11759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F8A3D"/>
                  </a:solidFill>
                  <a:latin typeface="Arial"/>
                  <a:ea typeface="Microsoft YaHei"/>
                  <a:cs typeface="Arial"/>
                </a:rPr>
                <a:t>轻松友好 · 一气呵成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8A3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27710" y="458152"/>
            <a:ext cx="2336864" cy="789623"/>
            <a:chOff x="727710" y="458152"/>
            <a:chExt cx="2336864" cy="789623"/>
          </a:xfrm>
        </p:grpSpPr>
        <p:sp>
          <p:nvSpPr>
            <p:cNvPr id="4" name="TextBox 4"/>
            <p:cNvSpPr txBox="1"/>
            <p:nvPr/>
          </p:nvSpPr>
          <p:spPr>
            <a:xfrm>
              <a:off x="748665" y="458152"/>
              <a:ext cx="999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02 · WHAT IS IT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7710" y="6991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漂移板是什么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1811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rgbClr val="FF8A3D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992517" y="474345"/>
            <a:ext cx="4489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页 2 / 7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62000" y="1619250"/>
            <a:ext cx="10668000" cy="723900"/>
            <a:chOff x="762000" y="1619250"/>
            <a:chExt cx="10668000" cy="723900"/>
          </a:xfrm>
        </p:grpSpPr>
        <p:sp>
          <p:nvSpPr>
            <p:cNvPr id="9" name="Rectangle 9"/>
            <p:cNvSpPr/>
            <p:nvPr/>
          </p:nvSpPr>
          <p:spPr>
            <a:xfrm>
              <a:off x="762000" y="1619250"/>
              <a:ext cx="10668000" cy="723900"/>
            </a:xfrm>
            <a:prstGeom prst="roundRect">
              <a:avLst>
                <a:gd name="adj" fmla="val 18421"/>
              </a:avLst>
            </a:prstGeom>
            <a:solidFill>
              <a:srgbClr val="F6F8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9655" y="1797368"/>
              <a:ext cx="25199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4E79"/>
                  </a:solidFill>
                  <a:latin typeface="Arial"/>
                  <a:ea typeface="Microsoft YaHei"/>
                  <a:cs typeface="Arial"/>
                </a:rPr>
                <a:t>两块独立板面 + 中间一根弹簧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1560" y="2080260"/>
              <a:ext cx="54231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通过脚踝、膝盖和腰部的协同，重心在两板之间切换 —— 像滑雪，也像滑冰。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62000" y="2667000"/>
            <a:ext cx="10668000" cy="2743200"/>
            <a:chOff x="762000" y="2667000"/>
            <a:chExt cx="10668000" cy="2743200"/>
          </a:xfrm>
        </p:grpSpPr>
        <p:grpSp>
          <p:nvGrpSpPr>
            <p:cNvPr id="30" name="Group 30"/>
            <p:cNvGrpSpPr/>
            <p:nvPr/>
          </p:nvGrpSpPr>
          <p:grpSpPr>
            <a:xfrm>
              <a:off x="762000" y="2667000"/>
              <a:ext cx="3429000" cy="2743200"/>
              <a:chOff x="762000" y="2667000"/>
              <a:chExt cx="3429000" cy="2743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62000" y="2667000"/>
                <a:ext cx="3429000" cy="26670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4E8EE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62000" y="266700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066800" y="3105150"/>
                <a:ext cx="1295400" cy="314325"/>
                <a:chOff x="1066800" y="3105150"/>
                <a:chExt cx="1295400" cy="314325"/>
              </a:xfrm>
            </p:grpSpPr>
            <p:sp>
              <p:nvSpPr>
                <p:cNvPr id="15" name="Rectangle 15"/>
                <p:cNvSpPr/>
                <p:nvPr/>
              </p:nvSpPr>
              <p:spPr>
                <a:xfrm>
                  <a:off x="1066800" y="3162300"/>
                  <a:ext cx="5334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16" name="Rectangle 16"/>
                <p:cNvSpPr/>
                <p:nvPr/>
              </p:nvSpPr>
              <p:spPr>
                <a:xfrm>
                  <a:off x="1828800" y="3162300"/>
                  <a:ext cx="5334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8A3D"/>
                </a:solidFill>
                <a:ln>
                  <a:noFill/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1600200" y="310515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rgbClr val="5C6470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1600200" y="318135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rgbClr val="5C6470"/>
                  </a:solidFill>
                </a:ln>
              </p:spPr>
            </p:sp>
            <p:sp>
              <p:nvSpPr>
                <p:cNvPr id="19" name="Line 19"/>
                <p:cNvSpPr/>
                <p:nvPr/>
              </p:nvSpPr>
              <p:spPr>
                <a:xfrm>
                  <a:off x="1600200" y="325755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rgbClr val="5C6470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1600200" y="333375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rgbClr val="5C6470"/>
                  </a:solidFill>
                </a:ln>
              </p:spPr>
            </p:sp>
            <p:sp>
              <p:nvSpPr>
                <p:cNvPr id="21" name="Line 21"/>
                <p:cNvSpPr/>
                <p:nvPr/>
              </p:nvSpPr>
              <p:spPr>
                <a:xfrm>
                  <a:off x="1600200" y="3409950"/>
                  <a:ext cx="228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9525">
                      <a:moveTo>
                        <a:pt x="0" y="0"/>
                      </a:moveTo>
                      <a:lnTo>
                        <a:pt x="228600" y="0"/>
                      </a:lnTo>
                    </a:path>
                  </a:pathLst>
                </a:custGeom>
                <a:noFill/>
                <a:ln w="19050">
                  <a:solidFill>
                    <a:srgbClr val="5C6470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045845" y="3727132"/>
                <a:ext cx="5039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外形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51560" y="4156710"/>
                <a:ext cx="167868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两块约 30 cm 的板面，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51560" y="438531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中间由一根可扭转的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51560" y="4613910"/>
                <a:ext cx="8305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弹簧连接。</a:t>
                </a: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3443668" y="4876800"/>
                <a:ext cx="542163" cy="533400"/>
                <a:chOff x="3443668" y="4876800"/>
                <a:chExt cx="542163" cy="533400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3448050" y="4876800"/>
                  <a:ext cx="533400" cy="533400"/>
                </a:xfrm>
                <a:prstGeom prst="ellipse">
                  <a:avLst/>
                </a:prstGeom>
                <a:solidFill>
                  <a:srgbClr val="FFEFE2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3443668" y="5057775"/>
                  <a:ext cx="542163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FF8A3D"/>
                      </a:solidFill>
                      <a:latin typeface="Arial"/>
                      <a:ea typeface="Microsoft YaHei"/>
                      <a:cs typeface="Arial"/>
                    </a:rPr>
                    <a:t>30cm</a:t>
                  </a:r>
                </a:p>
              </p:txBody>
            </p:sp>
          </p:grpSp>
        </p:grpSp>
        <p:grpSp>
          <p:nvGrpSpPr>
            <p:cNvPr id="45" name="Group 45"/>
            <p:cNvGrpSpPr/>
            <p:nvPr/>
          </p:nvGrpSpPr>
          <p:grpSpPr>
            <a:xfrm>
              <a:off x="4381500" y="2667000"/>
              <a:ext cx="3429000" cy="2743200"/>
              <a:chOff x="4381500" y="2667000"/>
              <a:chExt cx="3429000" cy="27432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4381500" y="2667000"/>
                <a:ext cx="3429000" cy="26670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4E8EE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381500" y="266700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4686300" y="2861310"/>
                <a:ext cx="1295400" cy="815340"/>
                <a:chOff x="4686300" y="2861310"/>
                <a:chExt cx="1295400" cy="815340"/>
              </a:xfrm>
            </p:grpSpPr>
            <p:sp>
              <p:nvSpPr>
                <p:cNvPr id="33" name="Rectangle 33"/>
                <p:cNvSpPr/>
                <p:nvPr/>
              </p:nvSpPr>
              <p:spPr>
                <a:xfrm>
                  <a:off x="4686300" y="3143250"/>
                  <a:ext cx="5334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1F4E79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5448300" y="3009900"/>
                  <a:ext cx="533400" cy="190500"/>
                </a:xfrm>
                <a:prstGeom prst="roundRect">
                  <a:avLst>
                    <a:gd name="adj" fmla="val 20000"/>
                  </a:avLst>
                </a:prstGeom>
                <a:solidFill>
                  <a:srgbClr val="FF8A3D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5274754" y="2861310"/>
                  <a:ext cx="118491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rgbClr val="1F4E79"/>
                      </a:solidFill>
                      <a:latin typeface="Arial"/>
                      <a:ea typeface="Microsoft YaHei"/>
                      <a:cs typeface="Arial"/>
                    </a:rPr>
                    <a:t>↑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5274754" y="3432810"/>
                  <a:ext cx="118491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rgbClr val="FF8A3D"/>
                      </a:solidFill>
                      <a:latin typeface="Arial"/>
                      <a:ea typeface="Microsoft YaHei"/>
                      <a:cs typeface="Arial"/>
                    </a:rPr>
                    <a:t>↓</a:t>
                  </a:r>
                </a:p>
              </p:txBody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4665345" y="37271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重心动作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671060" y="4156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脚踝、膝盖、腰部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671060" y="438531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协同发力；一板下压，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671060" y="46139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另一板自然抬起。</a:t>
                </a:r>
              </a:p>
            </p:txBody>
          </p:sp>
          <p:grpSp>
            <p:nvGrpSpPr>
              <p:cNvPr id="44" name="Group 44"/>
              <p:cNvGrpSpPr/>
              <p:nvPr/>
            </p:nvGrpSpPr>
            <p:grpSpPr>
              <a:xfrm>
                <a:off x="7067550" y="4876800"/>
                <a:ext cx="533400" cy="533400"/>
                <a:chOff x="7067550" y="4876800"/>
                <a:chExt cx="533400" cy="533400"/>
              </a:xfrm>
            </p:grpSpPr>
            <p:sp>
              <p:nvSpPr>
                <p:cNvPr id="42" name="Ellipse 42"/>
                <p:cNvSpPr/>
                <p:nvPr/>
              </p:nvSpPr>
              <p:spPr>
                <a:xfrm>
                  <a:off x="7067550" y="4876800"/>
                  <a:ext cx="533400" cy="533400"/>
                </a:xfrm>
                <a:prstGeom prst="ellipse">
                  <a:avLst/>
                </a:prstGeom>
                <a:solidFill>
                  <a:srgbClr val="E6F4F2"/>
                </a:solidFill>
                <a:ln>
                  <a:noFill/>
                </a:ln>
              </p:spPr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7152430" y="5057775"/>
                  <a:ext cx="363641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4FB7B3"/>
                      </a:solidFill>
                      <a:latin typeface="Arial"/>
                      <a:ea typeface="Microsoft YaHei"/>
                      <a:cs typeface="Arial"/>
                    </a:rPr>
                    <a:t>8字</a:t>
                  </a:r>
                </a:p>
              </p:txBody>
            </p:sp>
          </p:grpSp>
        </p:grpSp>
        <p:grpSp>
          <p:nvGrpSpPr>
            <p:cNvPr id="68" name="Group 68"/>
            <p:cNvGrpSpPr/>
            <p:nvPr/>
          </p:nvGrpSpPr>
          <p:grpSpPr>
            <a:xfrm>
              <a:off x="8001000" y="2667000"/>
              <a:ext cx="3429000" cy="2743200"/>
              <a:chOff x="8001000" y="2667000"/>
              <a:chExt cx="3429000" cy="27432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8001000" y="2667000"/>
                <a:ext cx="3429000" cy="26670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14288">
                <a:solidFill>
                  <a:srgbClr val="E4E8EE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8001000" y="2667000"/>
                <a:ext cx="3429000" cy="57150"/>
              </a:xfrm>
              <a:prstGeom prst="roundRect">
                <a:avLst>
                  <a:gd name="adj" fmla="val 50000"/>
                </a:avLst>
              </a:prstGeom>
              <a:solidFill>
                <a:srgbClr val="4FB7B3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8305800" y="2971800"/>
                <a:ext cx="1257300" cy="554831"/>
                <a:chOff x="8305800" y="2971800"/>
                <a:chExt cx="1257300" cy="554831"/>
              </a:xfrm>
            </p:grpSpPr>
            <p:grpSp>
              <p:nvGrpSpPr>
                <p:cNvPr id="50" name="Group 50"/>
                <p:cNvGrpSpPr/>
                <p:nvPr/>
              </p:nvGrpSpPr>
              <p:grpSpPr>
                <a:xfrm>
                  <a:off x="8305800" y="2971800"/>
                  <a:ext cx="571500" cy="264319"/>
                  <a:chOff x="8305800" y="2971800"/>
                  <a:chExt cx="571500" cy="264319"/>
                </a:xfrm>
              </p:grpSpPr>
              <p:sp>
                <p:nvSpPr>
                  <p:cNvPr id="48" name="Rectangle 48"/>
                  <p:cNvSpPr/>
                  <p:nvPr/>
                </p:nvSpPr>
                <p:spPr>
                  <a:xfrm>
                    <a:off x="8305800" y="2971800"/>
                    <a:ext cx="571500" cy="247650"/>
                  </a:xfrm>
                  <a:prstGeom prst="roundRect">
                    <a:avLst>
                      <a:gd name="adj" fmla="val 23077"/>
                    </a:avLst>
                  </a:prstGeom>
                  <a:solidFill>
                    <a:srgbClr val="1F4E79"/>
                  </a:solidFill>
                  <a:ln>
                    <a:noFill/>
                  </a:ln>
                </p:spPr>
              </p:sp>
              <p:sp>
                <p:nvSpPr>
                  <p:cNvPr id="49" name="TextBox 49"/>
                  <p:cNvSpPr txBox="1"/>
                  <p:nvPr/>
                </p:nvSpPr>
                <p:spPr>
                  <a:xfrm>
                    <a:off x="8374392" y="3037999"/>
                    <a:ext cx="434316" cy="198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75" b="1" dirty="0">
                        <a:solidFill>
                          <a:srgbClr val="FFFFFF"/>
                        </a:solidFill>
                        <a:latin typeface="Arial"/>
                        <a:ea typeface="Microsoft YaHei"/>
                        <a:cs typeface="Arial"/>
                      </a:rPr>
                      <a:t>漂移板</a:t>
                    </a:r>
                  </a:p>
                </p:txBody>
              </p:sp>
            </p:grpSp>
            <p:grpSp>
              <p:nvGrpSpPr>
                <p:cNvPr id="53" name="Group 53"/>
                <p:cNvGrpSpPr/>
                <p:nvPr/>
              </p:nvGrpSpPr>
              <p:grpSpPr>
                <a:xfrm>
                  <a:off x="8991600" y="2971800"/>
                  <a:ext cx="571500" cy="264319"/>
                  <a:chOff x="8991600" y="2971800"/>
                  <a:chExt cx="571500" cy="264319"/>
                </a:xfrm>
              </p:grpSpPr>
              <p:sp>
                <p:nvSpPr>
                  <p:cNvPr id="51" name="Rectangle 51"/>
                  <p:cNvSpPr/>
                  <p:nvPr/>
                </p:nvSpPr>
                <p:spPr>
                  <a:xfrm>
                    <a:off x="8991600" y="2971800"/>
                    <a:ext cx="571500" cy="247650"/>
                  </a:xfrm>
                  <a:prstGeom prst="roundRect">
                    <a:avLst>
                      <a:gd name="adj" fmla="val 23077"/>
                    </a:avLst>
                  </a:prstGeom>
                  <a:solidFill>
                    <a:srgbClr val="FF8A3D"/>
                  </a:solidFill>
                  <a:ln>
                    <a:noFill/>
                  </a:ln>
                </p:spPr>
              </p:sp>
              <p:sp>
                <p:nvSpPr>
                  <p:cNvPr id="52" name="TextBox 52"/>
                  <p:cNvSpPr txBox="1"/>
                  <p:nvPr/>
                </p:nvSpPr>
                <p:spPr>
                  <a:xfrm>
                    <a:off x="9060192" y="3037999"/>
                    <a:ext cx="434316" cy="19812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975" b="1" dirty="0">
                        <a:solidFill>
                          <a:srgbClr val="FFFFFF"/>
                        </a:solidFill>
                        <a:latin typeface="Arial"/>
                        <a:ea typeface="Microsoft YaHei"/>
                        <a:cs typeface="Arial"/>
                      </a:rPr>
                      <a:t>滑移板</a:t>
                    </a:r>
                  </a:p>
                </p:txBody>
              </p:sp>
            </p:grpSp>
            <p:grpSp>
              <p:nvGrpSpPr>
                <p:cNvPr id="56" name="Group 56"/>
                <p:cNvGrpSpPr/>
                <p:nvPr/>
              </p:nvGrpSpPr>
              <p:grpSpPr>
                <a:xfrm>
                  <a:off x="8305800" y="3276600"/>
                  <a:ext cx="571500" cy="250031"/>
                  <a:chOff x="8305800" y="3276600"/>
                  <a:chExt cx="571500" cy="250031"/>
                </a:xfrm>
              </p:grpSpPr>
              <p:sp>
                <p:nvSpPr>
                  <p:cNvPr id="54" name="Rectangle 54"/>
                  <p:cNvSpPr/>
                  <p:nvPr/>
                </p:nvSpPr>
                <p:spPr>
                  <a:xfrm>
                    <a:off x="8305800" y="3276600"/>
                    <a:ext cx="571500" cy="247650"/>
                  </a:xfrm>
                  <a:prstGeom prst="roundRect">
                    <a:avLst>
                      <a:gd name="adj" fmla="val 23077"/>
                    </a:avLst>
                  </a:prstGeom>
                  <a:solidFill>
                    <a:srgbClr val="4FB7B3"/>
                  </a:solidFill>
                  <a:ln>
                    <a:noFill/>
                  </a:ln>
                </p:spPr>
              </p:sp>
              <p:sp>
                <p:nvSpPr>
                  <p:cNvPr id="55" name="TextBox 55"/>
                  <p:cNvSpPr txBox="1"/>
                  <p:nvPr/>
                </p:nvSpPr>
                <p:spPr>
                  <a:xfrm>
                    <a:off x="8390474" y="3358991"/>
                    <a:ext cx="402153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825" b="1" dirty="0">
                        <a:solidFill>
                          <a:srgbClr val="FFFFFF"/>
                        </a:solidFill>
                        <a:latin typeface="Arial"/>
                        <a:ea typeface="Microsoft YaHei"/>
                        <a:cs typeface="Arial"/>
                      </a:rPr>
                      <a:t>Street</a:t>
                    </a:r>
                  </a:p>
                </p:txBody>
              </p:sp>
            </p:grpSp>
            <p:grpSp>
              <p:nvGrpSpPr>
                <p:cNvPr id="59" name="Group 59"/>
                <p:cNvGrpSpPr/>
                <p:nvPr/>
              </p:nvGrpSpPr>
              <p:grpSpPr>
                <a:xfrm>
                  <a:off x="8991600" y="3276600"/>
                  <a:ext cx="571500" cy="250031"/>
                  <a:chOff x="8991600" y="3276600"/>
                  <a:chExt cx="571500" cy="250031"/>
                </a:xfrm>
              </p:grpSpPr>
              <p:sp>
                <p:nvSpPr>
                  <p:cNvPr id="57" name="Rectangle 57"/>
                  <p:cNvSpPr/>
                  <p:nvPr/>
                </p:nvSpPr>
                <p:spPr>
                  <a:xfrm>
                    <a:off x="8991600" y="3276600"/>
                    <a:ext cx="571500" cy="247650"/>
                  </a:xfrm>
                  <a:prstGeom prst="roundRect">
                    <a:avLst>
                      <a:gd name="adj" fmla="val 23077"/>
                    </a:avLst>
                  </a:prstGeom>
                  <a:solidFill>
                    <a:srgbClr val="5C6470"/>
                  </a:solidFill>
                  <a:ln>
                    <a:noFill/>
                  </a:ln>
                </p:spPr>
              </p:sp>
              <p:sp>
                <p:nvSpPr>
                  <p:cNvPr id="58" name="TextBox 58"/>
                  <p:cNvSpPr txBox="1"/>
                  <p:nvPr/>
                </p:nvSpPr>
                <p:spPr>
                  <a:xfrm>
                    <a:off x="9122479" y="3358991"/>
                    <a:ext cx="309741" cy="1676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:r>
                      <a:rPr lang="zh-CN" sz="825" b="1" dirty="0">
                        <a:solidFill>
                          <a:srgbClr val="FFFFFF"/>
                        </a:solidFill>
                        <a:latin typeface="Arial"/>
                        <a:ea typeface="Microsoft YaHei"/>
                        <a:cs typeface="Arial"/>
                      </a:rPr>
                      <a:t>Drift</a:t>
                    </a:r>
                  </a:p>
                </p:txBody>
              </p:sp>
            </p:grpSp>
          </p:grpSp>
          <p:sp>
            <p:nvSpPr>
              <p:cNvPr id="61" name="TextBox 61"/>
              <p:cNvSpPr txBox="1"/>
              <p:nvPr/>
            </p:nvSpPr>
            <p:spPr>
              <a:xfrm>
                <a:off x="8284845" y="3727132"/>
                <a:ext cx="966026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常见别名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290560" y="415671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漂移板 · 滑移板 ·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290560" y="4385310"/>
                <a:ext cx="119062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Street Slider ·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290560" y="4613910"/>
                <a:ext cx="17186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Drift Board，都是它。</a:t>
                </a:r>
              </a:p>
            </p:txBody>
          </p:sp>
          <p:grpSp>
            <p:nvGrpSpPr>
              <p:cNvPr id="67" name="Group 67"/>
              <p:cNvGrpSpPr/>
              <p:nvPr/>
            </p:nvGrpSpPr>
            <p:grpSpPr>
              <a:xfrm>
                <a:off x="10687050" y="4876800"/>
                <a:ext cx="533400" cy="533400"/>
                <a:chOff x="10687050" y="4876800"/>
                <a:chExt cx="533400" cy="533400"/>
              </a:xfrm>
            </p:grpSpPr>
            <p:sp>
              <p:nvSpPr>
                <p:cNvPr id="65" name="Ellipse 65"/>
                <p:cNvSpPr/>
                <p:nvPr/>
              </p:nvSpPr>
              <p:spPr>
                <a:xfrm>
                  <a:off x="10687050" y="4876800"/>
                  <a:ext cx="533400" cy="533400"/>
                </a:xfrm>
                <a:prstGeom prst="ellipse">
                  <a:avLst/>
                </a:prstGeom>
                <a:solidFill>
                  <a:srgbClr val="E5EDF5"/>
                </a:solidFill>
                <a:ln>
                  <a:noFill/>
                </a:ln>
              </p:spPr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10790112" y="5073968"/>
                  <a:ext cx="327277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1F4E79"/>
                      </a:solidFill>
                      <a:latin typeface="Arial"/>
                      <a:ea typeface="Microsoft YaHei"/>
                      <a:cs typeface="Arial"/>
                    </a:rPr>
                    <a:t>4名</a:t>
                  </a:r>
                </a:p>
              </p:txBody>
            </p:sp>
          </p:grpSp>
        </p:grpSp>
      </p:grpSp>
      <p:grpSp>
        <p:nvGrpSpPr>
          <p:cNvPr id="74" name="Group 74"/>
          <p:cNvGrpSpPr/>
          <p:nvPr/>
        </p:nvGrpSpPr>
        <p:grpSpPr>
          <a:xfrm>
            <a:off x="762000" y="5715000"/>
            <a:ext cx="10668000" cy="571500"/>
            <a:chOff x="762000" y="5715000"/>
            <a:chExt cx="10668000" cy="571500"/>
          </a:xfrm>
        </p:grpSpPr>
        <p:sp>
          <p:nvSpPr>
            <p:cNvPr id="70" name="Rectangle 70"/>
            <p:cNvSpPr/>
            <p:nvPr/>
          </p:nvSpPr>
          <p:spPr>
            <a:xfrm>
              <a:off x="762000" y="5715000"/>
              <a:ext cx="10668000" cy="571500"/>
            </a:xfrm>
            <a:prstGeom prst="roundRect">
              <a:avLst>
                <a:gd name="adj" fmla="val 20000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71" name="Ellipse 71"/>
            <p:cNvSpPr/>
            <p:nvPr/>
          </p:nvSpPr>
          <p:spPr>
            <a:xfrm>
              <a:off x="971550" y="5867400"/>
              <a:ext cx="266700" cy="266700"/>
            </a:xfrm>
            <a:prstGeom prst="ellipse">
              <a:avLst/>
            </a:prstGeom>
            <a:solidFill>
              <a:srgbClr val="FF8A3D"/>
            </a:solidFill>
            <a:ln>
              <a:noFill/>
            </a:ln>
          </p:spPr>
        </p:sp>
        <p:sp>
          <p:nvSpPr>
            <p:cNvPr id="72" name="Freeform 72"/>
            <p:cNvSpPr/>
            <p:nvPr/>
          </p:nvSpPr>
          <p:spPr>
            <a:xfrm>
              <a:off x="1047750" y="59626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38100"/>
                  </a:moveTo>
                  <a:lnTo>
                    <a:pt x="38100" y="76200"/>
                  </a:lnTo>
                  <a:lnTo>
                    <a:pt x="114300" y="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392555" y="5931218"/>
              <a:ext cx="40321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一句话：漂移板 = 一块会跟着你重心跳舞的板。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751522" y="6521291"/>
            <a:ext cx="8790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漂移板入门 · P02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8A3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27710" y="458152"/>
            <a:ext cx="1580769" cy="789623"/>
            <a:chOff x="727710" y="458152"/>
            <a:chExt cx="1580769" cy="789623"/>
          </a:xfrm>
        </p:grpSpPr>
        <p:sp>
          <p:nvSpPr>
            <p:cNvPr id="4" name="TextBox 4"/>
            <p:cNvSpPr txBox="1"/>
            <p:nvPr/>
          </p:nvSpPr>
          <p:spPr>
            <a:xfrm>
              <a:off x="748665" y="458152"/>
              <a:ext cx="6497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03 · GEAR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7710" y="6991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装备准备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1811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rgbClr val="FF8A3D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992517" y="474345"/>
            <a:ext cx="4489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页 3 / 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855" y="1473518"/>
            <a:ext cx="420181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入门不需要贵装备，但有 3 件物品能让你少摔几跤。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2000250"/>
            <a:ext cx="10668000" cy="533400"/>
            <a:chOff x="762000" y="2000250"/>
            <a:chExt cx="10668000" cy="533400"/>
          </a:xfrm>
        </p:grpSpPr>
        <p:sp>
          <p:nvSpPr>
            <p:cNvPr id="10" name="Rectangle 10"/>
            <p:cNvSpPr/>
            <p:nvPr/>
          </p:nvSpPr>
          <p:spPr>
            <a:xfrm>
              <a:off x="762000" y="2000250"/>
              <a:ext cx="10668000" cy="533400"/>
            </a:xfrm>
            <a:prstGeom prst="roundRect">
              <a:avLst>
                <a:gd name="adj" fmla="val 25000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18260" y="220408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装备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4760" y="2204085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用途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04760" y="22040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新手建议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668000" y="2152650"/>
              <a:ext cx="609600" cy="247650"/>
              <a:chOff x="10668000" y="2152650"/>
              <a:chExt cx="609600" cy="2476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10668000" y="2152650"/>
                <a:ext cx="6096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781798" y="2217420"/>
                <a:ext cx="3820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 件套</a:t>
                </a:r>
              </a:p>
            </p:txBody>
          </p:sp>
        </p:grpSp>
      </p:grpSp>
      <p:grpSp>
        <p:nvGrpSpPr>
          <p:cNvPr id="30" name="Group 30"/>
          <p:cNvGrpSpPr/>
          <p:nvPr/>
        </p:nvGrpSpPr>
        <p:grpSpPr>
          <a:xfrm>
            <a:off x="762000" y="2686050"/>
            <a:ext cx="10668000" cy="819150"/>
            <a:chOff x="762000" y="2686050"/>
            <a:chExt cx="10668000" cy="819150"/>
          </a:xfrm>
        </p:grpSpPr>
        <p:sp>
          <p:nvSpPr>
            <p:cNvPr id="18" name="Rectangle 18"/>
            <p:cNvSpPr/>
            <p:nvPr/>
          </p:nvSpPr>
          <p:spPr>
            <a:xfrm>
              <a:off x="762000" y="2686050"/>
              <a:ext cx="106680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4288">
              <a:solidFill>
                <a:srgbClr val="E4E8EE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143000" y="2895600"/>
              <a:ext cx="419100" cy="419100"/>
              <a:chOff x="1143000" y="2895600"/>
              <a:chExt cx="419100" cy="41910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1143000" y="2895600"/>
                <a:ext cx="419100" cy="419100"/>
              </a:xfrm>
              <a:prstGeom prst="ellipse">
                <a:avLst/>
              </a:prstGeom>
              <a:solidFill>
                <a:srgbClr val="FFEFE2"/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238250" y="2971800"/>
                <a:ext cx="228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04800">
                    <a:moveTo>
                      <a:pt x="114300" y="0"/>
                    </a:moveTo>
                    <a:lnTo>
                      <a:pt x="228600" y="57150"/>
                    </a:lnTo>
                    <a:lnTo>
                      <a:pt x="228600" y="190500"/>
                    </a:lnTo>
                    <a:cubicBezTo>
                      <a:pt x="228600" y="247650"/>
                      <a:pt x="171450" y="285750"/>
                      <a:pt x="114300" y="304800"/>
                    </a:cubicBezTo>
                    <a:cubicBezTo>
                      <a:pt x="57150" y="285750"/>
                      <a:pt x="0" y="247650"/>
                      <a:pt x="0" y="190500"/>
                    </a:cubicBezTo>
                    <a:lnTo>
                      <a:pt x="0" y="57150"/>
                    </a:lnTo>
                    <a:close/>
                  </a:path>
                </a:pathLst>
              </a:custGeom>
              <a:solidFill>
                <a:srgbClr val="FF8A3D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693545" y="29079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护腕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2118" y="320944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Wrist Guard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94760" y="2956560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摔倒时本能撑地，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94760" y="31851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保护手腕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7429500" y="2933700"/>
              <a:ext cx="742950" cy="323850"/>
              <a:chOff x="7429500" y="2933700"/>
              <a:chExt cx="742950" cy="3238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429500" y="2933700"/>
                <a:ext cx="7429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C62828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52075" y="3037999"/>
                <a:ext cx="29779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必备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8367712" y="30218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所有玩家都该有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3619500"/>
            <a:ext cx="10668000" cy="819150"/>
            <a:chOff x="762000" y="3619500"/>
            <a:chExt cx="10668000" cy="819150"/>
          </a:xfrm>
        </p:grpSpPr>
        <p:sp>
          <p:nvSpPr>
            <p:cNvPr id="31" name="Rectangle 31"/>
            <p:cNvSpPr/>
            <p:nvPr/>
          </p:nvSpPr>
          <p:spPr>
            <a:xfrm>
              <a:off x="762000" y="3619500"/>
              <a:ext cx="106680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4288">
              <a:solidFill>
                <a:srgbClr val="E4E8EE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143000" y="3829050"/>
              <a:ext cx="419100" cy="419100"/>
              <a:chOff x="1143000" y="3829050"/>
              <a:chExt cx="419100" cy="41910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1143000" y="3829050"/>
                <a:ext cx="419100" cy="419100"/>
              </a:xfrm>
              <a:prstGeom prst="ellipse">
                <a:avLst/>
              </a:prstGeom>
              <a:solidFill>
                <a:srgbClr val="E6F4F2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38250" y="3905250"/>
                <a:ext cx="228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04800">
                    <a:moveTo>
                      <a:pt x="114300" y="0"/>
                    </a:moveTo>
                    <a:lnTo>
                      <a:pt x="228600" y="57150"/>
                    </a:lnTo>
                    <a:lnTo>
                      <a:pt x="228600" y="190500"/>
                    </a:lnTo>
                    <a:cubicBezTo>
                      <a:pt x="228600" y="247650"/>
                      <a:pt x="171450" y="285750"/>
                      <a:pt x="114300" y="304800"/>
                    </a:cubicBezTo>
                    <a:cubicBezTo>
                      <a:pt x="57150" y="285750"/>
                      <a:pt x="0" y="247650"/>
                      <a:pt x="0" y="190500"/>
                    </a:cubicBezTo>
                    <a:lnTo>
                      <a:pt x="0" y="57150"/>
                    </a:lnTo>
                    <a:close/>
                  </a:path>
                </a:pathLst>
              </a:custGeom>
              <a:solidFill>
                <a:srgbClr val="4FB7B3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76350" y="40576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solidFill>
                <a:srgbClr val="000000"/>
              </a:solidFill>
              <a:ln w="28575" cap="rnd">
                <a:solidFill>
                  <a:srgbClr val="FFFFFF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693545" y="3841432"/>
              <a:ext cx="12317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护肘 + 护膝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02118" y="41428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Elbow / Knee Pad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94760" y="389001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关节防护，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94760" y="411861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跌倒不破皮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7429500" y="3867150"/>
              <a:ext cx="742950" cy="323850"/>
              <a:chOff x="7429500" y="3867150"/>
              <a:chExt cx="742950" cy="3238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7429500" y="3867150"/>
                <a:ext cx="7429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515558" y="39714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强烈建议</a:t>
                </a:r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8367712" y="395525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心理安慰值很高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62000" y="4552950"/>
            <a:ext cx="10668000" cy="819150"/>
            <a:chOff x="762000" y="4552950"/>
            <a:chExt cx="10668000" cy="819150"/>
          </a:xfrm>
        </p:grpSpPr>
        <p:sp>
          <p:nvSpPr>
            <p:cNvPr id="45" name="Rectangle 45"/>
            <p:cNvSpPr/>
            <p:nvPr/>
          </p:nvSpPr>
          <p:spPr>
            <a:xfrm>
              <a:off x="762000" y="4552950"/>
              <a:ext cx="10668000" cy="819150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4288">
              <a:solidFill>
                <a:srgbClr val="E4E8EE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143000" y="4762500"/>
              <a:ext cx="419100" cy="419100"/>
              <a:chOff x="1143000" y="4762500"/>
              <a:chExt cx="419100" cy="4191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1143000" y="4762500"/>
                <a:ext cx="419100" cy="419100"/>
              </a:xfrm>
              <a:prstGeom prst="ellipse">
                <a:avLst/>
              </a:prstGeom>
              <a:solidFill>
                <a:srgbClr val="E5EDF5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19200" y="4933950"/>
                <a:ext cx="3048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33350">
                    <a:moveTo>
                      <a:pt x="0" y="114300"/>
                    </a:moveTo>
                    <a:cubicBezTo>
                      <a:pt x="0" y="38100"/>
                      <a:pt x="57150" y="0"/>
                      <a:pt x="133350" y="0"/>
                    </a:cubicBezTo>
                    <a:lnTo>
                      <a:pt x="209550" y="0"/>
                    </a:lnTo>
                    <a:lnTo>
                      <a:pt x="266700" y="57150"/>
                    </a:lnTo>
                    <a:lnTo>
                      <a:pt x="304800" y="57150"/>
                    </a:lnTo>
                    <a:lnTo>
                      <a:pt x="304800" y="133350"/>
                    </a:lnTo>
                    <a:lnTo>
                      <a:pt x="0" y="133350"/>
                    </a:lnTo>
                    <a:close/>
                  </a:path>
                </a:pathLst>
              </a:custGeom>
              <a:solidFill>
                <a:srgbClr val="1F4E79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693545" y="4774882"/>
              <a:ext cx="11970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平底运动鞋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702118" y="5076349"/>
              <a:ext cx="11819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Flat Sole Sneakers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794760" y="4823460"/>
              <a:ext cx="8305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板感清晰，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794760" y="5052060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鞋底不要太厚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7429500" y="4800600"/>
              <a:ext cx="742950" cy="323850"/>
              <a:chOff x="7429500" y="4800600"/>
              <a:chExt cx="742950" cy="3238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7429500" y="4800600"/>
                <a:ext cx="7429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515558" y="490489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普通板鞋</a:t>
                </a:r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8367712" y="48887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家里常有的那种即可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62000" y="5715000"/>
            <a:ext cx="10668000" cy="685800"/>
            <a:chOff x="762000" y="5715000"/>
            <a:chExt cx="10668000" cy="685800"/>
          </a:xfrm>
        </p:grpSpPr>
        <p:sp>
          <p:nvSpPr>
            <p:cNvPr id="58" name="Rectangle 58"/>
            <p:cNvSpPr/>
            <p:nvPr/>
          </p:nvSpPr>
          <p:spPr>
            <a:xfrm>
              <a:off x="762000" y="5715000"/>
              <a:ext cx="10668000" cy="685800"/>
            </a:xfrm>
            <a:prstGeom prst="roundRect">
              <a:avLst>
                <a:gd name="adj" fmla="val 19444"/>
              </a:avLst>
            </a:prstGeom>
            <a:solidFill>
              <a:srgbClr val="FFF6EE"/>
            </a:solidFill>
            <a:ln w="14288">
              <a:solidFill>
                <a:srgbClr val="FF8A3D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1028700" y="5886450"/>
              <a:ext cx="381000" cy="409575"/>
              <a:chOff x="1028700" y="5886450"/>
              <a:chExt cx="381000" cy="409575"/>
            </a:xfrm>
          </p:grpSpPr>
          <p:sp>
            <p:nvSpPr>
              <p:cNvPr id="59" name="Ellipse 59"/>
              <p:cNvSpPr/>
              <p:nvPr/>
            </p:nvSpPr>
            <p:spPr>
              <a:xfrm>
                <a:off x="1028700" y="5886450"/>
                <a:ext cx="381000" cy="381000"/>
              </a:xfrm>
              <a:prstGeom prst="ellipse">
                <a:avLst/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168646" y="5991225"/>
                <a:ext cx="10110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!</a:t>
                </a:r>
              </a:p>
            </p:txBody>
          </p:sp>
        </p:grpSp>
        <p:sp>
          <p:nvSpPr>
            <p:cNvPr id="62" name="TextBox 62"/>
            <p:cNvSpPr txBox="1"/>
            <p:nvPr/>
          </p:nvSpPr>
          <p:spPr>
            <a:xfrm>
              <a:off x="1546860" y="592836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小贴士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547812" y="6146006"/>
              <a:ext cx="65393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刚开始一定要选平整、有摩擦力的地面（地毯、草坪、木地板都很好）—— 别直接在光滑地砖上练。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751522" y="6521291"/>
            <a:ext cx="8790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漂移板入门 · P03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8A3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27710" y="458152"/>
            <a:ext cx="3471005" cy="789623"/>
            <a:chOff x="727710" y="458152"/>
            <a:chExt cx="3471005" cy="789623"/>
          </a:xfrm>
        </p:grpSpPr>
        <p:sp>
          <p:nvSpPr>
            <p:cNvPr id="4" name="TextBox 4"/>
            <p:cNvSpPr txBox="1"/>
            <p:nvPr/>
          </p:nvSpPr>
          <p:spPr>
            <a:xfrm>
              <a:off x="748665" y="458152"/>
              <a:ext cx="10417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04 · FIRST STEP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7710" y="699135"/>
              <a:ext cx="347100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上板第一步：找感觉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1811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rgbClr val="FF8A3D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992517" y="474345"/>
            <a:ext cx="4489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页 4 / 7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746760" y="1584960"/>
            <a:ext cx="6111240" cy="3215640"/>
            <a:chOff x="746760" y="1584960"/>
            <a:chExt cx="6111240" cy="3215640"/>
          </a:xfrm>
        </p:grpSpPr>
        <p:sp>
          <p:nvSpPr>
            <p:cNvPr id="9" name="TextBox 9"/>
            <p:cNvSpPr txBox="1"/>
            <p:nvPr/>
          </p:nvSpPr>
          <p:spPr>
            <a:xfrm>
              <a:off x="746760" y="1584960"/>
              <a:ext cx="17274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三个动作让板"认识你"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762000" y="1847850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28575">
              <a:solidFill>
                <a:srgbClr val="FF8A3D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62000" y="2286000"/>
              <a:ext cx="6096000" cy="771525"/>
              <a:chOff x="762000" y="2286000"/>
              <a:chExt cx="6096000" cy="771525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762000" y="2286000"/>
                <a:ext cx="609600" cy="6096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74631" y="2491740"/>
                <a:ext cx="1843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43050" y="233362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把板平放在地上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547812" y="2640806"/>
                <a:ext cx="2578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双脚踩在两块板面中间，脚与肩同宽。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762000" y="3048000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14288">
                <a:solidFill>
                  <a:srgbClr val="E4E8EE"/>
                </a:solidFill>
                <a:custDash>
                  <a:ds d="133333" sp="266666"/>
                </a:custDash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3238500"/>
              <a:ext cx="6096000" cy="771525"/>
              <a:chOff x="762000" y="3238500"/>
              <a:chExt cx="6096000" cy="771525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762000" y="3238500"/>
                <a:ext cx="609600" cy="609600"/>
              </a:xfrm>
              <a:prstGeom prst="ellipse">
                <a:avLst/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974631" y="3444240"/>
                <a:ext cx="1843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43050" y="328612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不要急着滑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547812" y="3593306"/>
                <a:ext cx="2578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先试着左右轻轻晃动，让板面熟悉你。</a:t>
                </a: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762000" y="4000500"/>
                <a:ext cx="609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9525">
                    <a:moveTo>
                      <a:pt x="0" y="0"/>
                    </a:moveTo>
                    <a:lnTo>
                      <a:pt x="6096000" y="0"/>
                    </a:lnTo>
                  </a:path>
                </a:pathLst>
              </a:custGeom>
              <a:noFill/>
              <a:ln w="14288">
                <a:solidFill>
                  <a:srgbClr val="E4E8EE"/>
                </a:solidFill>
                <a:custDash>
                  <a:ds d="133333" sp="266666"/>
                </a:custDash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762000" y="4191000"/>
              <a:ext cx="4219813" cy="609600"/>
              <a:chOff x="762000" y="4191000"/>
              <a:chExt cx="4219813" cy="609600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762000" y="4191000"/>
                <a:ext cx="609600" cy="609600"/>
              </a:xfrm>
              <a:prstGeom prst="ellipse">
                <a:avLst/>
              </a:prstGeom>
              <a:solidFill>
                <a:srgbClr val="4FB7B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974631" y="4396740"/>
                <a:ext cx="184337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543050" y="423862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体会连锁反应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547812" y="4545806"/>
                <a:ext cx="34340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一板压下去，另一板抬起 —— 这就是漂移板的灵魂。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7810500" y="1714500"/>
            <a:ext cx="3619500" cy="3619500"/>
            <a:chOff x="7810500" y="1714500"/>
            <a:chExt cx="3619500" cy="3619500"/>
          </a:xfrm>
        </p:grpSpPr>
        <p:sp>
          <p:nvSpPr>
            <p:cNvPr id="29" name="Rectangle 29"/>
            <p:cNvSpPr/>
            <p:nvPr/>
          </p:nvSpPr>
          <p:spPr>
            <a:xfrm>
              <a:off x="7810500" y="1714500"/>
              <a:ext cx="3619500" cy="3619500"/>
            </a:xfrm>
            <a:prstGeom prst="roundRect">
              <a:avLst>
                <a:gd name="adj" fmla="val 6316"/>
              </a:avLst>
            </a:prstGeom>
            <a:solidFill>
              <a:srgbClr val="1F4E79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191500" y="2228850"/>
              <a:ext cx="2667000" cy="390525"/>
              <a:chOff x="8191500" y="2228850"/>
              <a:chExt cx="2667000" cy="3905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191500" y="2286000"/>
                <a:ext cx="11430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9334500" y="22288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9334500" y="23050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9334500" y="23812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4" name="Line 34"/>
              <p:cNvSpPr/>
              <p:nvPr/>
            </p:nvSpPr>
            <p:spPr>
              <a:xfrm>
                <a:off x="9334500" y="24574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9334500" y="25336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6" name="Line 36"/>
              <p:cNvSpPr/>
              <p:nvPr/>
            </p:nvSpPr>
            <p:spPr>
              <a:xfrm>
                <a:off x="9334500" y="260985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9715500" y="2286000"/>
                <a:ext cx="1143000" cy="304800"/>
              </a:xfrm>
              <a:prstGeom prst="roundRect">
                <a:avLst>
                  <a:gd name="adj" fmla="val 18750"/>
                </a:avLst>
              </a:prstGeom>
              <a:solidFill>
                <a:srgbClr val="4FB7B3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635174" y="3101340"/>
              <a:ext cx="197015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30~60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44902" y="3794760"/>
              <a:ext cx="17506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8A3D"/>
                  </a:solidFill>
                  <a:latin typeface="Arial"/>
                  <a:ea typeface="Microsoft YaHei"/>
                  <a:cs typeface="Arial"/>
                </a:rPr>
                <a:t>MIN · 这段时间完全正常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382000" y="41910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9050">
              <a:solidFill>
                <a:srgbClr val="FF8A3D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268968" y="44043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不要嫌慢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06828" y="46872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8C5E5"/>
                  </a:solidFill>
                  <a:latin typeface="Arial"/>
                  <a:ea typeface="Microsoft YaHei"/>
                  <a:cs typeface="Arial"/>
                </a:rPr>
                <a:t>每位高手都从这里起步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16854" y="48968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A8C5E5"/>
                  </a:solidFill>
                  <a:latin typeface="Arial"/>
                  <a:ea typeface="Microsoft YaHei"/>
                  <a:cs typeface="Arial"/>
                </a:rPr>
                <a:t>慢慢来，比较快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582150" y="5219700"/>
              <a:ext cx="76200" cy="76200"/>
            </a:xfrm>
            <a:prstGeom prst="ellipse">
              <a:avLst/>
            </a:prstGeom>
            <a:solidFill>
              <a:srgbClr val="FF8A3D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762000" y="5905500"/>
            <a:ext cx="6096000" cy="476250"/>
            <a:chOff x="762000" y="5905500"/>
            <a:chExt cx="6096000" cy="476250"/>
          </a:xfrm>
        </p:grpSpPr>
        <p:sp>
          <p:nvSpPr>
            <p:cNvPr id="47" name="Rectangle 47"/>
            <p:cNvSpPr/>
            <p:nvPr/>
          </p:nvSpPr>
          <p:spPr>
            <a:xfrm>
              <a:off x="762000" y="5905500"/>
              <a:ext cx="6096000" cy="476250"/>
            </a:xfrm>
            <a:prstGeom prst="roundRect">
              <a:avLst>
                <a:gd name="adj" fmla="val 24000"/>
              </a:avLst>
            </a:prstGeom>
            <a:solidFill>
              <a:srgbClr val="F6F8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952500" y="6048375"/>
              <a:ext cx="190500" cy="235744"/>
              <a:chOff x="952500" y="6048375"/>
              <a:chExt cx="190500" cy="235744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952500" y="6048375"/>
                <a:ext cx="190500" cy="190500"/>
              </a:xfrm>
              <a:prstGeom prst="ellipse">
                <a:avLst/>
              </a:prstGeom>
              <a:solidFill>
                <a:srgbClr val="4FB7B3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97825" y="6085999"/>
                <a:ext cx="9984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✓</a:t>
                </a:r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1320165" y="6096952"/>
              <a:ext cx="35061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温馨提示：穿上护腕，找块地毯 —— 现在就开始第 1 步。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751522" y="6521291"/>
            <a:ext cx="8790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漂移板入门 · P04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8A3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27710" y="458152"/>
            <a:ext cx="4094783" cy="789623"/>
            <a:chOff x="727710" y="458152"/>
            <a:chExt cx="4094783" cy="789623"/>
          </a:xfrm>
        </p:grpSpPr>
        <p:sp>
          <p:nvSpPr>
            <p:cNvPr id="4" name="TextBox 4"/>
            <p:cNvSpPr txBox="1"/>
            <p:nvPr/>
          </p:nvSpPr>
          <p:spPr>
            <a:xfrm>
              <a:off x="748665" y="458152"/>
              <a:ext cx="10838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05 · CORE MOVE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7710" y="699135"/>
              <a:ext cx="4094783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核心动作：双脚画"8"字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1811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rgbClr val="FF8A3D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992517" y="474345"/>
            <a:ext cx="4489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页 5 / 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855" y="1473518"/>
            <a:ext cx="32116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漂移板的灵魂：让两只脚交替画"8"字。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4191000" y="2286000"/>
            <a:ext cx="3810000" cy="2690812"/>
            <a:chOff x="4191000" y="2286000"/>
            <a:chExt cx="3810000" cy="2690812"/>
          </a:xfrm>
        </p:grpSpPr>
        <p:sp>
          <p:nvSpPr>
            <p:cNvPr id="10" name="Rectangle 10"/>
            <p:cNvSpPr/>
            <p:nvPr/>
          </p:nvSpPr>
          <p:spPr>
            <a:xfrm>
              <a:off x="4191000" y="2286000"/>
              <a:ext cx="3810000" cy="1905000"/>
            </a:xfrm>
            <a:prstGeom prst="roundRect">
              <a:avLst>
                <a:gd name="adj" fmla="val 10000"/>
              </a:avLst>
            </a:prstGeom>
            <a:solidFill>
              <a:srgbClr val="F6F8F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4381500" y="2667000"/>
              <a:ext cx="1524000" cy="1143000"/>
            </a:xfrm>
            <a:prstGeom prst="roundRect">
              <a:avLst>
                <a:gd name="adj" fmla="val 11667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286500" y="2667000"/>
              <a:ext cx="1524000" cy="1143000"/>
            </a:xfrm>
            <a:prstGeom prst="roundRect">
              <a:avLst>
                <a:gd name="adj" fmla="val 11667"/>
              </a:avLst>
            </a:prstGeom>
            <a:solidFill>
              <a:srgbClr val="FF8A3D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5905500" y="2762250"/>
              <a:ext cx="190500" cy="857250"/>
            </a:xfrm>
            <a:custGeom>
              <a:avLst/>
              <a:gdLst/>
              <a:ahLst/>
              <a:cxnLst/>
              <a:rect l="l" t="t" r="r" b="b"/>
              <a:pathLst>
                <a:path w="190500" h="857250">
                  <a:moveTo>
                    <a:pt x="0" y="0"/>
                  </a:moveTo>
                  <a:lnTo>
                    <a:pt x="190500" y="0"/>
                  </a:lnTo>
                  <a:moveTo>
                    <a:pt x="0" y="95250"/>
                  </a:moveTo>
                  <a:lnTo>
                    <a:pt x="190500" y="95250"/>
                  </a:lnTo>
                  <a:moveTo>
                    <a:pt x="0" y="190500"/>
                  </a:moveTo>
                  <a:lnTo>
                    <a:pt x="190500" y="190500"/>
                  </a:lnTo>
                  <a:moveTo>
                    <a:pt x="0" y="285750"/>
                  </a:moveTo>
                  <a:lnTo>
                    <a:pt x="190500" y="285750"/>
                  </a:lnTo>
                  <a:moveTo>
                    <a:pt x="0" y="381000"/>
                  </a:moveTo>
                  <a:lnTo>
                    <a:pt x="190500" y="381000"/>
                  </a:lnTo>
                  <a:moveTo>
                    <a:pt x="0" y="476250"/>
                  </a:moveTo>
                  <a:lnTo>
                    <a:pt x="190500" y="476250"/>
                  </a:lnTo>
                  <a:moveTo>
                    <a:pt x="0" y="571500"/>
                  </a:moveTo>
                  <a:lnTo>
                    <a:pt x="190500" y="571500"/>
                  </a:lnTo>
                  <a:moveTo>
                    <a:pt x="0" y="666750"/>
                  </a:moveTo>
                  <a:lnTo>
                    <a:pt x="190500" y="666750"/>
                  </a:lnTo>
                  <a:moveTo>
                    <a:pt x="0" y="762000"/>
                  </a:moveTo>
                  <a:lnTo>
                    <a:pt x="190500" y="762000"/>
                  </a:lnTo>
                  <a:moveTo>
                    <a:pt x="0" y="857250"/>
                  </a:moveTo>
                  <a:lnTo>
                    <a:pt x="190500" y="857250"/>
                  </a:lnTo>
                </a:path>
              </a:pathLst>
            </a:custGeom>
            <a:noFill/>
            <a:ln w="19050" cap="rnd">
              <a:solidFill>
                <a:srgbClr val="5C6470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4838700" y="3238500"/>
              <a:ext cx="800100" cy="704850"/>
              <a:chOff x="4838700" y="3238500"/>
              <a:chExt cx="800100" cy="704850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4838700" y="3238500"/>
                <a:ext cx="800100" cy="381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4953000" y="3238500"/>
                <a:ext cx="571500" cy="285750"/>
              </a:xfrm>
              <a:prstGeom prst="roundRect">
                <a:avLst>
                  <a:gd name="adj" fmla="val 33333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5181600" y="3324225"/>
                <a:ext cx="114300" cy="114300"/>
              </a:xfrm>
              <a:prstGeom prst="ellipse">
                <a:avLst/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101304" y="3760470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F4E79"/>
                    </a:solidFill>
                    <a:latin typeface="Arial"/>
                    <a:ea typeface="Microsoft YaHei"/>
                    <a:cs typeface="Arial"/>
                  </a:rPr>
                  <a:t>前脚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553200" y="3238500"/>
              <a:ext cx="800100" cy="704850"/>
              <a:chOff x="6553200" y="3238500"/>
              <a:chExt cx="800100" cy="704850"/>
            </a:xfrm>
          </p:grpSpPr>
          <p:sp>
            <p:nvSpPr>
              <p:cNvPr id="19" name="Ellipse 19"/>
              <p:cNvSpPr/>
              <p:nvPr/>
            </p:nvSpPr>
            <p:spPr>
              <a:xfrm>
                <a:off x="6553200" y="3238500"/>
                <a:ext cx="800100" cy="381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667500" y="3238500"/>
                <a:ext cx="571500" cy="285750"/>
              </a:xfrm>
              <a:prstGeom prst="roundRect">
                <a:avLst>
                  <a:gd name="adj" fmla="val 33333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6896100" y="3324225"/>
                <a:ext cx="114300" cy="114300"/>
              </a:xfrm>
              <a:prstGeom prst="ellipse">
                <a:avLst/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815804" y="3760470"/>
                <a:ext cx="274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8A3D"/>
                    </a:solidFill>
                    <a:latin typeface="Arial"/>
                    <a:ea typeface="Microsoft YaHei"/>
                    <a:cs typeface="Arial"/>
                  </a:rPr>
                  <a:t>后脚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4953000" y="40005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381000" y="571500"/>
                  </a:moveTo>
                  <a:cubicBezTo>
                    <a:pt x="0" y="190500"/>
                    <a:pt x="0" y="0"/>
                    <a:pt x="381000" y="0"/>
                  </a:cubicBezTo>
                  <a:cubicBezTo>
                    <a:pt x="762000" y="0"/>
                    <a:pt x="762000" y="190500"/>
                    <a:pt x="381000" y="381000"/>
                  </a:cubicBezTo>
                  <a:cubicBezTo>
                    <a:pt x="0" y="571500"/>
                    <a:pt x="0" y="762000"/>
                    <a:pt x="381000" y="762000"/>
                  </a:cubicBezTo>
                  <a:cubicBezTo>
                    <a:pt x="762000" y="762000"/>
                    <a:pt x="762000" y="571500"/>
                    <a:pt x="381000" y="571500"/>
                  </a:cubicBezTo>
                  <a:close/>
                </a:path>
              </a:pathLst>
            </a:custGeom>
            <a:noFill/>
            <a:ln w="28575" cap="rnd">
              <a:solidFill>
                <a:srgbClr val="FF8A3D"/>
              </a:solidFill>
              <a:custDash>
                <a:ds d="200000" sp="133333"/>
              </a:custDash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82665" y="4763452"/>
              <a:ext cx="10043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8A3D"/>
                  </a:solidFill>
                  <a:latin typeface="Arial"/>
                  <a:ea typeface="Microsoft YaHei"/>
                  <a:cs typeface="Arial"/>
                </a:rPr>
                <a:t>脚底"8"字轨迹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143500"/>
            <a:ext cx="10668000" cy="1143000"/>
            <a:chOff x="762000" y="5143500"/>
            <a:chExt cx="10668000" cy="1143000"/>
          </a:xfrm>
        </p:grpSpPr>
        <p:grpSp>
          <p:nvGrpSpPr>
            <p:cNvPr id="35" name="Group 35"/>
            <p:cNvGrpSpPr/>
            <p:nvPr/>
          </p:nvGrpSpPr>
          <p:grpSpPr>
            <a:xfrm>
              <a:off x="762000" y="5143500"/>
              <a:ext cx="3295650" cy="1143000"/>
              <a:chOff x="762000" y="5143500"/>
              <a:chExt cx="3295650" cy="11430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762000" y="5143500"/>
                <a:ext cx="32956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4288">
                <a:solidFill>
                  <a:srgbClr val="1F4E79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62000" y="5143500"/>
                <a:ext cx="5715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990600" y="5372100"/>
                <a:ext cx="381000" cy="409575"/>
                <a:chOff x="990600" y="5372100"/>
                <a:chExt cx="381000" cy="409575"/>
              </a:xfrm>
            </p:grpSpPr>
            <p:sp>
              <p:nvSpPr>
                <p:cNvPr id="29" name="Ellipse 29"/>
                <p:cNvSpPr/>
                <p:nvPr/>
              </p:nvSpPr>
              <p:spPr>
                <a:xfrm>
                  <a:off x="990600" y="5372100"/>
                  <a:ext cx="381000" cy="381000"/>
                </a:xfrm>
                <a:prstGeom prst="ellipse">
                  <a:avLst/>
                </a:prstGeom>
                <a:solidFill>
                  <a:srgbClr val="E5EDF5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057037" y="5476875"/>
                  <a:ext cx="248126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1F4E79"/>
                      </a:solidFill>
                      <a:latin typeface="Arial"/>
                      <a:ea typeface="Microsoft YaHei"/>
                      <a:cs typeface="Arial"/>
                    </a:rPr>
                    <a:t>前</a:t>
                  </a:r>
                </a:p>
              </p:txBody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506855" y="5397818"/>
                <a:ext cx="119678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前脚 · 控方向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510665" y="56778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前脚掌控制方向，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510665" y="58683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脚尖、脚跟切换。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4438650" y="5143500"/>
              <a:ext cx="3295650" cy="1143000"/>
              <a:chOff x="4438650" y="5143500"/>
              <a:chExt cx="3295650" cy="11430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4438650" y="5143500"/>
                <a:ext cx="329565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4288">
                <a:solidFill>
                  <a:srgbClr val="FF8A3D"/>
                </a:solidFill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4438650" y="5143500"/>
                <a:ext cx="5715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4667250" y="5372100"/>
                <a:ext cx="381000" cy="409575"/>
                <a:chOff x="4667250" y="5372100"/>
                <a:chExt cx="381000" cy="409575"/>
              </a:xfrm>
            </p:grpSpPr>
            <p:sp>
              <p:nvSpPr>
                <p:cNvPr id="38" name="Ellipse 38"/>
                <p:cNvSpPr/>
                <p:nvPr/>
              </p:nvSpPr>
              <p:spPr>
                <a:xfrm>
                  <a:off x="4667250" y="5372100"/>
                  <a:ext cx="381000" cy="381000"/>
                </a:xfrm>
                <a:prstGeom prst="ellipse">
                  <a:avLst/>
                </a:prstGeom>
                <a:solidFill>
                  <a:srgbClr val="FFEFE2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4733687" y="5476875"/>
                  <a:ext cx="248126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FF8A3D"/>
                      </a:solidFill>
                      <a:latin typeface="Arial"/>
                      <a:ea typeface="Microsoft YaHei"/>
                      <a:cs typeface="Arial"/>
                    </a:rPr>
                    <a:t>后</a:t>
                  </a:r>
                </a:p>
              </p:txBody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5183505" y="539781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后脚 · 支点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187315" y="56778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作为支点，靠脚踝力量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187315" y="586835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抬起、落下。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8115300" y="5143500"/>
              <a:ext cx="3314700" cy="1143000"/>
              <a:chOff x="8115300" y="5143500"/>
              <a:chExt cx="3314700" cy="1143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8115300" y="5143500"/>
                <a:ext cx="3314700" cy="11430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14288">
                <a:solidFill>
                  <a:srgbClr val="4FB7B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8115300" y="5143500"/>
                <a:ext cx="57150" cy="1143000"/>
              </a:xfrm>
              <a:prstGeom prst="roundRect">
                <a:avLst>
                  <a:gd name="adj" fmla="val 50000"/>
                </a:avLst>
              </a:prstGeom>
              <a:solidFill>
                <a:srgbClr val="4FB7B3"/>
              </a:solidFill>
              <a:ln>
                <a:noFill/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8343900" y="5372100"/>
                <a:ext cx="381000" cy="409575"/>
                <a:chOff x="8343900" y="5372100"/>
                <a:chExt cx="381000" cy="409575"/>
              </a:xfrm>
            </p:grpSpPr>
            <p:sp>
              <p:nvSpPr>
                <p:cNvPr id="47" name="Ellipse 47"/>
                <p:cNvSpPr/>
                <p:nvPr/>
              </p:nvSpPr>
              <p:spPr>
                <a:xfrm>
                  <a:off x="8343900" y="5372100"/>
                  <a:ext cx="381000" cy="381000"/>
                </a:xfrm>
                <a:prstGeom prst="ellipse">
                  <a:avLst/>
                </a:prstGeom>
                <a:solidFill>
                  <a:srgbClr val="E6F4F2"/>
                </a:solidFill>
                <a:ln>
                  <a:noFill/>
                </a:ln>
              </p:spPr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8410337" y="5476875"/>
                  <a:ext cx="248126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rgbClr val="4FB7B3"/>
                      </a:solidFill>
                      <a:latin typeface="Arial"/>
                      <a:ea typeface="Microsoft YaHei"/>
                      <a:cs typeface="Arial"/>
                    </a:rPr>
                    <a:t>身</a:t>
                  </a:r>
                </a:p>
              </p:txBody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8860155" y="5397818"/>
                <a:ext cx="138580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身体 · 放松下沉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863965" y="56778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肩膀放松，重心略下沉，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863965" y="586835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像在跳一支小舞。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748665" y="6401752"/>
            <a:ext cx="5409371" cy="213360"/>
            <a:chOff x="748665" y="6401752"/>
            <a:chExt cx="5409371" cy="213360"/>
          </a:xfrm>
        </p:grpSpPr>
        <p:sp>
          <p:nvSpPr>
            <p:cNvPr id="55" name="TextBox 55"/>
            <p:cNvSpPr txBox="1"/>
            <p:nvPr/>
          </p:nvSpPr>
          <p:spPr>
            <a:xfrm>
              <a:off x="748665" y="6401752"/>
              <a:ext cx="3037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想象你在"原地扭扭舞"—— 但脚底永远贴着板面。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512118" y="6409849"/>
              <a:ext cx="645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8A3D"/>
                  </a:solidFill>
                  <a:latin typeface="Arial"/>
                  <a:ea typeface="Microsoft YaHei"/>
                  <a:cs typeface="Arial"/>
                </a:rPr>
                <a:t>#核心动作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751522" y="6521291"/>
            <a:ext cx="8790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漂移板入门 · P05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8A3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27710" y="458152"/>
            <a:ext cx="2336864" cy="789623"/>
            <a:chOff x="727710" y="458152"/>
            <a:chExt cx="2336864" cy="789623"/>
          </a:xfrm>
        </p:grpSpPr>
        <p:sp>
          <p:nvSpPr>
            <p:cNvPr id="4" name="TextBox 4"/>
            <p:cNvSpPr txBox="1"/>
            <p:nvPr/>
          </p:nvSpPr>
          <p:spPr>
            <a:xfrm>
              <a:off x="748665" y="458152"/>
              <a:ext cx="93678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06 · ROADMAP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7710" y="69913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练成路径建议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1811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rgbClr val="FF8A3D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992517" y="474345"/>
            <a:ext cx="4489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页 6 / 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855" y="1473518"/>
            <a:ext cx="27346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按这个顺序练，能少走很多弯路。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62000" y="2000250"/>
            <a:ext cx="10668000" cy="419100"/>
            <a:chOff x="762000" y="2000250"/>
            <a:chExt cx="10668000" cy="419100"/>
          </a:xfrm>
        </p:grpSpPr>
        <p:sp>
          <p:nvSpPr>
            <p:cNvPr id="10" name="Rectangle 10"/>
            <p:cNvSpPr/>
            <p:nvPr/>
          </p:nvSpPr>
          <p:spPr>
            <a:xfrm>
              <a:off x="762000" y="2000250"/>
              <a:ext cx="10668000" cy="419100"/>
            </a:xfrm>
            <a:prstGeom prst="roundRect">
              <a:avLst>
                <a:gd name="adj" fmla="val 22727"/>
              </a:avLst>
            </a:prstGeom>
            <a:solidFill>
              <a:srgbClr val="1F4E7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29665" y="21536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阶段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63165" y="21536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目标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16165" y="21536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预计时间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083165" y="21536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难度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2000" y="2514600"/>
            <a:ext cx="10668000" cy="609600"/>
            <a:chOff x="762000" y="2514600"/>
            <a:chExt cx="10668000" cy="609600"/>
          </a:xfrm>
        </p:grpSpPr>
        <p:sp>
          <p:nvSpPr>
            <p:cNvPr id="16" name="Rectangle 16"/>
            <p:cNvSpPr/>
            <p:nvPr/>
          </p:nvSpPr>
          <p:spPr>
            <a:xfrm>
              <a:off x="762000" y="2514600"/>
              <a:ext cx="106680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E4E8EE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14400" y="2667000"/>
              <a:ext cx="304800" cy="304800"/>
            </a:xfrm>
            <a:prstGeom prst="ellipse">
              <a:avLst/>
            </a:prstGeom>
            <a:solidFill>
              <a:srgbClr val="E5EDF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05354" y="27470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4E79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56360" y="2747010"/>
              <a:ext cx="3665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站稳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62212" y="27551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双脚在板上不晃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15212" y="2755106"/>
              <a:ext cx="5611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1 ~ 2 天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9906000" y="2800350"/>
              <a:ext cx="1104900" cy="133350"/>
              <a:chOff x="9906000" y="2800350"/>
              <a:chExt cx="1104900" cy="1333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9906000" y="28003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4FB7B3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10134600" y="28003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E4E8EE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10363200" y="28003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E4E8EE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10591800" y="28003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E4E8EE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0820400" y="28003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E4E8EE"/>
              </a:solidFill>
              <a:ln>
                <a:noFill/>
              </a:ln>
            </p:spPr>
          </p:sp>
        </p:grpSp>
      </p:grpSp>
      <p:grpSp>
        <p:nvGrpSpPr>
          <p:cNvPr id="41" name="Group 41"/>
          <p:cNvGrpSpPr/>
          <p:nvPr/>
        </p:nvGrpSpPr>
        <p:grpSpPr>
          <a:xfrm>
            <a:off x="762000" y="3200400"/>
            <a:ext cx="10668000" cy="609600"/>
            <a:chOff x="762000" y="3200400"/>
            <a:chExt cx="10668000" cy="609600"/>
          </a:xfrm>
        </p:grpSpPr>
        <p:sp>
          <p:nvSpPr>
            <p:cNvPr id="29" name="Rectangle 29"/>
            <p:cNvSpPr/>
            <p:nvPr/>
          </p:nvSpPr>
          <p:spPr>
            <a:xfrm>
              <a:off x="762000" y="3200400"/>
              <a:ext cx="106680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E4E8EE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14400" y="3352800"/>
              <a:ext cx="304800" cy="304800"/>
            </a:xfrm>
            <a:prstGeom prst="ellipse">
              <a:avLst/>
            </a:prstGeom>
            <a:solidFill>
              <a:srgbClr val="FFEFE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05354" y="34328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8A3D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56360" y="3432810"/>
              <a:ext cx="895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原地画 8 字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62212" y="34409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不前进也能流畅切换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15212" y="3440906"/>
              <a:ext cx="5611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3 ~ 5 天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9906000" y="3486150"/>
              <a:ext cx="1104900" cy="133350"/>
              <a:chOff x="9906000" y="3486150"/>
              <a:chExt cx="1104900" cy="1333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906000" y="34861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10134600" y="34861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10363200" y="34861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E4E8EE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10591800" y="34861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E4E8EE"/>
              </a:solidFill>
              <a:ln>
                <a:noFill/>
              </a:ln>
            </p:spPr>
          </p:sp>
          <p:sp>
            <p:nvSpPr>
              <p:cNvPr id="39" name="Rectangle 39"/>
              <p:cNvSpPr/>
              <p:nvPr/>
            </p:nvSpPr>
            <p:spPr>
              <a:xfrm>
                <a:off x="10820400" y="34861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E4E8EE"/>
              </a:solidFill>
              <a:ln>
                <a:noFill/>
              </a:ln>
            </p:spPr>
          </p:sp>
        </p:grpSp>
      </p:grpSp>
      <p:grpSp>
        <p:nvGrpSpPr>
          <p:cNvPr id="54" name="Group 54"/>
          <p:cNvGrpSpPr/>
          <p:nvPr/>
        </p:nvGrpSpPr>
        <p:grpSpPr>
          <a:xfrm>
            <a:off x="762000" y="3886200"/>
            <a:ext cx="10668000" cy="609600"/>
            <a:chOff x="762000" y="3886200"/>
            <a:chExt cx="10668000" cy="609600"/>
          </a:xfrm>
        </p:grpSpPr>
        <p:sp>
          <p:nvSpPr>
            <p:cNvPr id="42" name="Rectangle 42"/>
            <p:cNvSpPr/>
            <p:nvPr/>
          </p:nvSpPr>
          <p:spPr>
            <a:xfrm>
              <a:off x="762000" y="3886200"/>
              <a:ext cx="106680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E4E8EE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14400" y="4038600"/>
              <a:ext cx="304800" cy="304800"/>
            </a:xfrm>
            <a:prstGeom prst="ellipse">
              <a:avLst/>
            </a:prstGeom>
            <a:solidFill>
              <a:srgbClr val="FFEFE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05354" y="41186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8A3D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356360" y="4118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小幅前进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62212" y="412670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慢速滑动 5 ~ 10 米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15212" y="4126706"/>
              <a:ext cx="5611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1 ~ 2 周</a:t>
              </a: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9906000" y="4171950"/>
              <a:ext cx="1104900" cy="133350"/>
              <a:chOff x="9906000" y="4171950"/>
              <a:chExt cx="1104900" cy="133350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9906000" y="41719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10134600" y="41719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10363200" y="41719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10591800" y="41719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E4E8EE"/>
              </a:solidFill>
              <a:ln>
                <a:noFill/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10820400" y="41719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E4E8EE"/>
              </a:solidFill>
              <a:ln>
                <a:noFill/>
              </a:ln>
            </p:spPr>
          </p:sp>
        </p:grpSp>
      </p:grpSp>
      <p:grpSp>
        <p:nvGrpSpPr>
          <p:cNvPr id="67" name="Group 67"/>
          <p:cNvGrpSpPr/>
          <p:nvPr/>
        </p:nvGrpSpPr>
        <p:grpSpPr>
          <a:xfrm>
            <a:off x="762000" y="4572000"/>
            <a:ext cx="10668000" cy="609600"/>
            <a:chOff x="762000" y="4572000"/>
            <a:chExt cx="10668000" cy="609600"/>
          </a:xfrm>
        </p:grpSpPr>
        <p:sp>
          <p:nvSpPr>
            <p:cNvPr id="55" name="Rectangle 55"/>
            <p:cNvSpPr/>
            <p:nvPr/>
          </p:nvSpPr>
          <p:spPr>
            <a:xfrm>
              <a:off x="762000" y="4572000"/>
              <a:ext cx="106680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E4E8EE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914400" y="4724400"/>
              <a:ext cx="304800" cy="304800"/>
            </a:xfrm>
            <a:prstGeom prst="ellipse">
              <a:avLst/>
            </a:prstGeom>
            <a:solidFill>
              <a:srgbClr val="E6F4F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05354" y="48044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B7B3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356360" y="4804410"/>
              <a:ext cx="895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转向 / 刹车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462212" y="48125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控制方向，紧急停下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15212" y="4812506"/>
              <a:ext cx="5611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2 ~ 4 周</a:t>
              </a:r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9906000" y="4857750"/>
              <a:ext cx="1104900" cy="133350"/>
              <a:chOff x="9906000" y="4857750"/>
              <a:chExt cx="1104900" cy="1333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9906000" y="48577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4FB7B3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10134600" y="48577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4FB7B3"/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10363200" y="48577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4FB7B3"/>
              </a:solidFill>
              <a:ln>
                <a:noFill/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10591800" y="48577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4FB7B3"/>
              </a:solidFill>
              <a:ln>
                <a:noFill/>
              </a:ln>
            </p:spPr>
          </p:sp>
          <p:sp>
            <p:nvSpPr>
              <p:cNvPr id="65" name="Rectangle 65"/>
              <p:cNvSpPr/>
              <p:nvPr/>
            </p:nvSpPr>
            <p:spPr>
              <a:xfrm>
                <a:off x="10820400" y="48577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E4E8EE"/>
              </a:solidFill>
              <a:ln>
                <a:noFill/>
              </a:ln>
            </p:spPr>
          </p:sp>
        </p:grpSp>
      </p:grpSp>
      <p:grpSp>
        <p:nvGrpSpPr>
          <p:cNvPr id="80" name="Group 80"/>
          <p:cNvGrpSpPr/>
          <p:nvPr/>
        </p:nvGrpSpPr>
        <p:grpSpPr>
          <a:xfrm>
            <a:off x="762000" y="5257800"/>
            <a:ext cx="10668000" cy="609600"/>
            <a:chOff x="762000" y="5257800"/>
            <a:chExt cx="10668000" cy="609600"/>
          </a:xfrm>
        </p:grpSpPr>
        <p:sp>
          <p:nvSpPr>
            <p:cNvPr id="68" name="Rectangle 68"/>
            <p:cNvSpPr/>
            <p:nvPr/>
          </p:nvSpPr>
          <p:spPr>
            <a:xfrm>
              <a:off x="762000" y="5257800"/>
              <a:ext cx="106680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 w="14288">
              <a:solidFill>
                <a:srgbClr val="E4E8EE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14400" y="5410200"/>
              <a:ext cx="304800" cy="304800"/>
            </a:xfrm>
            <a:prstGeom prst="ellipse">
              <a:avLst/>
            </a:prstGeom>
            <a:solidFill>
              <a:srgbClr val="E6F4F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05354" y="549021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4FB7B3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356360" y="54902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组合动作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462212" y="5498306"/>
              <a:ext cx="14237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连续 S 弯 / 简单花式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15212" y="5498306"/>
              <a:ext cx="7111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1 ~ 2 个月</a:t>
              </a:r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9906000" y="5543550"/>
              <a:ext cx="1104900" cy="133350"/>
              <a:chOff x="9906000" y="5543550"/>
              <a:chExt cx="1104900" cy="13335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9906000" y="55435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10134600" y="55435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10363200" y="55435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77" name="Rectangle 77"/>
              <p:cNvSpPr/>
              <p:nvPr/>
            </p:nvSpPr>
            <p:spPr>
              <a:xfrm>
                <a:off x="10591800" y="55435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10820400" y="5543550"/>
                <a:ext cx="190500" cy="133350"/>
              </a:xfrm>
              <a:prstGeom prst="roundRect">
                <a:avLst>
                  <a:gd name="adj" fmla="val 21429"/>
                </a:avLst>
              </a:prstGeom>
              <a:solidFill>
                <a:srgbClr val="1F4E79"/>
              </a:solidFill>
              <a:ln>
                <a:noFill/>
              </a:ln>
            </p:spPr>
          </p:sp>
        </p:grpSp>
      </p:grpSp>
      <p:grpSp>
        <p:nvGrpSpPr>
          <p:cNvPr id="86" name="Group 86"/>
          <p:cNvGrpSpPr/>
          <p:nvPr/>
        </p:nvGrpSpPr>
        <p:grpSpPr>
          <a:xfrm>
            <a:off x="762000" y="6000750"/>
            <a:ext cx="10668000" cy="457200"/>
            <a:chOff x="762000" y="6000750"/>
            <a:chExt cx="10668000" cy="457200"/>
          </a:xfrm>
        </p:grpSpPr>
        <p:sp>
          <p:nvSpPr>
            <p:cNvPr id="81" name="Rectangle 81"/>
            <p:cNvSpPr/>
            <p:nvPr/>
          </p:nvSpPr>
          <p:spPr>
            <a:xfrm>
              <a:off x="762000" y="6000750"/>
              <a:ext cx="10668000" cy="457200"/>
            </a:xfrm>
            <a:prstGeom prst="roundRect">
              <a:avLst>
                <a:gd name="adj" fmla="val 25000"/>
              </a:avLst>
            </a:prstGeom>
            <a:solidFill>
              <a:srgbClr val="FFF6EE"/>
            </a:solidFill>
            <a:ln w="14288">
              <a:solidFill>
                <a:srgbClr val="FF8A3D"/>
              </a:solidFill>
            </a:ln>
          </p:spPr>
        </p:sp>
        <p:grpSp>
          <p:nvGrpSpPr>
            <p:cNvPr id="84" name="Group 84"/>
            <p:cNvGrpSpPr/>
            <p:nvPr/>
          </p:nvGrpSpPr>
          <p:grpSpPr>
            <a:xfrm>
              <a:off x="952500" y="6115050"/>
              <a:ext cx="228600" cy="261938"/>
              <a:chOff x="952500" y="6115050"/>
              <a:chExt cx="228600" cy="261938"/>
            </a:xfrm>
          </p:grpSpPr>
          <p:sp>
            <p:nvSpPr>
              <p:cNvPr id="82" name="Ellipse 82"/>
              <p:cNvSpPr/>
              <p:nvPr/>
            </p:nvSpPr>
            <p:spPr>
              <a:xfrm>
                <a:off x="952500" y="6115050"/>
                <a:ext cx="228600" cy="228600"/>
              </a:xfrm>
              <a:prstGeom prst="ellipse">
                <a:avLst/>
              </a:pr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1013035" y="61636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♥</a:t>
                </a:r>
              </a:p>
            </p:txBody>
          </p:sp>
        </p:grpSp>
        <p:sp>
          <p:nvSpPr>
            <p:cNvPr id="85" name="TextBox 85"/>
            <p:cNvSpPr txBox="1"/>
            <p:nvPr/>
          </p:nvSpPr>
          <p:spPr>
            <a:xfrm>
              <a:off x="1282065" y="6173152"/>
              <a:ext cx="40451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 xml:space="preserve">每个人进度不同 —— </a:t>
              </a:r>
              <a:r>
                <a:rPr lang="zh-CN" sz="1050" b="1" dirty="0">
                  <a:solidFill>
                    <a:srgbClr val="FF8A3D"/>
                  </a:solidFill>
                  <a:latin typeface="Arial"/>
                  <a:ea typeface="Microsoft YaHei"/>
                  <a:cs typeface="Arial"/>
                </a:rPr>
                <a:t>不要和别人比进度</a:t>
              </a:r>
              <a:r>
                <a:rPr lang="zh-CN" sz="1050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，享受上板的乐趣最重要。</a:t>
              </a:r>
            </a:p>
          </p:txBody>
        </p:sp>
      </p:grpSp>
      <p:sp>
        <p:nvSpPr>
          <p:cNvPr id="87" name="TextBox 87"/>
          <p:cNvSpPr txBox="1"/>
          <p:nvPr/>
        </p:nvSpPr>
        <p:spPr>
          <a:xfrm>
            <a:off x="751522" y="6521291"/>
            <a:ext cx="8790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漂移板入门 · P06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F8A3D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727710" y="458152"/>
            <a:ext cx="3905760" cy="789623"/>
            <a:chOff x="727710" y="458152"/>
            <a:chExt cx="3905760" cy="789623"/>
          </a:xfrm>
        </p:grpSpPr>
        <p:sp>
          <p:nvSpPr>
            <p:cNvPr id="4" name="TextBox 4"/>
            <p:cNvSpPr txBox="1"/>
            <p:nvPr/>
          </p:nvSpPr>
          <p:spPr>
            <a:xfrm>
              <a:off x="748665" y="458152"/>
              <a:ext cx="13918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C6470"/>
                  </a:solidFill>
                  <a:latin typeface="Arial"/>
                  <a:ea typeface="Microsoft YaHei"/>
                  <a:cs typeface="Arial"/>
                </a:rPr>
                <a:t>07 · SAFETY · FINALE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7710" y="699135"/>
              <a:ext cx="390576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D1D1F"/>
                  </a:solidFill>
                  <a:latin typeface="Arial"/>
                  <a:ea typeface="Microsoft YaHei"/>
                  <a:cs typeface="Arial"/>
                </a:rPr>
                <a:t>安全底线 &amp; 一句话收尾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1181100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38100">
              <a:solidFill>
                <a:srgbClr val="FF8A3D"/>
              </a:solidFill>
            </a:ln>
          </p:spPr>
        </p:sp>
      </p:grpSp>
      <p:sp>
        <p:nvSpPr>
          <p:cNvPr id="8" name="TextBox 8"/>
          <p:cNvSpPr txBox="1"/>
          <p:nvPr/>
        </p:nvSpPr>
        <p:spPr>
          <a:xfrm>
            <a:off x="10992517" y="474345"/>
            <a:ext cx="4489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页 7 / 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4855" y="1378268"/>
            <a:ext cx="26266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C6470"/>
                </a:solidFill>
                <a:latin typeface="Arial"/>
                <a:ea typeface="Microsoft YaHei"/>
                <a:cs typeface="Arial"/>
              </a:rPr>
              <a:t>无论水平多高，请记住这三条 ——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762000" y="1905000"/>
            <a:ext cx="10668000" cy="2286000"/>
            <a:chOff x="762000" y="1905000"/>
            <a:chExt cx="10668000" cy="2286000"/>
          </a:xfrm>
        </p:grpSpPr>
        <p:grpSp>
          <p:nvGrpSpPr>
            <p:cNvPr id="19" name="Group 19"/>
            <p:cNvGrpSpPr/>
            <p:nvPr/>
          </p:nvGrpSpPr>
          <p:grpSpPr>
            <a:xfrm>
              <a:off x="762000" y="1905000"/>
              <a:ext cx="3505200" cy="2286000"/>
              <a:chOff x="762000" y="1905000"/>
              <a:chExt cx="3505200" cy="2286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1905000"/>
                <a:ext cx="3505200" cy="2286000"/>
              </a:xfrm>
              <a:prstGeom prst="roundRect">
                <a:avLst>
                  <a:gd name="adj" fmla="val 8333"/>
                </a:avLst>
              </a:prstGeom>
              <a:solidFill>
                <a:srgbClr val="1F4E79"/>
              </a:solidFill>
              <a:ln>
                <a:noFill/>
              </a:ln>
            </p:spPr>
          </p:sp>
          <p:grpSp>
            <p:nvGrpSpPr>
              <p:cNvPr id="13" name="Group 13"/>
              <p:cNvGrpSpPr/>
              <p:nvPr/>
            </p:nvGrpSpPr>
            <p:grpSpPr>
              <a:xfrm>
                <a:off x="1028700" y="2171700"/>
                <a:ext cx="533400" cy="590550"/>
                <a:chOff x="1028700" y="2171700"/>
                <a:chExt cx="533400" cy="590550"/>
              </a:xfrm>
            </p:grpSpPr>
            <p:sp>
              <p:nvSpPr>
                <p:cNvPr id="11" name="Ellipse 11"/>
                <p:cNvSpPr/>
                <p:nvPr/>
              </p:nvSpPr>
              <p:spPr>
                <a:xfrm>
                  <a:off x="1028700" y="2171700"/>
                  <a:ext cx="533400" cy="533400"/>
                </a:xfrm>
                <a:prstGeom prst="ellipse">
                  <a:avLst/>
                </a:prstGeom>
                <a:solidFill>
                  <a:srgbClr val="FF8A3D"/>
                </a:solidFill>
                <a:ln>
                  <a:noFill/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172508" y="2274570"/>
                  <a:ext cx="245783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400" b="1" dirty="0">
                      <a:solidFill>
                        <a:srgbClr val="FFFFFF"/>
                      </a:solidFill>
                      <a:latin typeface="Arial"/>
                      <a:ea typeface="Microsoft YaHei"/>
                      <a:cs typeface="Arial"/>
                    </a:rPr>
                    <a:t>1</a:t>
                  </a:r>
                </a:p>
              </p:txBody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003935" y="2875598"/>
                <a:ext cx="1141667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不戴耳机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015365" y="32966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8C5E5"/>
                    </a:solidFill>
                    <a:latin typeface="Arial"/>
                    <a:ea typeface="Microsoft YaHei"/>
                    <a:cs typeface="Arial"/>
                  </a:rPr>
                  <a:t>必须能听到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15365" y="34871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A8C5E5"/>
                    </a:solidFill>
                    <a:latin typeface="Arial"/>
                    <a:ea typeface="Microsoft YaHei"/>
                    <a:cs typeface="Arial"/>
                  </a:rPr>
                  <a:t>周围的声音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1028700" y="3771900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FF8A3D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16318" y="3895249"/>
                <a:ext cx="19945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8A3D"/>
                    </a:solidFill>
                    <a:latin typeface="Arial"/>
                    <a:ea typeface="Microsoft YaHei"/>
                    <a:cs typeface="Arial"/>
                  </a:rPr>
                  <a:t>周围有车 / 人靠近，第一时间反应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438650" y="1905000"/>
              <a:ext cx="3505200" cy="2286000"/>
              <a:chOff x="4438650" y="1905000"/>
              <a:chExt cx="3505200" cy="2286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438650" y="1905000"/>
                <a:ext cx="3505200" cy="2286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4E8EE"/>
                </a:solidFill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4705350" y="2171700"/>
                <a:ext cx="533400" cy="590550"/>
                <a:chOff x="4705350" y="2171700"/>
                <a:chExt cx="533400" cy="590550"/>
              </a:xfrm>
            </p:grpSpPr>
            <p:sp>
              <p:nvSpPr>
                <p:cNvPr id="21" name="Ellipse 21"/>
                <p:cNvSpPr/>
                <p:nvPr/>
              </p:nvSpPr>
              <p:spPr>
                <a:xfrm>
                  <a:off x="4705350" y="2171700"/>
                  <a:ext cx="533400" cy="533400"/>
                </a:xfrm>
                <a:prstGeom prst="ellipse">
                  <a:avLst/>
                </a:prstGeom>
                <a:solidFill>
                  <a:srgbClr val="FFEFE2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849158" y="2274570"/>
                  <a:ext cx="245783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400" b="1" dirty="0">
                      <a:solidFill>
                        <a:srgbClr val="FF8A3D"/>
                      </a:solidFill>
                      <a:latin typeface="Arial"/>
                      <a:ea typeface="Microsoft YaHei"/>
                      <a:cs typeface="Arial"/>
                    </a:rPr>
                    <a:t>2</a:t>
                  </a:r>
                </a:p>
              </p:txBody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4680585" y="2875598"/>
                <a:ext cx="196076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不挑人流密集处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92015" y="32966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空旷公园、广场、车库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692015" y="3487102"/>
                <a:ext cx="446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最合适</a:t>
                </a:r>
              </a:p>
            </p:txBody>
          </p:sp>
          <p:sp>
            <p:nvSpPr>
              <p:cNvPr id="27" name="Line 27"/>
              <p:cNvSpPr/>
              <p:nvPr/>
            </p:nvSpPr>
            <p:spPr>
              <a:xfrm>
                <a:off x="4705350" y="3771900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FF8A3D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692968" y="3895249"/>
                <a:ext cx="15849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8A3D"/>
                    </a:solidFill>
                    <a:latin typeface="Arial"/>
                    <a:ea typeface="Microsoft YaHei"/>
                    <a:cs typeface="Arial"/>
                  </a:rPr>
                  <a:t>给他人空间，也给自己安全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115300" y="1905000"/>
              <a:ext cx="3314700" cy="2286000"/>
              <a:chOff x="8115300" y="1905000"/>
              <a:chExt cx="3314700" cy="2286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8115300" y="1905000"/>
                <a:ext cx="3314700" cy="2286000"/>
              </a:xfrm>
              <a:prstGeom prst="roundRect">
                <a:avLst>
                  <a:gd name="adj" fmla="val 8333"/>
                </a:avLst>
              </a:prstGeom>
              <a:solidFill>
                <a:srgbClr val="FFFFFF"/>
              </a:solidFill>
              <a:ln w="14288">
                <a:solidFill>
                  <a:srgbClr val="E4E8EE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8382000" y="2171700"/>
                <a:ext cx="533400" cy="590550"/>
                <a:chOff x="8382000" y="2171700"/>
                <a:chExt cx="533400" cy="590550"/>
              </a:xfrm>
            </p:grpSpPr>
            <p:sp>
              <p:nvSpPr>
                <p:cNvPr id="31" name="Ellipse 31"/>
                <p:cNvSpPr/>
                <p:nvPr/>
              </p:nvSpPr>
              <p:spPr>
                <a:xfrm>
                  <a:off x="8382000" y="2171700"/>
                  <a:ext cx="533400" cy="533400"/>
                </a:xfrm>
                <a:prstGeom prst="ellipse">
                  <a:avLst/>
                </a:prstGeom>
                <a:solidFill>
                  <a:srgbClr val="E6F4F2"/>
                </a:solidFill>
                <a:ln>
                  <a:noFill/>
                </a:ln>
              </p:spPr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8525808" y="2274570"/>
                  <a:ext cx="245783" cy="4876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2400" b="1" dirty="0">
                      <a:solidFill>
                        <a:srgbClr val="4FB7B3"/>
                      </a:solidFill>
                      <a:latin typeface="Arial"/>
                      <a:ea typeface="Microsoft YaHei"/>
                      <a:cs typeface="Arial"/>
                    </a:rPr>
                    <a:t>3</a:t>
                  </a:r>
                </a:p>
              </p:txBody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8357235" y="2875598"/>
                <a:ext cx="1141667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D1D1F"/>
                    </a:solidFill>
                    <a:latin typeface="Arial"/>
                    <a:ea typeface="Microsoft YaHei"/>
                    <a:cs typeface="Arial"/>
                  </a:rPr>
                  <a:t>不疲劳练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68665" y="32966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累了就停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8665" y="3487102"/>
                <a:ext cx="17208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C6470"/>
                    </a:solidFill>
                    <a:latin typeface="Arial"/>
                    <a:ea typeface="Microsoft YaHei"/>
                    <a:cs typeface="Arial"/>
                  </a:rPr>
                  <a:t>受伤往往发生在"再来一组"</a:t>
                </a:r>
              </a:p>
            </p:txBody>
          </p:sp>
          <p:sp>
            <p:nvSpPr>
              <p:cNvPr id="37" name="Line 37"/>
              <p:cNvSpPr/>
              <p:nvPr/>
            </p:nvSpPr>
            <p:spPr>
              <a:xfrm>
                <a:off x="8382000" y="3771900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9525">
                    <a:moveTo>
                      <a:pt x="0" y="0"/>
                    </a:move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4FB7B3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369618" y="38952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FB7B3"/>
                    </a:solidFill>
                    <a:latin typeface="Arial"/>
                    <a:ea typeface="Microsoft YaHei"/>
                    <a:cs typeface="Arial"/>
                  </a:rPr>
                  <a:t>休息是训练的一部分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62000" y="4552950"/>
            <a:ext cx="10668000" cy="1828800"/>
            <a:chOff x="762000" y="4552950"/>
            <a:chExt cx="10668000" cy="1828800"/>
          </a:xfrm>
        </p:grpSpPr>
        <p:sp>
          <p:nvSpPr>
            <p:cNvPr id="41" name="Rectangle 41"/>
            <p:cNvSpPr/>
            <p:nvPr/>
          </p:nvSpPr>
          <p:spPr>
            <a:xfrm>
              <a:off x="762000" y="4572000"/>
              <a:ext cx="10668000" cy="1524000"/>
            </a:xfrm>
            <a:prstGeom prst="roundRect">
              <a:avLst>
                <a:gd name="adj" fmla="val 12500"/>
              </a:avLst>
            </a:prstGeom>
            <a:solidFill>
              <a:srgbClr val="FF8A3D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28700" y="4552950"/>
              <a:ext cx="921687" cy="1828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0" b="1" dirty="0">
                  <a:solidFill>
                    <a:srgbClr val="FFFFFF">
                      <a:alphaMod val="35000"/>
                    </a:srgbClr>
                  </a:solidFill>
                  <a:latin typeface="Georgia"/>
                  <a:ea typeface="SimSun"/>
                  <a:cs typeface="Georgia"/>
                </a:rPr>
                <a:t>"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73073" y="4993005"/>
              <a:ext cx="41698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一旦上板，世界会变得更有趣。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14289" y="5474018"/>
              <a:ext cx="10874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祝早日起飞 🚀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0477500" y="5143500"/>
              <a:ext cx="457200" cy="457200"/>
              <a:chOff x="10477500" y="5143500"/>
              <a:chExt cx="457200" cy="457200"/>
            </a:xfrm>
          </p:grpSpPr>
          <p:sp>
            <p:nvSpPr>
              <p:cNvPr id="45" name="Ellipse 45"/>
              <p:cNvSpPr/>
              <p:nvPr/>
            </p:nvSpPr>
            <p:spPr>
              <a:xfrm>
                <a:off x="10477500" y="5143500"/>
                <a:ext cx="457200" cy="457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610850" y="5219700"/>
                <a:ext cx="1524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9550">
                    <a:moveTo>
                      <a:pt x="76200" y="0"/>
                    </a:moveTo>
                    <a:cubicBezTo>
                      <a:pt x="133350" y="57150"/>
                      <a:pt x="152400" y="114300"/>
                      <a:pt x="152400" y="171450"/>
                    </a:cubicBezTo>
                    <a:lnTo>
                      <a:pt x="114300" y="209550"/>
                    </a:lnTo>
                    <a:lnTo>
                      <a:pt x="76200" y="190500"/>
                    </a:lnTo>
                    <a:lnTo>
                      <a:pt x="38100" y="209550"/>
                    </a:lnTo>
                    <a:lnTo>
                      <a:pt x="0" y="171450"/>
                    </a:lnTo>
                    <a:cubicBezTo>
                      <a:pt x="0" y="114300"/>
                      <a:pt x="19050" y="57150"/>
                      <a:pt x="76200" y="0"/>
                    </a:cubicBezTo>
                    <a:close/>
                    <a:moveTo>
                      <a:pt x="47625" y="152400"/>
                    </a:moveTo>
                    <a:cubicBezTo>
                      <a:pt x="47625" y="168182"/>
                      <a:pt x="60418" y="180975"/>
                      <a:pt x="76200" y="180975"/>
                    </a:cubicBezTo>
                    <a:cubicBezTo>
                      <a:pt x="91982" y="180975"/>
                      <a:pt x="104775" y="168182"/>
                      <a:pt x="104775" y="152400"/>
                    </a:cubicBezTo>
                    <a:cubicBezTo>
                      <a:pt x="104775" y="136618"/>
                      <a:pt x="91982" y="123825"/>
                      <a:pt x="76200" y="123825"/>
                    </a:cubicBezTo>
                    <a:cubicBezTo>
                      <a:pt x="60418" y="123825"/>
                      <a:pt x="47625" y="136618"/>
                      <a:pt x="47625" y="152400"/>
                    </a:cubicBezTo>
                    <a:close/>
                  </a:path>
                </a:pathLst>
              </a:custGeom>
              <a:solidFill>
                <a:srgbClr val="FF8A3D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572750" y="5429250"/>
                <a:ext cx="228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57150">
                    <a:moveTo>
                      <a:pt x="38100" y="0"/>
                    </a:moveTo>
                    <a:lnTo>
                      <a:pt x="0" y="57150"/>
                    </a:lnTo>
                    <a:lnTo>
                      <a:pt x="76200" y="19050"/>
                    </a:lnTo>
                    <a:close/>
                    <a:moveTo>
                      <a:pt x="190500" y="0"/>
                    </a:moveTo>
                    <a:lnTo>
                      <a:pt x="228600" y="57150"/>
                    </a:lnTo>
                    <a:lnTo>
                      <a:pt x="152400" y="19050"/>
                    </a:lnTo>
                    <a:close/>
                  </a:path>
                </a:pathLst>
              </a:custGeom>
              <a:solidFill>
                <a:srgbClr val="FF8A3D"/>
              </a:solidFill>
              <a:ln>
                <a:noFill/>
              </a:ln>
            </p:spPr>
          </p:sp>
        </p:grpSp>
      </p:grpSp>
      <p:grpSp>
        <p:nvGrpSpPr>
          <p:cNvPr id="53" name="Group 53"/>
          <p:cNvGrpSpPr/>
          <p:nvPr/>
        </p:nvGrpSpPr>
        <p:grpSpPr>
          <a:xfrm>
            <a:off x="750570" y="6265545"/>
            <a:ext cx="10690860" cy="182880"/>
            <a:chOff x="750570" y="6265545"/>
            <a:chExt cx="10690860" cy="182880"/>
          </a:xfrm>
        </p:grpSpPr>
        <p:sp>
          <p:nvSpPr>
            <p:cNvPr id="50" name="TextBox 50"/>
            <p:cNvSpPr txBox="1"/>
            <p:nvPr/>
          </p:nvSpPr>
          <p:spPr>
            <a:xfrm>
              <a:off x="750570" y="6265545"/>
              <a:ext cx="9589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漂移板入门 · P07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32050" y="6265545"/>
              <a:ext cx="3469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— 完 —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36460" y="626554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FF8A3D"/>
                  </a:solidFill>
                  <a:latin typeface="Arial"/>
                  <a:ea typeface="Microsoft YaHei"/>
                  <a:cs typeface="Arial"/>
                </a:rPr>
                <a:t>慢慢来，比较快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2026-06-21T06:43:02Z</dcterms:created>
  <dcterms:modified xsi:type="dcterms:W3CDTF">2026-06-21T06:43:02Z</dcterms:modified>
  <cp:category/>
  <cp:contentStatus/>
</cp:coreProperties>
</file>