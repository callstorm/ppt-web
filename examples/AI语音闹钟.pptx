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核心要点：这是一份关于 AI 语音闹钟的方案汇报，目标是把"闹钟"重新定义为"晨间助理"。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时长约 8 分钟，覆盖背景、痛点、解决思路、能力矩阵、指标、路径、风险、对比、价值总结</a:t>
            </a:r>
          </a:p>
          <a:p>
            <a:r>
              <a:rPr lang="zh-CN" dirty="0"/>
              <a:t>• 三个关键词：智能、简洁、可靠</a:t>
            </a:r>
          </a:p>
          <a:p>
            <a:r>
              <a:rPr lang="zh-CN" dirty="0"/>
              <a:t>• 过渡到下一页：先从"传统闹钟的盲点"讲起。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核心要点：传统闹钟在唤醒体验、信息交付、交互方式三个维度存在系统性的不足。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唤醒体验单一：固定铃声、机械循环，无个体感知</a:t>
            </a:r>
          </a:p>
          <a:p>
            <a:r>
              <a:rPr lang="zh-CN" dirty="0"/>
              <a:t>• 信息交付低效：被闹钟打断后用户需多次操作</a:t>
            </a:r>
          </a:p>
          <a:p>
            <a:r>
              <a:rPr lang="zh-CN" dirty="0"/>
              <a:t>• 交互被动：纯按键对视障、老年、通勤人群不友好</a:t>
            </a:r>
          </a:p>
          <a:p>
            <a:r>
              <a:rPr lang="zh-CN" dirty="0"/>
              <a:t>• 过渡到下一页：基于这三个盲点，我们提炼出三大用户痛点。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核心要点：痛点分为"被打断的清晨"、"固定的铃声"、"被动的交互"三类，分别影响情绪、效率与可达性。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一次响铃常常是当日焦虑的开始</a:t>
            </a:r>
          </a:p>
          <a:p>
            <a:r>
              <a:rPr lang="zh-CN" dirty="0"/>
              <a:t>• 长期使用产生听觉疲劳</a:t>
            </a:r>
          </a:p>
          <a:p>
            <a:r>
              <a:rPr lang="zh-CN" dirty="0"/>
              <a:t>• 视障、老年、通勤用户尤其不便</a:t>
            </a:r>
          </a:p>
          <a:p>
            <a:r>
              <a:rPr lang="zh-CN" dirty="0"/>
              <a:t>• 过渡到下一页：对应的，我们提出"听懂、记起、会说"的解决思路。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核心要点：四个能力维度构成完整闭环：听（输入）、懂（推理）、说（输出）、学（记忆）。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听：自然语言 + 多轮上下文</a:t>
            </a:r>
          </a:p>
          <a:p>
            <a:r>
              <a:rPr lang="zh-CN" dirty="0"/>
              <a:t>• 懂：大模型推理，自动规划日程</a:t>
            </a:r>
          </a:p>
          <a:p>
            <a:r>
              <a:rPr lang="zh-CN" dirty="0"/>
              <a:t>• 说：自然 TTS，不依赖屏幕</a:t>
            </a:r>
          </a:p>
          <a:p>
            <a:r>
              <a:rPr lang="zh-CN" dirty="0"/>
              <a:t>• 学：偏好建模 + 节律学习</a:t>
            </a:r>
          </a:p>
          <a:p>
            <a:r>
              <a:rPr lang="zh-CN" dirty="0"/>
              <a:t>• 过渡到下一页：把四个能力映射到 AI 能力矩阵上。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核心要点：以"输入/输出 × 感知/决策"四象限梳理 AI 能力组合，决策推理是核心引擎。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感知输入：ASR、声纹、环境音</a:t>
            </a:r>
          </a:p>
          <a:p>
            <a:r>
              <a:rPr lang="zh-CN" dirty="0"/>
              <a:t>• 决策输出：TTS、多模态、节奏适配</a:t>
            </a:r>
          </a:p>
          <a:p>
            <a:r>
              <a:rPr lang="zh-CN" dirty="0"/>
              <a:t>• 感知记忆：偏好、节律、知识</a:t>
            </a:r>
          </a:p>
          <a:p>
            <a:r>
              <a:rPr lang="zh-CN" dirty="0"/>
              <a:t>• 决策推理：日程、推荐、信息融合</a:t>
            </a:r>
          </a:p>
          <a:p>
            <a:r>
              <a:rPr lang="zh-CN" dirty="0"/>
              <a:t>• 过渡到下一页：对应这些能力，预期达到哪些关键指标？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核心要点：四项核心 KPI 定义 12 周灰度后的目标值，对标行业 Top 10%。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唤醒成功率 ≥ 99%</a:t>
            </a:r>
          </a:p>
          <a:p>
            <a:r>
              <a:rPr lang="zh-CN" dirty="0"/>
              <a:t>• 一次任务完成率 ≥ 85%</a:t>
            </a:r>
          </a:p>
          <a:p>
            <a:r>
              <a:rPr lang="zh-CN" dirty="0"/>
              <a:t>• 平均交互轮次 ≤ 1.8</a:t>
            </a:r>
          </a:p>
          <a:p>
            <a:r>
              <a:rPr lang="zh-CN" dirty="0"/>
              <a:t>• 次日留存 ≥ 70%</a:t>
            </a:r>
          </a:p>
          <a:p>
            <a:r>
              <a:rPr lang="zh-CN" dirty="0"/>
              <a:t>• 过渡到下一页：那么怎么把方案落地？我们给出 12 周实施路径。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核心要点：四阶段并行交付、阶段评审滚动推进。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W1–W3 能力搭建：ASR/TTS、基础对话、唤醒词工程，里程碑 Demo 0.1</a:t>
            </a:r>
          </a:p>
          <a:p>
            <a:r>
              <a:rPr lang="zh-CN" dirty="0"/>
              <a:t>• W4–W6 体验打磨：声纹、个性化音色、错峰唤醒</a:t>
            </a:r>
          </a:p>
          <a:p>
            <a:r>
              <a:rPr lang="zh-CN" dirty="0"/>
              <a:t>• W7–W9 场景扩展：日程、天气、待办、冥想、家庭联动</a:t>
            </a:r>
          </a:p>
          <a:p>
            <a:r>
              <a:rPr lang="zh-CN" dirty="0"/>
              <a:t>• W10–W12 灰度与评测：真实用户测试、质量闭环、GA 1.0</a:t>
            </a:r>
          </a:p>
          <a:p>
            <a:r>
              <a:rPr lang="zh-CN" dirty="0"/>
              <a:t>• 团队 11 人：研发 6 + 设计 2 + 测试 2 + 产品 1</a:t>
            </a:r>
          </a:p>
          <a:p>
            <a:r>
              <a:rPr lang="zh-CN" dirty="0"/>
              <a:t>• 过渡到下一页：在推进过程中也面临几类风险。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核心要点：四类主要风险均有配套应对策略。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误唤醒 → 多模态确认 + 声纹验证，仅授权用户响应</a:t>
            </a:r>
          </a:p>
          <a:p>
            <a:r>
              <a:rPr lang="zh-CN" dirty="0"/>
              <a:t>• 隐私担忧 → 端侧预处理 + 最小化上云</a:t>
            </a:r>
          </a:p>
          <a:p>
            <a:r>
              <a:rPr lang="zh-CN" dirty="0"/>
              <a:t>• 延迟与中断 → 离线兜底，关键指令缓存</a:t>
            </a:r>
          </a:p>
          <a:p>
            <a:r>
              <a:rPr lang="zh-CN" dirty="0"/>
              <a:t>• 口音/方言 → 自适应训练 + 持续学习</a:t>
            </a:r>
          </a:p>
          <a:p>
            <a:r>
              <a:rPr lang="zh-CN" dirty="0"/>
              <a:t>• 过渡到下一页：和现有方案对比，AI 语音闹钟的差异点在哪？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核心要点：四个核心维度的全面升级。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交互：按键 → 自然语言</a:t>
            </a:r>
          </a:p>
          <a:p>
            <a:r>
              <a:rPr lang="zh-CN" dirty="0"/>
              <a:t>• 信息：单一闹铃 → 天气/日程/待办一次交付</a:t>
            </a:r>
          </a:p>
          <a:p>
            <a:r>
              <a:rPr lang="zh-CN" dirty="0"/>
              <a:t>• 个性化：统一样式 → 声纹+节律+偏好自适应</a:t>
            </a:r>
          </a:p>
          <a:p>
            <a:r>
              <a:rPr lang="zh-CN" dirty="0"/>
              <a:t>• 可达性：依赖视读 → 视障/老年友好</a:t>
            </a:r>
          </a:p>
          <a:p>
            <a:r>
              <a:rPr lang="zh-CN" dirty="0"/>
              <a:t>• 过渡到下一页：把这些差异总结为四个价值。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核心要点：四个价值 + 一个行动号召。</a:t>
            </a:r>
          </a:p>
          <a:p>
            <a:r>
              <a:rPr lang="zh-CN" dirty="0"/>
              <a:t>• 关键数据 / 论据：</a:t>
            </a:r>
          </a:p>
          <a:p>
            <a:r>
              <a:rPr lang="zh-CN" dirty="0"/>
              <a:t>• 体验：从"被叫醒"到"被服务"</a:t>
            </a:r>
          </a:p>
          <a:p>
            <a:r>
              <a:rPr lang="zh-CN" dirty="0"/>
              <a:t>• 效率：一次唤醒完成多项任务</a:t>
            </a:r>
          </a:p>
          <a:p>
            <a:r>
              <a:rPr lang="zh-CN" dirty="0"/>
              <a:t>• 普惠：覆盖更广泛人群（含视障、老年）</a:t>
            </a:r>
          </a:p>
          <a:p>
            <a:r>
              <a:rPr lang="zh-CN" dirty="0"/>
              <a:t>• 数据：长期偏好与节律成为产品护城河</a:t>
            </a:r>
          </a:p>
          <a:p>
            <a:r>
              <a:rPr lang="zh-CN" dirty="0"/>
              <a:t>• CTA：让我们一起，把闹钟变成"晨间助理"</a:t>
            </a:r>
          </a:p>
          <a:p>
            <a:r>
              <a:rPr lang="zh-CN" dirty="0"/>
              <a:t>• 收尾：以上是 AI 语音闹钟方案汇报的全部内容，欢迎讨论。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98170" y="474345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6B6B"/>
                </a:solidFill>
                <a:latin typeface="Arial"/>
                <a:ea typeface="Microsoft YaHei"/>
                <a:cs typeface="Arial"/>
              </a:rPr>
              <a:t>PROPOSAL · 2026</a:t>
            </a:r>
          </a:p>
        </p:txBody>
      </p:sp>
      <p:sp>
        <p:nvSpPr>
          <p:cNvPr id="5" name="Rectangle 5"/>
          <p:cNvSpPr/>
          <p:nvPr/>
        </p:nvSpPr>
        <p:spPr>
          <a:xfrm>
            <a:off x="609600" y="1905000"/>
            <a:ext cx="38100" cy="1524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895350" y="1990725"/>
            <a:ext cx="3359206" cy="1485900"/>
            <a:chOff x="895350" y="1990725"/>
            <a:chExt cx="3359206" cy="1485900"/>
          </a:xfrm>
        </p:grpSpPr>
        <p:sp>
          <p:nvSpPr>
            <p:cNvPr id="6" name="TextBox 6"/>
            <p:cNvSpPr txBox="1"/>
            <p:nvPr/>
          </p:nvSpPr>
          <p:spPr>
            <a:xfrm>
              <a:off x="895350" y="1990725"/>
              <a:ext cx="335920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AI 语音闹钟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5350" y="2562225"/>
              <a:ext cx="263461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方案汇报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31545" y="332708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用自然语言重新定义闹钟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52500" y="4381500"/>
            <a:ext cx="6096000" cy="1143000"/>
            <a:chOff x="952500" y="4381500"/>
            <a:chExt cx="60960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952500" y="4381500"/>
              <a:ext cx="1905000" cy="11430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76338" y="4586288"/>
              <a:ext cx="200026" cy="200025"/>
              <a:chOff x="1176338" y="4586288"/>
              <a:chExt cx="200026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76338" y="45862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6076" y="46307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50792" y="47418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23950" y="5038725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智能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0618" y="5304949"/>
              <a:ext cx="681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Intelligent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048000" y="4381500"/>
              <a:ext cx="1905000" cy="11430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B2A4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271838" y="4597400"/>
              <a:ext cx="188913" cy="177801"/>
            </a:xfrm>
            <a:custGeom>
              <a:avLst/>
              <a:gdLst/>
              <a:ahLst/>
              <a:cxnLst/>
              <a:rect l="l" t="t" r="r" b="b"/>
              <a:pathLst>
                <a:path w="188913" h="177801">
                  <a:moveTo>
                    <a:pt x="144463" y="155575"/>
                  </a:moveTo>
                  <a:cubicBezTo>
                    <a:pt x="156737" y="155575"/>
                    <a:pt x="166688" y="165526"/>
                    <a:pt x="166688" y="177801"/>
                  </a:cubicBezTo>
                  <a:cubicBezTo>
                    <a:pt x="166688" y="165526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6"/>
                    <a:pt x="166688" y="44450"/>
                  </a:cubicBezTo>
                  <a:cubicBezTo>
                    <a:pt x="166688" y="32176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2"/>
                    <a:pt x="96527" y="88900"/>
                    <a:pt x="133350" y="88900"/>
                  </a:cubicBezTo>
                  <a:cubicBezTo>
                    <a:pt x="96527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2"/>
                    <a:pt x="66675" y="155575"/>
                  </a:cubicBezTo>
                </a:path>
              </a:pathLst>
            </a:custGeom>
            <a:noFill/>
            <a:ln w="19050">
              <a:solidFill>
                <a:srgbClr val="0B2A4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19450" y="5038725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B2A4A"/>
                  </a:solidFill>
                  <a:latin typeface="Segoe UI"/>
                  <a:ea typeface="Microsoft YaHei"/>
                  <a:cs typeface="Segoe UI"/>
                </a:rPr>
                <a:t>简洁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6118" y="5304949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Simple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143500" y="4381500"/>
              <a:ext cx="1905000" cy="11430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352341" y="4586288"/>
              <a:ext cx="217008" cy="200025"/>
              <a:chOff x="5352341" y="4586288"/>
              <a:chExt cx="217008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352341" y="45862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500688" y="47418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314950" y="5038725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可靠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1618" y="5304949"/>
              <a:ext cx="4993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Reliable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934890" y="855345"/>
            <a:ext cx="658940" cy="411480"/>
            <a:chOff x="10934890" y="855345"/>
            <a:chExt cx="658940" cy="411480"/>
          </a:xfrm>
        </p:grpSpPr>
        <p:sp>
          <p:nvSpPr>
            <p:cNvPr id="28" name="TextBox 28"/>
            <p:cNvSpPr txBox="1"/>
            <p:nvPr/>
          </p:nvSpPr>
          <p:spPr>
            <a:xfrm>
              <a:off x="11150918" y="855345"/>
              <a:ext cx="442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REPORT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34890" y="1083945"/>
              <a:ext cx="658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No. 01 / 10</a:t>
              </a:r>
            </a:p>
          </p:txBody>
        </p:sp>
      </p:grpSp>
      <p:sp>
        <p:nvSpPr>
          <p:cNvPr id="31" name="Line 31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32" name="TextBox 32"/>
            <p:cNvSpPr txBox="1"/>
            <p:nvPr/>
          </p:nvSpPr>
          <p:spPr>
            <a:xfrm>
              <a:off x="598170" y="64560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Voice Alarm · Product Proposal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66869" y="6456045"/>
              <a:ext cx="8269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2026 · 06 ·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9769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01 · BACKGROUND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02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41020" y="750570"/>
            <a:ext cx="96886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0B2A4A">
                    <a:alphaMod val="15000"/>
                  </a:srgbClr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9120" y="12649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传统闹钟的三个盲点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17145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609600" y="2095500"/>
            <a:ext cx="5010150" cy="2466975"/>
            <a:chOff x="609600" y="2095500"/>
            <a:chExt cx="5010150" cy="2466975"/>
          </a:xfrm>
        </p:grpSpPr>
        <p:grpSp>
          <p:nvGrpSpPr>
            <p:cNvPr id="14" name="Group 14"/>
            <p:cNvGrpSpPr/>
            <p:nvPr/>
          </p:nvGrpSpPr>
          <p:grpSpPr>
            <a:xfrm>
              <a:off x="609600" y="2095500"/>
              <a:ext cx="5010150" cy="561975"/>
              <a:chOff x="609600" y="2095500"/>
              <a:chExt cx="5010150" cy="56197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609600" y="2095500"/>
                <a:ext cx="28575" cy="457200"/>
              </a:xfrm>
              <a:prstGeom prst="rect">
                <a:avLst/>
              </a:prstGeom>
              <a:solidFill>
                <a:srgbClr val="D6282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79145" y="210788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唤醒体验单一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81050" y="2352675"/>
                <a:ext cx="48387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固定铃声、机械循环；对个体状态、节律、任务无感知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09600" y="3048000"/>
              <a:ext cx="4410075" cy="561975"/>
              <a:chOff x="609600" y="3048000"/>
              <a:chExt cx="4410075" cy="56197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09600" y="3048000"/>
                <a:ext cx="28575" cy="457200"/>
              </a:xfrm>
              <a:prstGeom prst="rect">
                <a:avLst/>
              </a:prstGeom>
              <a:solidFill>
                <a:srgbClr val="D6282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79145" y="306038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信息交付低效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1050" y="3305175"/>
                <a:ext cx="42386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被闹钟打断后用户需多次操作才能获取当日信息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09600" y="4000500"/>
              <a:ext cx="4610100" cy="561975"/>
              <a:chOff x="609600" y="4000500"/>
              <a:chExt cx="4610100" cy="5619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09600" y="4000500"/>
                <a:ext cx="28575" cy="457200"/>
              </a:xfrm>
              <a:prstGeom prst="rect">
                <a:avLst/>
              </a:prstGeom>
              <a:solidFill>
                <a:srgbClr val="D6282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79145" y="4012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交互被动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1050" y="4257675"/>
                <a:ext cx="44386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纯按键操作，对通勤、晨起忙碌、视障用户不友好</a:t>
                </a:r>
              </a:p>
            </p:txBody>
          </p:sp>
        </p:grpSp>
      </p:grpSp>
      <p:sp>
        <p:nvSpPr>
          <p:cNvPr id="24" name="Rectangle 24"/>
          <p:cNvSpPr/>
          <p:nvPr/>
        </p:nvSpPr>
        <p:spPr>
          <a:xfrm>
            <a:off x="609600" y="5143500"/>
            <a:ext cx="10972800" cy="76200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919162" y="5410200"/>
            <a:ext cx="242888" cy="228600"/>
          </a:xfrm>
          <a:custGeom>
            <a:avLst/>
            <a:gdLst/>
            <a:ahLst/>
            <a:cxnLst/>
            <a:rect l="l" t="t" r="r" b="b"/>
            <a:pathLst>
              <a:path w="242888" h="228600">
                <a:moveTo>
                  <a:pt x="185738" y="200025"/>
                </a:moveTo>
                <a:cubicBezTo>
                  <a:pt x="201519" y="200025"/>
                  <a:pt x="214312" y="212818"/>
                  <a:pt x="214312" y="228600"/>
                </a:cubicBezTo>
                <a:cubicBezTo>
                  <a:pt x="214312" y="212818"/>
                  <a:pt x="227106" y="200025"/>
                  <a:pt x="242888" y="200025"/>
                </a:cubicBezTo>
                <a:cubicBezTo>
                  <a:pt x="227106" y="200025"/>
                  <a:pt x="214312" y="187232"/>
                  <a:pt x="214312" y="171450"/>
                </a:cubicBezTo>
                <a:cubicBezTo>
                  <a:pt x="214312" y="187232"/>
                  <a:pt x="201519" y="200025"/>
                  <a:pt x="185738" y="200025"/>
                </a:cubicBezTo>
                <a:moveTo>
                  <a:pt x="185738" y="28575"/>
                </a:moveTo>
                <a:cubicBezTo>
                  <a:pt x="201519" y="28575"/>
                  <a:pt x="214312" y="41368"/>
                  <a:pt x="214312" y="57150"/>
                </a:cubicBezTo>
                <a:cubicBezTo>
                  <a:pt x="214312" y="41368"/>
                  <a:pt x="227106" y="28575"/>
                  <a:pt x="242888" y="28575"/>
                </a:cubicBezTo>
                <a:cubicBezTo>
                  <a:pt x="227106" y="28575"/>
                  <a:pt x="214312" y="15782"/>
                  <a:pt x="214312" y="0"/>
                </a:cubicBezTo>
                <a:cubicBezTo>
                  <a:pt x="214312" y="15782"/>
                  <a:pt x="201519" y="28575"/>
                  <a:pt x="185738" y="28575"/>
                </a:cubicBezTo>
                <a:moveTo>
                  <a:pt x="85725" y="200025"/>
                </a:moveTo>
                <a:cubicBezTo>
                  <a:pt x="85725" y="152680"/>
                  <a:pt x="124105" y="114300"/>
                  <a:pt x="171450" y="114300"/>
                </a:cubicBezTo>
                <a:cubicBezTo>
                  <a:pt x="124105" y="114300"/>
                  <a:pt x="85725" y="75920"/>
                  <a:pt x="85725" y="28575"/>
                </a:cubicBezTo>
                <a:cubicBezTo>
                  <a:pt x="85725" y="75920"/>
                  <a:pt x="47345" y="114300"/>
                  <a:pt x="0" y="114300"/>
                </a:cubicBezTo>
                <a:cubicBezTo>
                  <a:pt x="47345" y="114300"/>
                  <a:pt x="85725" y="152680"/>
                  <a:pt x="85725" y="200025"/>
                </a:cubicBezTo>
              </a:path>
            </a:pathLst>
          </a:custGeom>
          <a:noFill/>
          <a:ln w="19050">
            <a:solidFill>
              <a:srgbClr val="F5F5F0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1388745" y="5343049"/>
            <a:ext cx="4805505" cy="529113"/>
            <a:chOff x="1388745" y="5343049"/>
            <a:chExt cx="4805505" cy="529113"/>
          </a:xfrm>
        </p:grpSpPr>
        <p:sp>
          <p:nvSpPr>
            <p:cNvPr id="26" name="TextBox 26"/>
            <p:cNvSpPr txBox="1"/>
            <p:nvPr/>
          </p:nvSpPr>
          <p:spPr>
            <a:xfrm>
              <a:off x="1397318" y="5343049"/>
              <a:ext cx="759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CONCLUSION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8745" y="5536882"/>
              <a:ext cx="48055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AI 语音闹钟把"叫醒"升级为"唤醒 + 服务 + 陪伴"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02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8929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02 · USER PAINS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03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9120" y="107442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三大核心痛点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15240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94360" y="1718310"/>
            <a:ext cx="14946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6B6B"/>
                </a:solidFill>
                <a:latin typeface="Segoe UI"/>
                <a:ea typeface="Microsoft YaHei"/>
                <a:cs typeface="Segoe UI"/>
              </a:rPr>
              <a:t>痛点维度 × 用户场景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09600" y="2286000"/>
            <a:ext cx="3429000" cy="3619500"/>
            <a:chOff x="609600" y="2286000"/>
            <a:chExt cx="34290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609600" y="2286000"/>
              <a:ext cx="3429000" cy="3619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286000"/>
              <a:ext cx="3429000" cy="57150"/>
            </a:xfrm>
            <a:prstGeom prst="rect">
              <a:avLst/>
            </a:prstGeom>
            <a:solidFill>
              <a:srgbClr val="D62828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09650" y="2724150"/>
              <a:ext cx="342900" cy="342900"/>
              <a:chOff x="1009650" y="2724150"/>
              <a:chExt cx="342900" cy="3429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009650" y="27241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171450"/>
                    </a:moveTo>
                    <a:cubicBezTo>
                      <a:pt x="0" y="266139"/>
                      <a:pt x="76761" y="342900"/>
                      <a:pt x="171450" y="342900"/>
                    </a:cubicBezTo>
                    <a:cubicBezTo>
                      <a:pt x="266139" y="342900"/>
                      <a:pt x="342900" y="266139"/>
                      <a:pt x="342900" y="171450"/>
                    </a:cubicBezTo>
                    <a:cubicBezTo>
                      <a:pt x="342900" y="76761"/>
                      <a:pt x="266139" y="0"/>
                      <a:pt x="171450" y="0"/>
                    </a:cubicBezTo>
                    <a:cubicBezTo>
                      <a:pt x="76761" y="0"/>
                      <a:pt x="0" y="76761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81100" y="280035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0"/>
                    </a:moveTo>
                    <a:lnTo>
                      <a:pt x="0" y="95250"/>
                    </a:lnTo>
                    <a:lnTo>
                      <a:pt x="57150" y="152400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941070" y="35223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PAIN · 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7735" y="37518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被打断的清晨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41148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D62828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935355" y="4350068"/>
              <a:ext cx="1447467" cy="1541144"/>
              <a:chOff x="935355" y="4350068"/>
              <a:chExt cx="1447467" cy="1541144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935355" y="4350068"/>
                <a:ext cx="144746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一次响铃常常是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35355" y="459771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当日焦虑的开始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5355" y="4997768"/>
                <a:ext cx="12674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信息获取需要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35355" y="52454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多次操作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9165" y="5677852"/>
                <a:ext cx="13008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Morning disruption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4381500" y="2286000"/>
            <a:ext cx="3429000" cy="3619500"/>
            <a:chOff x="4381500" y="2286000"/>
            <a:chExt cx="3429000" cy="3619500"/>
          </a:xfrm>
        </p:grpSpPr>
        <p:sp>
          <p:nvSpPr>
            <p:cNvPr id="26" name="Rectangle 26"/>
            <p:cNvSpPr/>
            <p:nvPr/>
          </p:nvSpPr>
          <p:spPr>
            <a:xfrm>
              <a:off x="4381500" y="2286000"/>
              <a:ext cx="3429000" cy="3619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81500" y="2286000"/>
              <a:ext cx="3429000" cy="5715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805362" y="2743200"/>
              <a:ext cx="295276" cy="304800"/>
              <a:chOff x="4805362" y="2743200"/>
              <a:chExt cx="295276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819650" y="27813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953000" y="2857500"/>
                <a:ext cx="381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150">
                    <a:moveTo>
                      <a:pt x="0" y="0"/>
                    </a:moveTo>
                    <a:lnTo>
                      <a:pt x="0" y="57150"/>
                    </a:lnTo>
                    <a:lnTo>
                      <a:pt x="38100" y="5715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805362" y="2743200"/>
                <a:ext cx="52388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8100">
                    <a:moveTo>
                      <a:pt x="52388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48250" y="2743200"/>
                <a:ext cx="52388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8100">
                    <a:moveTo>
                      <a:pt x="0" y="0"/>
                    </a:moveTo>
                    <a:lnTo>
                      <a:pt x="52388" y="381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712970" y="35223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PAIN · 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99635" y="375189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固定的铃声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724400" y="41148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0B2A4A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4707255" y="4350068"/>
              <a:ext cx="1267444" cy="1541144"/>
              <a:chOff x="4707255" y="4350068"/>
              <a:chExt cx="1267444" cy="1541144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4707255" y="4350068"/>
                <a:ext cx="12674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无法匹配个人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707255" y="4597718"/>
                <a:ext cx="9344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状态与场景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707255" y="4997768"/>
                <a:ext cx="12674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长期使用产生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707255" y="52454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听觉疲劳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11065" y="5677852"/>
                <a:ext cx="10768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Static ringtone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8153400" y="2286000"/>
            <a:ext cx="3429000" cy="3619500"/>
            <a:chOff x="8153400" y="2286000"/>
            <a:chExt cx="3429000" cy="3619500"/>
          </a:xfrm>
        </p:grpSpPr>
        <p:sp>
          <p:nvSpPr>
            <p:cNvPr id="43" name="Rectangle 43"/>
            <p:cNvSpPr/>
            <p:nvPr/>
          </p:nvSpPr>
          <p:spPr>
            <a:xfrm>
              <a:off x="8153400" y="2286000"/>
              <a:ext cx="3429000" cy="3619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153400" y="2286000"/>
              <a:ext cx="3429000" cy="57150"/>
            </a:xfrm>
            <a:prstGeom prst="rect">
              <a:avLst/>
            </a:prstGeom>
            <a:solidFill>
              <a:srgbClr val="1E88E5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553450" y="2743200"/>
              <a:ext cx="342900" cy="323850"/>
              <a:chOff x="8553450" y="2743200"/>
              <a:chExt cx="342900" cy="3238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724900" y="2876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1E88E5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648700" y="2876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1E88E5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801100" y="2876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1E88E5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553450" y="2743200"/>
                <a:ext cx="3429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23850">
                    <a:moveTo>
                      <a:pt x="285750" y="0"/>
                    </a:move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209550"/>
                    </a:lnTo>
                    <a:cubicBezTo>
                      <a:pt x="342900" y="241113"/>
                      <a:pt x="317313" y="266700"/>
                      <a:pt x="285750" y="266700"/>
                    </a:cubicBezTo>
                    <a:lnTo>
                      <a:pt x="190500" y="266700"/>
                    </a:lnTo>
                    <a:lnTo>
                      <a:pt x="95250" y="323850"/>
                    </a:lnTo>
                    <a:lnTo>
                      <a:pt x="95250" y="266700"/>
                    </a:lnTo>
                    <a:lnTo>
                      <a:pt x="57150" y="266700"/>
                    </a:lnTo>
                    <a:cubicBezTo>
                      <a:pt x="25587" y="266700"/>
                      <a:pt x="0" y="241113"/>
                      <a:pt x="0" y="2095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1E88E5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484870" y="35223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PAIN · 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71535" y="375189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被动的交互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8496300" y="41148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1E88E5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479155" y="4350068"/>
              <a:ext cx="1474470" cy="1541144"/>
              <a:chOff x="8479155" y="4350068"/>
              <a:chExt cx="1474470" cy="1541144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8479155" y="4350068"/>
                <a:ext cx="12674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视障、老年、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79155" y="4597718"/>
                <a:ext cx="14744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通勤用户尤其不便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479155" y="4997768"/>
                <a:ext cx="144746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缺乏上下文理解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79155" y="5245418"/>
                <a:ext cx="9344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与主动服务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482965" y="5677852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Passive interaction</a:t>
                </a:r>
              </a:p>
            </p:txBody>
          </p:sp>
        </p:grpSp>
      </p:grpSp>
      <p:sp>
        <p:nvSpPr>
          <p:cNvPr id="60" name="Line 60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63" name="Group 63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03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03 · APPROACH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04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9120" y="1074420"/>
            <a:ext cx="585768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解决思路 — 让闹钟"听懂、记起、会说"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15240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09600" y="2095500"/>
            <a:ext cx="10972800" cy="4000500"/>
            <a:chOff x="609600" y="2095500"/>
            <a:chExt cx="10972800" cy="4000500"/>
          </a:xfrm>
        </p:grpSpPr>
        <p:sp>
          <p:nvSpPr>
            <p:cNvPr id="10" name="Line 10"/>
            <p:cNvSpPr/>
            <p:nvPr/>
          </p:nvSpPr>
          <p:spPr>
            <a:xfrm>
              <a:off x="6096000" y="20955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D9D9D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4095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D9D2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038850" y="4038600"/>
              <a:ext cx="114300" cy="114300"/>
            </a:xfrm>
            <a:prstGeom prst="ellipse">
              <a:avLst/>
            </a:prstGeom>
            <a:solidFill>
              <a:srgbClr val="D62828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123950" y="2188845"/>
            <a:ext cx="1450467" cy="1811655"/>
            <a:chOff x="1123950" y="2188845"/>
            <a:chExt cx="1450467" cy="1811655"/>
          </a:xfrm>
        </p:grpSpPr>
        <p:sp>
          <p:nvSpPr>
            <p:cNvPr id="14" name="TextBox 14"/>
            <p:cNvSpPr txBox="1"/>
            <p:nvPr/>
          </p:nvSpPr>
          <p:spPr>
            <a:xfrm>
              <a:off x="1131570" y="2188845"/>
              <a:ext cx="3228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INPUT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214438" y="2486025"/>
              <a:ext cx="200025" cy="280988"/>
              <a:chOff x="1214438" y="2486025"/>
              <a:chExt cx="200025" cy="2809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271588" y="248602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14438" y="260032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257300" y="27574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314450" y="27003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687830" y="2421255"/>
              <a:ext cx="3473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3950" y="2886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A4A"/>
                  </a:solidFill>
                  <a:latin typeface="Segoe UI"/>
                  <a:ea typeface="Microsoft YaHei"/>
                  <a:cs typeface="Segoe UI"/>
                </a:rPr>
                <a:t>语音输入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127760" y="3261360"/>
              <a:ext cx="1446657" cy="739140"/>
              <a:chOff x="1127760" y="3261360"/>
              <a:chExt cx="1446657" cy="73914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1127760" y="3261360"/>
                <a:ext cx="14466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自然语言下达命令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27760" y="3509010"/>
                <a:ext cx="12866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支持多轮上下文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27760" y="3756660"/>
                <a:ext cx="14466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噪声环境鲁棒识别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6648450" y="2188845"/>
            <a:ext cx="1610487" cy="1811655"/>
            <a:chOff x="6648450" y="2188845"/>
            <a:chExt cx="1610487" cy="1811655"/>
          </a:xfrm>
        </p:grpSpPr>
        <p:sp>
          <p:nvSpPr>
            <p:cNvPr id="27" name="TextBox 27"/>
            <p:cNvSpPr txBox="1"/>
            <p:nvPr/>
          </p:nvSpPr>
          <p:spPr>
            <a:xfrm>
              <a:off x="6656070" y="2188845"/>
              <a:ext cx="610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REASONING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710362" y="2500312"/>
              <a:ext cx="257176" cy="257176"/>
              <a:chOff x="6710362" y="2500312"/>
              <a:chExt cx="257176" cy="2571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838950" y="2643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738938" y="2643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10388" y="2586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838950" y="2500312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10362" y="2586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38938" y="2500312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212330" y="2421255"/>
              <a:ext cx="3473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48450" y="28860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A4A"/>
                  </a:solidFill>
                  <a:latin typeface="Segoe UI"/>
                  <a:ea typeface="Microsoft YaHei"/>
                  <a:cs typeface="Segoe UI"/>
                </a:rPr>
                <a:t>大模型推理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652260" y="3261360"/>
              <a:ext cx="1606677" cy="739140"/>
              <a:chOff x="6652260" y="3261360"/>
              <a:chExt cx="1606677" cy="73914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6652260" y="3261360"/>
                <a:ext cx="16066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理解意图、生成响应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52260" y="3509010"/>
                <a:ext cx="16066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自动规划日程与任务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52260" y="3756660"/>
                <a:ext cx="11266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融合多源信息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1123950" y="4284345"/>
            <a:ext cx="1298258" cy="1811655"/>
            <a:chOff x="1123950" y="4284345"/>
            <a:chExt cx="1298258" cy="1811655"/>
          </a:xfrm>
        </p:grpSpPr>
        <p:sp>
          <p:nvSpPr>
            <p:cNvPr id="42" name="TextBox 42"/>
            <p:cNvSpPr txBox="1"/>
            <p:nvPr/>
          </p:nvSpPr>
          <p:spPr>
            <a:xfrm>
              <a:off x="1131570" y="4284345"/>
              <a:ext cx="442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OUTPUT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185862" y="4610100"/>
              <a:ext cx="257175" cy="242888"/>
              <a:chOff x="1185862" y="4610100"/>
              <a:chExt cx="257175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257300" y="468153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257300" y="47386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85862" y="4610100"/>
                <a:ext cx="25717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42888">
                    <a:moveTo>
                      <a:pt x="85725" y="200025"/>
                    </a:moveTo>
                    <a:lnTo>
                      <a:pt x="42862" y="200025"/>
                    </a:lnTo>
                    <a:cubicBezTo>
                      <a:pt x="19190" y="200025"/>
                      <a:pt x="0" y="180835"/>
                      <a:pt x="0" y="157162"/>
                    </a:cubicBez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157162"/>
                    </a:lnTo>
                    <a:cubicBezTo>
                      <a:pt x="257175" y="180835"/>
                      <a:pt x="237985" y="200025"/>
                      <a:pt x="214312" y="200025"/>
                    </a:cubicBezTo>
                    <a:lnTo>
                      <a:pt x="171450" y="200025"/>
                    </a:lnTo>
                    <a:lnTo>
                      <a:pt x="128588" y="242888"/>
                    </a:lnTo>
                    <a:lnTo>
                      <a:pt x="85725" y="200025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687830" y="4516755"/>
              <a:ext cx="3473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3950" y="49815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A4A"/>
                  </a:solidFill>
                  <a:latin typeface="Segoe UI"/>
                  <a:ea typeface="Microsoft YaHei"/>
                  <a:cs typeface="Segoe UI"/>
                </a:rPr>
                <a:t>语音合成输出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127760" y="5356860"/>
              <a:ext cx="1126617" cy="739140"/>
              <a:chOff x="1127760" y="5356860"/>
              <a:chExt cx="1126617" cy="73914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1127760" y="5356860"/>
                <a:ext cx="11266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自然音色朗读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7760" y="5604510"/>
                <a:ext cx="9665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不依赖屏幕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127760" y="5852160"/>
                <a:ext cx="11266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适配多种场景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6648450" y="4284345"/>
            <a:ext cx="1610487" cy="1811655"/>
            <a:chOff x="6648450" y="4284345"/>
            <a:chExt cx="1610487" cy="1811655"/>
          </a:xfrm>
        </p:grpSpPr>
        <p:sp>
          <p:nvSpPr>
            <p:cNvPr id="54" name="TextBox 54"/>
            <p:cNvSpPr txBox="1"/>
            <p:nvPr/>
          </p:nvSpPr>
          <p:spPr>
            <a:xfrm>
              <a:off x="6656070" y="4284345"/>
              <a:ext cx="4909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MEMORY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710362" y="4595812"/>
              <a:ext cx="257175" cy="257175"/>
              <a:chOff x="6710362" y="4595812"/>
              <a:chExt cx="257175" cy="2571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738938" y="46243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85738"/>
                    </a:lnTo>
                    <a:cubicBezTo>
                      <a:pt x="200025" y="193628"/>
                      <a:pt x="193628" y="200025"/>
                      <a:pt x="185738" y="200025"/>
                    </a:cubicBezTo>
                    <a:lnTo>
                      <a:pt x="14288" y="200025"/>
                    </a:lnTo>
                    <a:cubicBezTo>
                      <a:pt x="6397" y="200025"/>
                      <a:pt x="0" y="193628"/>
                      <a:pt x="0" y="185738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96088" y="46815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85725"/>
                    </a:lnTo>
                    <a:lnTo>
                      <a:pt x="0" y="857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10362" y="46958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10362" y="47529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810375" y="45958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867525" y="45958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38962" y="46958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38962" y="47529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867525" y="48244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810375" y="48244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212330" y="4516755"/>
              <a:ext cx="3473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48450" y="4981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A4A"/>
                  </a:solidFill>
                  <a:latin typeface="Segoe UI"/>
                  <a:ea typeface="Microsoft YaHei"/>
                  <a:cs typeface="Segoe UI"/>
                </a:rPr>
                <a:t>长期记忆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6652260" y="5356860"/>
              <a:ext cx="1606677" cy="739140"/>
              <a:chOff x="6652260" y="5356860"/>
              <a:chExt cx="1606677" cy="739140"/>
            </a:xfrm>
          </p:grpSpPr>
          <p:sp>
            <p:nvSpPr>
              <p:cNvPr id="68" name="TextBox 68"/>
              <p:cNvSpPr txBox="1"/>
              <p:nvPr/>
            </p:nvSpPr>
            <p:spPr>
              <a:xfrm>
                <a:off x="6652260" y="5356860"/>
                <a:ext cx="11266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记住用户偏好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652260" y="5604510"/>
                <a:ext cx="12866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学习节律与作息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652260" y="5852160"/>
                <a:ext cx="16066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沉淀重要日期与事项</a:t>
                </a:r>
              </a:p>
            </p:txBody>
          </p:sp>
        </p:grpSp>
      </p:grpSp>
      <p:sp>
        <p:nvSpPr>
          <p:cNvPr id="73" name="Line 73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76" name="Group 76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74" name="TextBox 74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04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13190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04 · CAPABILITY MATRIX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05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9120" y="1074420"/>
            <a:ext cx="179157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AI 能力矩阵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15240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94360" y="1718310"/>
            <a:ext cx="1862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6B6B"/>
                </a:solidFill>
                <a:latin typeface="Segoe UI"/>
                <a:ea typeface="Microsoft YaHei"/>
                <a:cs typeface="Segoe UI"/>
              </a:rPr>
              <a:t>输入 / 输出 × 感知 / 决策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39488" y="2226945"/>
            <a:ext cx="7554469" cy="3954780"/>
            <a:chOff x="1239488" y="2226945"/>
            <a:chExt cx="7554469" cy="3954780"/>
          </a:xfrm>
        </p:grpSpPr>
        <p:sp>
          <p:nvSpPr>
            <p:cNvPr id="11" name="TextBox 11"/>
            <p:cNvSpPr txBox="1"/>
            <p:nvPr/>
          </p:nvSpPr>
          <p:spPr>
            <a:xfrm>
              <a:off x="1239488" y="2226945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PERCEPTION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01509" y="5789295"/>
              <a:ext cx="514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DECISION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58051" y="5998845"/>
              <a:ext cx="3228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INPUT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51044" y="5998845"/>
              <a:ext cx="442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OUTPUT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2286000"/>
            <a:ext cx="6286500" cy="3048000"/>
            <a:chOff x="2286000" y="2286000"/>
            <a:chExt cx="6286500" cy="3048000"/>
          </a:xfrm>
        </p:grpSpPr>
        <p:sp>
          <p:nvSpPr>
            <p:cNvPr id="16" name="Rectangle 16"/>
            <p:cNvSpPr/>
            <p:nvPr/>
          </p:nvSpPr>
          <p:spPr>
            <a:xfrm>
              <a:off x="2286000" y="2286000"/>
              <a:ext cx="6286500" cy="1524000"/>
            </a:xfrm>
            <a:prstGeom prst="rect">
              <a:avLst/>
            </a:prstGeom>
            <a:noFill/>
            <a:ln w="9525">
              <a:solidFill>
                <a:srgbClr val="D9D9D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0" y="3810000"/>
              <a:ext cx="6286500" cy="1524000"/>
            </a:xfrm>
            <a:prstGeom prst="rect">
              <a:avLst/>
            </a:prstGeom>
            <a:noFill/>
            <a:ln w="9525">
              <a:solidFill>
                <a:srgbClr val="D9D9D2"/>
              </a:solidFill>
            </a:ln>
          </p:spPr>
        </p:sp>
      </p:grpSp>
      <p:sp>
        <p:nvSpPr>
          <p:cNvPr id="19" name="Line 19"/>
          <p:cNvSpPr/>
          <p:nvPr/>
        </p:nvSpPr>
        <p:spPr>
          <a:xfrm>
            <a:off x="5429250" y="22860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20" name="Line 20"/>
          <p:cNvSpPr/>
          <p:nvPr/>
        </p:nvSpPr>
        <p:spPr>
          <a:xfrm>
            <a:off x="2286000" y="38100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2512695" y="2531745"/>
            <a:ext cx="1226534" cy="1252061"/>
            <a:chOff x="2512695" y="2531745"/>
            <a:chExt cx="1226534" cy="1252061"/>
          </a:xfrm>
        </p:grpSpPr>
        <p:sp>
          <p:nvSpPr>
            <p:cNvPr id="21" name="TextBox 21"/>
            <p:cNvSpPr txBox="1"/>
            <p:nvPr/>
          </p:nvSpPr>
          <p:spPr>
            <a:xfrm>
              <a:off x="2522220" y="2531745"/>
              <a:ext cx="1217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 · PERCEPTION INPUT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12695" y="2793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感知输入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2519362" y="3136106"/>
              <a:ext cx="1213723" cy="647700"/>
              <a:chOff x="2519362" y="3136106"/>
              <a:chExt cx="1213723" cy="64770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519362" y="313610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语音识别 (ASR)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519362" y="334565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声纹识别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519362" y="35552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环境音检测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655945" y="2531745"/>
            <a:ext cx="1220390" cy="1252061"/>
            <a:chOff x="5655945" y="2531745"/>
            <a:chExt cx="1220390" cy="1252061"/>
          </a:xfrm>
        </p:grpSpPr>
        <p:sp>
          <p:nvSpPr>
            <p:cNvPr id="28" name="TextBox 28"/>
            <p:cNvSpPr txBox="1"/>
            <p:nvPr/>
          </p:nvSpPr>
          <p:spPr>
            <a:xfrm>
              <a:off x="5665470" y="2531745"/>
              <a:ext cx="11750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B · DECISION OUTPUT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5945" y="2793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决策输出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662612" y="3136106"/>
              <a:ext cx="1213723" cy="647700"/>
              <a:chOff x="5662612" y="3136106"/>
              <a:chExt cx="1213723" cy="64770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5662612" y="313610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自然朗读 (TTS)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62612" y="334565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多模态呈现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662612" y="355520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节奏与语气适配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2512695" y="4055745"/>
            <a:ext cx="1394555" cy="1252061"/>
            <a:chOff x="2512695" y="4055745"/>
            <a:chExt cx="1394555" cy="1252061"/>
          </a:xfrm>
        </p:grpSpPr>
        <p:sp>
          <p:nvSpPr>
            <p:cNvPr id="35" name="TextBox 35"/>
            <p:cNvSpPr txBox="1"/>
            <p:nvPr/>
          </p:nvSpPr>
          <p:spPr>
            <a:xfrm>
              <a:off x="2522220" y="4055745"/>
              <a:ext cx="13850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C · PERCEPTION MEMORY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12695" y="4317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感知记忆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2519362" y="4660106"/>
              <a:ext cx="1056203" cy="647700"/>
              <a:chOff x="2519362" y="4660106"/>
              <a:chExt cx="1056203" cy="64770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2519362" y="46601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用户偏好建模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519362" y="486965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作息节律学习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519362" y="50792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知识沉淀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5655945" y="4055745"/>
            <a:ext cx="1512927" cy="1252061"/>
            <a:chOff x="5655945" y="4055745"/>
            <a:chExt cx="1512927" cy="1252061"/>
          </a:xfrm>
        </p:grpSpPr>
        <p:sp>
          <p:nvSpPr>
            <p:cNvPr id="42" name="TextBox 42"/>
            <p:cNvSpPr txBox="1"/>
            <p:nvPr/>
          </p:nvSpPr>
          <p:spPr>
            <a:xfrm>
              <a:off x="5665470" y="405574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D · DECISION REASONING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55945" y="4317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62828"/>
                  </a:solidFill>
                  <a:latin typeface="Georgia"/>
                  <a:ea typeface="SimSun"/>
                  <a:cs typeface="Georgia"/>
                </a:rPr>
                <a:t>决策推理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5662612" y="4660106"/>
              <a:ext cx="1506260" cy="647700"/>
              <a:chOff x="5662612" y="4660106"/>
              <a:chExt cx="1506260" cy="647700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5662612" y="4660106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日程规划与任务生成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662612" y="486965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个性化推荐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662612" y="50792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· 多源信息融合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9144000" y="2286000"/>
            <a:ext cx="2438400" cy="3048000"/>
            <a:chOff x="9144000" y="2286000"/>
            <a:chExt cx="2438400" cy="3048000"/>
          </a:xfrm>
        </p:grpSpPr>
        <p:sp>
          <p:nvSpPr>
            <p:cNvPr id="49" name="Rectangle 49"/>
            <p:cNvSpPr/>
            <p:nvPr/>
          </p:nvSpPr>
          <p:spPr>
            <a:xfrm>
              <a:off x="9144000" y="2286000"/>
              <a:ext cx="2438400" cy="30480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410700" y="2571750"/>
              <a:ext cx="228599" cy="228599"/>
              <a:chOff x="9410700" y="2571750"/>
              <a:chExt cx="228599" cy="22859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9436100" y="259715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486900" y="2647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410700" y="26606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410700" y="27114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499600" y="25717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550400" y="25717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613899" y="26606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613899" y="27114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550400" y="27749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499600" y="27749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5F5F0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361170" y="3065145"/>
              <a:ext cx="3108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CORE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49740" y="3310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F5F0"/>
                  </a:solidFill>
                  <a:latin typeface="Georgia"/>
                  <a:ea typeface="SimSun"/>
                  <a:cs typeface="Georgia"/>
                </a:rPr>
                <a:t>核心能力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372600" y="36576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D62828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9358312" y="3917156"/>
              <a:ext cx="478631" cy="1219200"/>
              <a:chOff x="9358312" y="3917156"/>
              <a:chExt cx="478631" cy="1219200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9358312" y="3917156"/>
                <a:ext cx="3286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语音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358312" y="4164806"/>
                <a:ext cx="4786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大模型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358312" y="4412456"/>
                <a:ext cx="3286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声纹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358312" y="4660106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TTS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358312" y="4907756"/>
                <a:ext cx="3286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日程</a:t>
                </a:r>
              </a:p>
            </p:txBody>
          </p:sp>
        </p:grpSp>
      </p:grpSp>
      <p:sp>
        <p:nvSpPr>
          <p:cNvPr id="71" name="Line 71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74" name="Group 74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05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05 · KPIs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06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9120" y="107442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预期关键指标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15240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94360" y="1718310"/>
            <a:ext cx="28148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6B6B"/>
                </a:solidFill>
                <a:latin typeface="Segoe UI"/>
                <a:ea typeface="Microsoft YaHei"/>
                <a:cs typeface="Segoe UI"/>
              </a:rPr>
              <a:t>12 周灰度后的目标值（行业基准对标）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09600" y="2286000"/>
            <a:ext cx="2571750" cy="2667000"/>
            <a:chOff x="609600" y="2286000"/>
            <a:chExt cx="2571750" cy="2667000"/>
          </a:xfrm>
        </p:grpSpPr>
        <p:sp>
          <p:nvSpPr>
            <p:cNvPr id="11" name="Rectangle 11"/>
            <p:cNvSpPr/>
            <p:nvPr/>
          </p:nvSpPr>
          <p:spPr>
            <a:xfrm>
              <a:off x="609600" y="2286000"/>
              <a:ext cx="2571750" cy="2667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286000"/>
              <a:ext cx="2571750" cy="381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30275" y="2679700"/>
              <a:ext cx="196849" cy="203200"/>
              <a:chOff x="930275" y="2679700"/>
              <a:chExt cx="196849" cy="203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39800" y="27051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88900"/>
                    </a:moveTo>
                    <a:cubicBezTo>
                      <a:pt x="0" y="137998"/>
                      <a:pt x="39802" y="177800"/>
                      <a:pt x="88900" y="177800"/>
                    </a:cubicBezTo>
                    <a:cubicBezTo>
                      <a:pt x="137998" y="177800"/>
                      <a:pt x="177800" y="137998"/>
                      <a:pt x="177800" y="88900"/>
                    </a:cubicBezTo>
                    <a:cubicBezTo>
                      <a:pt x="177800" y="39802"/>
                      <a:pt x="137998" y="0"/>
                      <a:pt x="88900" y="0"/>
                    </a:cubicBezTo>
                    <a:cubicBezTo>
                      <a:pt x="39802" y="0"/>
                      <a:pt x="0" y="39802"/>
                      <a:pt x="0" y="88900"/>
                    </a:cubicBez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8700" y="2755900"/>
                <a:ext cx="25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100">
                    <a:moveTo>
                      <a:pt x="0" y="0"/>
                    </a:moveTo>
                    <a:lnTo>
                      <a:pt x="0" y="38100"/>
                    </a:lnTo>
                    <a:lnTo>
                      <a:pt x="25400" y="381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30275" y="2679700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5400">
                    <a:moveTo>
                      <a:pt x="34925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92199" y="2679700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5400">
                    <a:moveTo>
                      <a:pt x="0" y="0"/>
                    </a:moveTo>
                    <a:lnTo>
                      <a:pt x="34925" y="254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64870" y="3312795"/>
              <a:ext cx="4609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KPI · 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965" y="36204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Georgia"/>
                  <a:ea typeface="SimSun"/>
                  <a:cs typeface="Georgia"/>
                </a:rPr>
                <a:t>唤醒成功率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22960" y="4004310"/>
              <a:ext cx="1200150" cy="853440"/>
              <a:chOff x="822960" y="4004310"/>
              <a:chExt cx="1200150" cy="85344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22960" y="40043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99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22120" y="4198620"/>
                <a:ext cx="300990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%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876300" y="461010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D6282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3918" y="4733449"/>
              <a:ext cx="1090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Wake-up success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71850" y="2286000"/>
            <a:ext cx="2571750" cy="2667000"/>
            <a:chOff x="3371850" y="2286000"/>
            <a:chExt cx="2571750" cy="2667000"/>
          </a:xfrm>
        </p:grpSpPr>
        <p:sp>
          <p:nvSpPr>
            <p:cNvPr id="26" name="Rectangle 26"/>
            <p:cNvSpPr/>
            <p:nvPr/>
          </p:nvSpPr>
          <p:spPr>
            <a:xfrm>
              <a:off x="3371850" y="2286000"/>
              <a:ext cx="2571750" cy="2667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71850" y="2286000"/>
              <a:ext cx="2571750" cy="381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676650" y="2667000"/>
              <a:ext cx="228599" cy="228599"/>
              <a:chOff x="3676650" y="2667000"/>
              <a:chExt cx="228599" cy="22859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3778250" y="27686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727450" y="27178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676650" y="26670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3627120" y="3312795"/>
              <a:ext cx="4609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KPI · 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25215" y="36204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Georgia"/>
                  <a:ea typeface="SimSun"/>
                  <a:cs typeface="Georgia"/>
                </a:rPr>
                <a:t>一次任务完成率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3585210" y="4004310"/>
              <a:ext cx="1200150" cy="853440"/>
              <a:chOff x="3585210" y="4004310"/>
              <a:chExt cx="1200150" cy="85344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3585210" y="40043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85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84370" y="4198620"/>
                <a:ext cx="300990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%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3638550" y="461010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D6282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626168" y="47334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Single-turn task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134100" y="2286000"/>
            <a:ext cx="2571750" cy="2667000"/>
            <a:chOff x="6134100" y="2286000"/>
            <a:chExt cx="2571750" cy="2667000"/>
          </a:xfrm>
        </p:grpSpPr>
        <p:sp>
          <p:nvSpPr>
            <p:cNvPr id="40" name="Rectangle 40"/>
            <p:cNvSpPr/>
            <p:nvPr/>
          </p:nvSpPr>
          <p:spPr>
            <a:xfrm>
              <a:off x="6134100" y="2286000"/>
              <a:ext cx="2571750" cy="2667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34100" y="2286000"/>
              <a:ext cx="2571750" cy="38100"/>
            </a:xfrm>
            <a:prstGeom prst="rect">
              <a:avLst/>
            </a:prstGeom>
            <a:solidFill>
              <a:srgbClr val="D6282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38900" y="2679700"/>
              <a:ext cx="228599" cy="215899"/>
              <a:chOff x="6438900" y="2679700"/>
              <a:chExt cx="228599" cy="21589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53200" y="2768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02400" y="2768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03999" y="2768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38900" y="2679700"/>
                <a:ext cx="2285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15899">
                    <a:moveTo>
                      <a:pt x="190500" y="0"/>
                    </a:move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139700"/>
                    </a:lnTo>
                    <a:cubicBezTo>
                      <a:pt x="228599" y="160742"/>
                      <a:pt x="211542" y="177800"/>
                      <a:pt x="190500" y="177800"/>
                    </a:cubicBezTo>
                    <a:lnTo>
                      <a:pt x="127000" y="177800"/>
                    </a:lnTo>
                    <a:lnTo>
                      <a:pt x="63500" y="215899"/>
                    </a:lnTo>
                    <a:lnTo>
                      <a:pt x="63500" y="177800"/>
                    </a:lnTo>
                    <a:lnTo>
                      <a:pt x="38100" y="177800"/>
                    </a:lnTo>
                    <a:cubicBezTo>
                      <a:pt x="17058" y="177800"/>
                      <a:pt x="0" y="160742"/>
                      <a:pt x="0" y="139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389370" y="3312795"/>
              <a:ext cx="4609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KPI · 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7465" y="36204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Georgia"/>
                  <a:ea typeface="SimSun"/>
                  <a:cs typeface="Georgia"/>
                </a:rPr>
                <a:t>平均交互轮次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47460" y="4004310"/>
              <a:ext cx="140044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D62828"/>
                  </a:solidFill>
                  <a:latin typeface="Georgia"/>
                  <a:ea typeface="SimSun"/>
                  <a:cs typeface="Georgia"/>
                </a:rPr>
                <a:t>≤1.8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400800" y="461010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D6282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88418" y="4733449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Avg. dialogue turns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896350" y="2286000"/>
            <a:ext cx="2571750" cy="2667000"/>
            <a:chOff x="8896350" y="2286000"/>
            <a:chExt cx="2571750" cy="2667000"/>
          </a:xfrm>
        </p:grpSpPr>
        <p:sp>
          <p:nvSpPr>
            <p:cNvPr id="53" name="Rectangle 53"/>
            <p:cNvSpPr/>
            <p:nvPr/>
          </p:nvSpPr>
          <p:spPr>
            <a:xfrm>
              <a:off x="8896350" y="2286000"/>
              <a:ext cx="2571750" cy="2667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896350" y="2286000"/>
              <a:ext cx="2571750" cy="381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9201150" y="2717800"/>
              <a:ext cx="228600" cy="127000"/>
              <a:chOff x="9201150" y="2717800"/>
              <a:chExt cx="228600" cy="1270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9201150" y="2717800"/>
                <a:ext cx="228599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27000">
                    <a:moveTo>
                      <a:pt x="0" y="127000"/>
                    </a:moveTo>
                    <a:lnTo>
                      <a:pt x="76200" y="50800"/>
                    </a:lnTo>
                    <a:lnTo>
                      <a:pt x="127000" y="101600"/>
                    </a:lnTo>
                    <a:lnTo>
                      <a:pt x="228599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340850" y="27178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9151620" y="3312795"/>
              <a:ext cx="4609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KPI · 04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49715" y="36204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Georgia"/>
                  <a:ea typeface="SimSun"/>
                  <a:cs typeface="Georgia"/>
                </a:rPr>
                <a:t>次日留存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9109710" y="4004310"/>
              <a:ext cx="1200150" cy="853440"/>
              <a:chOff x="9109710" y="4004310"/>
              <a:chExt cx="1200150" cy="853440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9109710" y="40043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70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008870" y="4198620"/>
                <a:ext cx="300990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B2A4A"/>
                    </a:solidFill>
                    <a:latin typeface="Georgia"/>
                    <a:ea typeface="SimSun"/>
                    <a:cs typeface="Georgia"/>
                  </a:rPr>
                  <a:t>%</a:t>
                </a:r>
              </a:p>
            </p:txBody>
          </p:sp>
        </p:grpSp>
        <p:sp>
          <p:nvSpPr>
            <p:cNvPr id="63" name="Line 63"/>
            <p:cNvSpPr/>
            <p:nvPr/>
          </p:nvSpPr>
          <p:spPr>
            <a:xfrm>
              <a:off x="9163050" y="461010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D6282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50668" y="4733449"/>
              <a:ext cx="1246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Next-day retention</a:t>
              </a:r>
            </a:p>
          </p:txBody>
        </p:sp>
      </p:grpSp>
      <p:sp>
        <p:nvSpPr>
          <p:cNvPr id="66" name="Rectangle 66"/>
          <p:cNvSpPr/>
          <p:nvPr/>
        </p:nvSpPr>
        <p:spPr>
          <a:xfrm>
            <a:off x="609600" y="5295900"/>
            <a:ext cx="10858500" cy="60960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914400" y="5499100"/>
            <a:ext cx="228600" cy="212724"/>
            <a:chOff x="914400" y="5499100"/>
            <a:chExt cx="228600" cy="212724"/>
          </a:xfrm>
        </p:grpSpPr>
        <p:sp>
          <p:nvSpPr>
            <p:cNvPr id="67" name="Freeform 67"/>
            <p:cNvSpPr/>
            <p:nvPr/>
          </p:nvSpPr>
          <p:spPr>
            <a:xfrm>
              <a:off x="914400" y="5600700"/>
              <a:ext cx="76200" cy="101600"/>
            </a:xfrm>
            <a:custGeom>
              <a:avLst/>
              <a:gdLst/>
              <a:ahLst/>
              <a:cxnLst/>
              <a:rect l="l" t="t" r="r" b="b"/>
              <a:pathLst>
                <a:path w="76200" h="101600">
                  <a:moveTo>
                    <a:pt x="0" y="12700"/>
                  </a:moveTo>
                  <a:cubicBezTo>
                    <a:pt x="0" y="5686"/>
                    <a:pt x="5686" y="0"/>
                    <a:pt x="12700" y="0"/>
                  </a:cubicBezTo>
                  <a:lnTo>
                    <a:pt x="63500" y="0"/>
                  </a:lnTo>
                  <a:cubicBezTo>
                    <a:pt x="70514" y="0"/>
                    <a:pt x="76200" y="5686"/>
                    <a:pt x="76200" y="12700"/>
                  </a:cubicBezTo>
                  <a:lnTo>
                    <a:pt x="76200" y="88900"/>
                  </a:lnTo>
                  <a:cubicBezTo>
                    <a:pt x="76200" y="95914"/>
                    <a:pt x="70514" y="101600"/>
                    <a:pt x="63500" y="101600"/>
                  </a:cubicBezTo>
                  <a:lnTo>
                    <a:pt x="12700" y="101600"/>
                  </a:lnTo>
                  <a:cubicBezTo>
                    <a:pt x="5686" y="101600"/>
                    <a:pt x="0" y="95914"/>
                    <a:pt x="0" y="88900"/>
                  </a:cubicBezTo>
                  <a:lnTo>
                    <a:pt x="0" y="12700"/>
                  </a:lnTo>
                </a:path>
              </a:pathLst>
            </a:custGeom>
            <a:noFill/>
            <a:ln w="19050">
              <a:solidFill>
                <a:srgbClr val="F5F5F0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1066800" y="55499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12700"/>
                  </a:moveTo>
                  <a:cubicBezTo>
                    <a:pt x="0" y="5686"/>
                    <a:pt x="5686" y="0"/>
                    <a:pt x="12700" y="0"/>
                  </a:cubicBezTo>
                  <a:lnTo>
                    <a:pt x="63500" y="0"/>
                  </a:lnTo>
                  <a:cubicBezTo>
                    <a:pt x="70514" y="0"/>
                    <a:pt x="76200" y="5686"/>
                    <a:pt x="76200" y="12700"/>
                  </a:cubicBezTo>
                  <a:lnTo>
                    <a:pt x="76200" y="139700"/>
                  </a:lnTo>
                  <a:cubicBezTo>
                    <a:pt x="76200" y="146714"/>
                    <a:pt x="70514" y="152400"/>
                    <a:pt x="63500" y="152400"/>
                  </a:cubicBezTo>
                  <a:lnTo>
                    <a:pt x="12700" y="152400"/>
                  </a:lnTo>
                  <a:cubicBezTo>
                    <a:pt x="5686" y="152400"/>
                    <a:pt x="0" y="146714"/>
                    <a:pt x="0" y="139700"/>
                  </a:cubicBezTo>
                  <a:lnTo>
                    <a:pt x="0" y="12700"/>
                  </a:lnTo>
                </a:path>
              </a:pathLst>
            </a:custGeom>
            <a:noFill/>
            <a:ln w="19050">
              <a:solidFill>
                <a:srgbClr val="F5F5F0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990600" y="5499100"/>
              <a:ext cx="76200" cy="203199"/>
            </a:xfrm>
            <a:custGeom>
              <a:avLst/>
              <a:gdLst/>
              <a:ahLst/>
              <a:cxnLst/>
              <a:rect l="l" t="t" r="r" b="b"/>
              <a:pathLst>
                <a:path w="76200" h="203199">
                  <a:moveTo>
                    <a:pt x="0" y="12700"/>
                  </a:moveTo>
                  <a:cubicBezTo>
                    <a:pt x="0" y="5686"/>
                    <a:pt x="5686" y="0"/>
                    <a:pt x="12700" y="0"/>
                  </a:cubicBezTo>
                  <a:lnTo>
                    <a:pt x="63500" y="0"/>
                  </a:lnTo>
                  <a:cubicBezTo>
                    <a:pt x="70514" y="0"/>
                    <a:pt x="76200" y="5686"/>
                    <a:pt x="76200" y="12700"/>
                  </a:cubicBezTo>
                  <a:lnTo>
                    <a:pt x="76200" y="190500"/>
                  </a:lnTo>
                  <a:cubicBezTo>
                    <a:pt x="76200" y="197514"/>
                    <a:pt x="70514" y="203199"/>
                    <a:pt x="63500" y="203199"/>
                  </a:cubicBezTo>
                  <a:lnTo>
                    <a:pt x="12700" y="203199"/>
                  </a:lnTo>
                  <a:cubicBezTo>
                    <a:pt x="5686" y="203199"/>
                    <a:pt x="0" y="197514"/>
                    <a:pt x="0" y="190500"/>
                  </a:cubicBezTo>
                  <a:lnTo>
                    <a:pt x="0" y="12700"/>
                  </a:lnTo>
                </a:path>
              </a:pathLst>
            </a:custGeom>
            <a:noFill/>
            <a:ln w="19050">
              <a:solidFill>
                <a:srgbClr val="F5F5F0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927100" y="5702299"/>
              <a:ext cx="177800" cy="9525"/>
            </a:xfrm>
            <a:custGeom>
              <a:avLst/>
              <a:gdLst/>
              <a:ahLst/>
              <a:cxnLst/>
              <a:rect l="l" t="t" r="r" b="b"/>
              <a:pathLst>
                <a:path w="177800" h="9525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noFill/>
            <a:ln w="19050">
              <a:solidFill>
                <a:srgbClr val="F5F5F0"/>
              </a:solidFill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1392555" y="5438299"/>
            <a:ext cx="3733752" cy="462439"/>
            <a:chOff x="1392555" y="5438299"/>
            <a:chExt cx="3733752" cy="462439"/>
          </a:xfrm>
        </p:grpSpPr>
        <p:sp>
          <p:nvSpPr>
            <p:cNvPr id="72" name="TextBox 72"/>
            <p:cNvSpPr txBox="1"/>
            <p:nvPr/>
          </p:nvSpPr>
          <p:spPr>
            <a:xfrm>
              <a:off x="1397318" y="5438299"/>
              <a:ext cx="694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BENCHMARK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392555" y="5626418"/>
              <a:ext cx="37337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对标行业 Top 10%；以 W12 灰度评测闭环验证</a:t>
              </a:r>
            </a:p>
          </p:txBody>
        </p:sp>
      </p:grpSp>
      <p:sp>
        <p:nvSpPr>
          <p:cNvPr id="75" name="Line 75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78" name="Group 78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76" name="TextBox 76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06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802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06 · ROADMAP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07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9120" y="1074420"/>
            <a:ext cx="327016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实施路径 — 12 周落地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15240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94360" y="1718310"/>
            <a:ext cx="25908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6B6B"/>
                </a:solidFill>
                <a:latin typeface="Segoe UI"/>
                <a:ea typeface="Microsoft YaHei"/>
                <a:cs typeface="Segoe UI"/>
              </a:rPr>
              <a:t>四阶段并行交付、阶段评审滚动推进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" y="3619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solidFill>
              <a:srgbClr val="0B2A4A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1465898" y="2874645"/>
            <a:ext cx="878205" cy="1554480"/>
            <a:chOff x="1465898" y="2874645"/>
            <a:chExt cx="878205" cy="1554480"/>
          </a:xfrm>
        </p:grpSpPr>
        <p:sp>
          <p:nvSpPr>
            <p:cNvPr id="12" name="Ellipse 12"/>
            <p:cNvSpPr/>
            <p:nvPr/>
          </p:nvSpPr>
          <p:spPr>
            <a:xfrm>
              <a:off x="1771650" y="3486150"/>
              <a:ext cx="266700" cy="266700"/>
            </a:xfrm>
            <a:prstGeom prst="ellipse">
              <a:avLst/>
            </a:prstGeom>
            <a:solidFill>
              <a:srgbClr val="F5F5F0"/>
            </a:solidFill>
            <a:ln w="28575">
              <a:solidFill>
                <a:srgbClr val="0B2A4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51235" y="35633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905000" y="37719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rgbClr val="0B2A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68542" y="4246245"/>
              <a:ext cx="4729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W1 – W3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4539" y="2874645"/>
              <a:ext cx="520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PHASE 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65898" y="30575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能力搭建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23398" y="2874645"/>
            <a:ext cx="878205" cy="1554480"/>
            <a:chOff x="4323398" y="2874645"/>
            <a:chExt cx="878205" cy="1554480"/>
          </a:xfrm>
        </p:grpSpPr>
        <p:sp>
          <p:nvSpPr>
            <p:cNvPr id="19" name="Ellipse 19"/>
            <p:cNvSpPr/>
            <p:nvPr/>
          </p:nvSpPr>
          <p:spPr>
            <a:xfrm>
              <a:off x="4629150" y="3486150"/>
              <a:ext cx="266700" cy="266700"/>
            </a:xfrm>
            <a:prstGeom prst="ellipse">
              <a:avLst/>
            </a:prstGeom>
            <a:solidFill>
              <a:srgbClr val="F5F5F0"/>
            </a:solidFill>
            <a:ln w="28575">
              <a:solidFill>
                <a:srgbClr val="0B2A4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08735" y="35633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762500" y="37719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rgbClr val="0B2A4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26042" y="4246245"/>
              <a:ext cx="4729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W4 – W6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02039" y="2874645"/>
              <a:ext cx="520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PHASE 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23398" y="30575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体验打磨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180898" y="2874645"/>
            <a:ext cx="878205" cy="1554480"/>
            <a:chOff x="7180898" y="2874645"/>
            <a:chExt cx="878205" cy="1554480"/>
          </a:xfrm>
        </p:grpSpPr>
        <p:sp>
          <p:nvSpPr>
            <p:cNvPr id="26" name="Ellipse 26"/>
            <p:cNvSpPr/>
            <p:nvPr/>
          </p:nvSpPr>
          <p:spPr>
            <a:xfrm>
              <a:off x="7486650" y="3486150"/>
              <a:ext cx="266700" cy="266700"/>
            </a:xfrm>
            <a:prstGeom prst="ellipse">
              <a:avLst/>
            </a:prstGeom>
            <a:solidFill>
              <a:srgbClr val="F5F5F0"/>
            </a:solidFill>
            <a:ln w="28575">
              <a:solidFill>
                <a:srgbClr val="0B2A4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66235" y="35633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0" y="37719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rgbClr val="0B2A4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83542" y="4246245"/>
              <a:ext cx="4729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W7 – W9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59539" y="2874645"/>
              <a:ext cx="520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PHASE 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80898" y="30575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场景扩展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33384" y="2874645"/>
            <a:ext cx="1088231" cy="1554480"/>
            <a:chOff x="9933384" y="2874645"/>
            <a:chExt cx="1088231" cy="1554480"/>
          </a:xfrm>
        </p:grpSpPr>
        <p:sp>
          <p:nvSpPr>
            <p:cNvPr id="33" name="Ellipse 33"/>
            <p:cNvSpPr/>
            <p:nvPr/>
          </p:nvSpPr>
          <p:spPr>
            <a:xfrm>
              <a:off x="10344150" y="3486150"/>
              <a:ext cx="266700" cy="266700"/>
            </a:xfrm>
            <a:prstGeom prst="ellipse">
              <a:avLst/>
            </a:prstGeom>
            <a:solidFill>
              <a:srgbClr val="D62828"/>
            </a:solidFill>
            <a:ln w="28575">
              <a:solidFill>
                <a:srgbClr val="D6282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23735" y="35633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F5F0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10477500" y="37719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rgbClr val="D6282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75034" y="4246245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W10 – W12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17039" y="2874645"/>
              <a:ext cx="520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62828"/>
                  </a:solidFill>
                  <a:latin typeface="Arial"/>
                  <a:ea typeface="Microsoft YaHei"/>
                  <a:cs typeface="Arial"/>
                </a:rPr>
                <a:t>PHASE 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33384" y="30575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62828"/>
                  </a:solidFill>
                  <a:latin typeface="Georgia"/>
                  <a:ea typeface="SimSun"/>
                  <a:cs typeface="Georgia"/>
                </a:rPr>
                <a:t>灰度与评测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02496" y="4592002"/>
            <a:ext cx="9699498" cy="827723"/>
            <a:chOff x="1302496" y="4592002"/>
            <a:chExt cx="9699498" cy="827723"/>
          </a:xfrm>
        </p:grpSpPr>
        <p:sp>
          <p:nvSpPr>
            <p:cNvPr id="40" name="TextBox 40"/>
            <p:cNvSpPr txBox="1"/>
            <p:nvPr/>
          </p:nvSpPr>
          <p:spPr>
            <a:xfrm>
              <a:off x="1359598" y="4592002"/>
              <a:ext cx="10908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ASR / TTS 接入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12105" y="480155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基础对话管理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82114" y="501110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唤醒词工程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02496" y="5236845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Milestone: Demo 0.1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09623" y="4592002"/>
              <a:ext cx="705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声纹识别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39614" y="480155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个性化音色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9623" y="5011102"/>
              <a:ext cx="705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错峰唤醒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20991" y="5236845"/>
              <a:ext cx="1283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Milestone: 内部体验周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66085" y="45920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日程 / 天气 / 待办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97114" y="480155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冥想与呼吸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27105" y="50111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家庭场景联动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29498" y="5236845"/>
              <a:ext cx="11810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Milestone: Beta 0.9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84605" y="45920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62828"/>
                  </a:solidFill>
                  <a:latin typeface="Segoe UI"/>
                  <a:ea typeface="Microsoft YaHei"/>
                  <a:cs typeface="Segoe UI"/>
                </a:rPr>
                <a:t>· 真实用户测试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24623" y="4801552"/>
              <a:ext cx="705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62828"/>
                  </a:solidFill>
                  <a:latin typeface="Segoe UI"/>
                  <a:ea typeface="Microsoft YaHei"/>
                  <a:cs typeface="Segoe UI"/>
                </a:rPr>
                <a:t>· 质量闭环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54614" y="501110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62828"/>
                  </a:solidFill>
                  <a:latin typeface="Segoe UI"/>
                  <a:ea typeface="Microsoft YaHei"/>
                  <a:cs typeface="Segoe UI"/>
                </a:rPr>
                <a:t>· 评测与发布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53006" y="5236845"/>
              <a:ext cx="10489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Milestone: GA 1.0</a:t>
              </a:r>
            </a:p>
          </p:txBody>
        </p:sp>
      </p:grpSp>
      <p:sp>
        <p:nvSpPr>
          <p:cNvPr id="57" name="Rectangle 57"/>
          <p:cNvSpPr/>
          <p:nvPr/>
        </p:nvSpPr>
        <p:spPr>
          <a:xfrm>
            <a:off x="609600" y="5676900"/>
            <a:ext cx="10858500" cy="38100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863918" y="5811202"/>
            <a:ext cx="5536263" cy="213360"/>
            <a:chOff x="863918" y="5811202"/>
            <a:chExt cx="5536263" cy="213360"/>
          </a:xfrm>
        </p:grpSpPr>
        <p:sp>
          <p:nvSpPr>
            <p:cNvPr id="58" name="TextBox 58"/>
            <p:cNvSpPr txBox="1"/>
            <p:nvPr/>
          </p:nvSpPr>
          <p:spPr>
            <a:xfrm>
              <a:off x="863918" y="5819299"/>
              <a:ext cx="408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SCOPE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605915" y="5811202"/>
              <a:ext cx="47942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研发 6 人 · 设计 2 人 · 测试 2 人 · 产品 1 人；按周迭代，阶段评审滚动推进</a:t>
              </a:r>
            </a:p>
          </p:txBody>
        </p:sp>
      </p:grpSp>
      <p:sp>
        <p:nvSpPr>
          <p:cNvPr id="61" name="Line 61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64" name="Group 64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07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5929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07 · RISKS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08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9120" y="1074420"/>
            <a:ext cx="174117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风险与对策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15240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94360" y="1718310"/>
            <a:ext cx="24547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6B6B"/>
                </a:solidFill>
                <a:latin typeface="Segoe UI"/>
                <a:ea typeface="Microsoft YaHei"/>
                <a:cs typeface="Segoe UI"/>
              </a:rPr>
              <a:t>四类主要风险 · 各自配套应对策略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09600" y="2190750"/>
            <a:ext cx="10858500" cy="533400"/>
            <a:chOff x="609600" y="2190750"/>
            <a:chExt cx="10858500" cy="533400"/>
          </a:xfrm>
        </p:grpSpPr>
        <p:sp>
          <p:nvSpPr>
            <p:cNvPr id="11" name="Rectangle 11"/>
            <p:cNvSpPr/>
            <p:nvPr/>
          </p:nvSpPr>
          <p:spPr>
            <a:xfrm>
              <a:off x="609600" y="2190750"/>
              <a:ext cx="3619500" cy="5334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229100" y="2190750"/>
              <a:ext cx="3619500" cy="5334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48600" y="2190750"/>
              <a:ext cx="3619500" cy="5334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59155" y="2303145"/>
              <a:ext cx="8263699" cy="416243"/>
              <a:chOff x="859155" y="2303145"/>
              <a:chExt cx="8263699" cy="41624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64870" y="2303145"/>
                <a:ext cx="634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RISK · 风险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9155" y="2445068"/>
                <a:ext cx="39433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类型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84370" y="2303145"/>
                <a:ext cx="11630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SCENARIO · 触发场景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478655" y="2445068"/>
                <a:ext cx="39433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场景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03870" y="2303145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MITIGATION · 对策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98155" y="24450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应对策略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609600" y="2724150"/>
            <a:ext cx="10858500" cy="723900"/>
            <a:chOff x="609600" y="2724150"/>
            <a:chExt cx="10858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609600" y="2724150"/>
              <a:ext cx="36195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29100" y="2724150"/>
              <a:ext cx="36195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48600" y="2724150"/>
              <a:ext cx="36195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23528" y="3016250"/>
              <a:ext cx="172244" cy="177800"/>
              <a:chOff x="923528" y="3016250"/>
              <a:chExt cx="172244" cy="177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31863" y="3038475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09650" y="3082925"/>
                <a:ext cx="222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338">
                    <a:moveTo>
                      <a:pt x="0" y="0"/>
                    </a:moveTo>
                    <a:lnTo>
                      <a:pt x="0" y="33338"/>
                    </a:lnTo>
                    <a:lnTo>
                      <a:pt x="22225" y="33338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3528" y="3016250"/>
                <a:ext cx="30559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0559" h="22225">
                    <a:moveTo>
                      <a:pt x="30559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65213" y="3016250"/>
                <a:ext cx="30559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0559" h="22225">
                    <a:moveTo>
                      <a:pt x="0" y="0"/>
                    </a:moveTo>
                    <a:lnTo>
                      <a:pt x="30559" y="22225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45870" y="29889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62828"/>
                  </a:solidFill>
                  <a:latin typeface="Segoe UI"/>
                  <a:ea typeface="Microsoft YaHei"/>
                  <a:cs typeface="Segoe UI"/>
                </a:rPr>
                <a:t>R · 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8250" y="31337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误唤醒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81512" y="2907506"/>
              <a:ext cx="1101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电视 / 家人对话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83418" y="31332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误触发闹钟或指令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1012" y="2907506"/>
              <a:ext cx="1551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多模态确认 + 声纹验证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2918" y="3133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仅授权用户响应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3448050"/>
            <a:ext cx="10858500" cy="723900"/>
            <a:chOff x="609600" y="3448050"/>
            <a:chExt cx="10858500" cy="723900"/>
          </a:xfrm>
        </p:grpSpPr>
        <p:sp>
          <p:nvSpPr>
            <p:cNvPr id="37" name="Rectangle 37"/>
            <p:cNvSpPr/>
            <p:nvPr/>
          </p:nvSpPr>
          <p:spPr>
            <a:xfrm>
              <a:off x="609600" y="3448050"/>
              <a:ext cx="36195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229100" y="3448050"/>
              <a:ext cx="36195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848600" y="3448050"/>
              <a:ext cx="36195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31863" y="3729038"/>
              <a:ext cx="155575" cy="200025"/>
              <a:chOff x="931863" y="3729038"/>
              <a:chExt cx="155575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31863" y="381793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98538" y="38623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65200" y="37290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245870" y="37128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62828"/>
                  </a:solidFill>
                  <a:latin typeface="Segoe UI"/>
                  <a:ea typeface="Microsoft YaHei"/>
                  <a:cs typeface="Segoe UI"/>
                </a:rPr>
                <a:t>R · 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38250" y="38576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隐私担忧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81512" y="36314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敏感对话 / 个人信息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83418" y="38571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用户对录音的顾虑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01012" y="363140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端侧预处理 + 最小化上云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02918" y="38571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明确本地化能力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4171950"/>
            <a:ext cx="10858500" cy="723900"/>
            <a:chOff x="609600" y="4171950"/>
            <a:chExt cx="10858500" cy="723900"/>
          </a:xfrm>
        </p:grpSpPr>
        <p:sp>
          <p:nvSpPr>
            <p:cNvPr id="51" name="Rectangle 51"/>
            <p:cNvSpPr/>
            <p:nvPr/>
          </p:nvSpPr>
          <p:spPr>
            <a:xfrm>
              <a:off x="609600" y="4171950"/>
              <a:ext cx="36195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229100" y="4171950"/>
              <a:ext cx="36195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848600" y="4171950"/>
              <a:ext cx="36195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31863" y="4452938"/>
              <a:ext cx="155575" cy="200026"/>
            </a:xfrm>
            <a:custGeom>
              <a:avLst/>
              <a:gdLst/>
              <a:ahLst/>
              <a:cxnLst/>
              <a:rect l="l" t="t" r="r" b="b"/>
              <a:pathLst>
                <a:path w="155575" h="200026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6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D6282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45870" y="4436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62828"/>
                  </a:solidFill>
                  <a:latin typeface="Segoe UI"/>
                  <a:ea typeface="Microsoft YaHei"/>
                  <a:cs typeface="Segoe UI"/>
                </a:rPr>
                <a:t>R · 03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238250" y="45815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延迟与中断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81512" y="4355306"/>
              <a:ext cx="8011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弱网 / 断电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83418" y="45810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关键指令无法送达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01012" y="435530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离线兜底 + 关键指令缓存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02918" y="45810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保证基础闹铃 100% 可靠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4895850"/>
            <a:ext cx="10858500" cy="723900"/>
            <a:chOff x="609600" y="4895850"/>
            <a:chExt cx="10858500" cy="723900"/>
          </a:xfrm>
        </p:grpSpPr>
        <p:sp>
          <p:nvSpPr>
            <p:cNvPr id="62" name="Rectangle 62"/>
            <p:cNvSpPr/>
            <p:nvPr/>
          </p:nvSpPr>
          <p:spPr>
            <a:xfrm>
              <a:off x="609600" y="4895850"/>
              <a:ext cx="36195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4229100" y="4895850"/>
              <a:ext cx="36195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848600" y="4895850"/>
              <a:ext cx="36195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931863" y="5165725"/>
              <a:ext cx="155575" cy="220663"/>
              <a:chOff x="931863" y="5165725"/>
              <a:chExt cx="155575" cy="22066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76313" y="5165725"/>
                <a:ext cx="6667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22238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lnTo>
                      <a:pt x="66675" y="88900"/>
                    </a:lnTo>
                    <a:cubicBezTo>
                      <a:pt x="66675" y="107312"/>
                      <a:pt x="51749" y="122238"/>
                      <a:pt x="33338" y="122238"/>
                    </a:cubicBezTo>
                    <a:cubicBezTo>
                      <a:pt x="14926" y="122238"/>
                      <a:pt x="0" y="107312"/>
                      <a:pt x="0" y="88900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31863" y="5254625"/>
                <a:ext cx="15557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77788">
                    <a:moveTo>
                      <a:pt x="0" y="0"/>
                    </a:moveTo>
                    <a:cubicBezTo>
                      <a:pt x="0" y="42961"/>
                      <a:pt x="34827" y="77788"/>
                      <a:pt x="77788" y="77788"/>
                    </a:cubicBezTo>
                    <a:cubicBezTo>
                      <a:pt x="120749" y="77788"/>
                      <a:pt x="155575" y="42961"/>
                      <a:pt x="155575" y="0"/>
                    </a:cubicBez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65200" y="537686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009650" y="53324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6282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245870" y="51606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62828"/>
                  </a:solidFill>
                  <a:latin typeface="Segoe UI"/>
                  <a:ea typeface="Microsoft YaHei"/>
                  <a:cs typeface="Segoe UI"/>
                </a:rPr>
                <a:t>R · 04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238250" y="530542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口音 / 方言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481512" y="50792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带口音用户识别率低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483418" y="53049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影响整体体验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101012" y="5079206"/>
              <a:ext cx="1551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自适应训练 + 持续学习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102918" y="53049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用户反馈驱动迭代</a:t>
              </a:r>
            </a:p>
          </p:txBody>
        </p:sp>
      </p:grpSp>
      <p:sp>
        <p:nvSpPr>
          <p:cNvPr id="77" name="Line 77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80" name="Group 80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78" name="TextBox 78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08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802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08 · COMPARE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09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9120" y="1074420"/>
            <a:ext cx="370701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现有闹钟 vs AI 语音闹钟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15240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94360" y="17183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6B6B"/>
                </a:solidFill>
                <a:latin typeface="Segoe UI"/>
                <a:ea typeface="Microsoft YaHei"/>
                <a:cs typeface="Segoe UI"/>
              </a:rPr>
              <a:t>四个核心维度的对比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9600" y="2095500"/>
            <a:ext cx="10972800" cy="471488"/>
            <a:chOff x="609600" y="2095500"/>
            <a:chExt cx="10972800" cy="471488"/>
          </a:xfrm>
        </p:grpSpPr>
        <p:sp>
          <p:nvSpPr>
            <p:cNvPr id="11" name="Rectangle 11"/>
            <p:cNvSpPr/>
            <p:nvPr/>
          </p:nvSpPr>
          <p:spPr>
            <a:xfrm>
              <a:off x="609600" y="2095500"/>
              <a:ext cx="5143500" cy="457200"/>
            </a:xfrm>
            <a:prstGeom prst="rect">
              <a:avLst/>
            </a:prstGeom>
            <a:solidFill>
              <a:srgbClr val="9CA3A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943600" y="2095500"/>
              <a:ext cx="5638800" cy="4572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59155" y="2188845"/>
              <a:ext cx="6295406" cy="378143"/>
              <a:chOff x="859155" y="2188845"/>
              <a:chExt cx="6295406" cy="37814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64870" y="2188845"/>
                <a:ext cx="4909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0"/>
                    </a:solidFill>
                    <a:latin typeface="Arial"/>
                    <a:ea typeface="Microsoft YaHei"/>
                    <a:cs typeface="Arial"/>
                  </a:rPr>
                  <a:t>EXISTING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59155" y="22926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现有闹钟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198870" y="2188845"/>
                <a:ext cx="5989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PROPOSED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193155" y="2292668"/>
                <a:ext cx="96140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5F5F0"/>
                    </a:solidFill>
                    <a:latin typeface="Segoe UI"/>
                    <a:ea typeface="Microsoft YaHei"/>
                    <a:cs typeface="Segoe UI"/>
                  </a:rPr>
                  <a:t>AI 语音闹钟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09600" y="2552700"/>
            <a:ext cx="10972800" cy="785812"/>
            <a:chOff x="609600" y="2552700"/>
            <a:chExt cx="10972800" cy="785812"/>
          </a:xfrm>
        </p:grpSpPr>
        <p:sp>
          <p:nvSpPr>
            <p:cNvPr id="19" name="Rectangle 19"/>
            <p:cNvSpPr/>
            <p:nvPr/>
          </p:nvSpPr>
          <p:spPr>
            <a:xfrm>
              <a:off x="609600" y="2552700"/>
              <a:ext cx="51435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943600" y="2552700"/>
              <a:ext cx="56388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5822" y="274939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DIMENSION · 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9155" y="2940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交互方式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965" y="31251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按键 · 固定铃声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99822" y="274939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62828"/>
                  </a:solidFill>
                  <a:latin typeface="Arial"/>
                  <a:ea typeface="Microsoft YaHei"/>
                  <a:cs typeface="Arial"/>
                </a:rPr>
                <a:t>DIMENSION · 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93155" y="2940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交互方式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96965" y="31251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自然语言 · 智能响应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3276600"/>
            <a:ext cx="10972800" cy="785812"/>
            <a:chOff x="609600" y="3276600"/>
            <a:chExt cx="10972800" cy="785812"/>
          </a:xfrm>
        </p:grpSpPr>
        <p:sp>
          <p:nvSpPr>
            <p:cNvPr id="28" name="Rectangle 28"/>
            <p:cNvSpPr/>
            <p:nvPr/>
          </p:nvSpPr>
          <p:spPr>
            <a:xfrm>
              <a:off x="609600" y="3276600"/>
              <a:ext cx="51435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943600" y="3276600"/>
              <a:ext cx="56388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5822" y="347329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DIMENSION · 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9155" y="3664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信息密度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2965" y="38490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单一闹铃触发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99822" y="347329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62828"/>
                  </a:solidFill>
                  <a:latin typeface="Arial"/>
                  <a:ea typeface="Microsoft YaHei"/>
                  <a:cs typeface="Arial"/>
                </a:rPr>
                <a:t>DIMENSION · 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93155" y="3664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信息密度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96965" y="3849052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天气 / 日程 / 待办 一次交付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4000500"/>
            <a:ext cx="10972800" cy="785812"/>
            <a:chOff x="609600" y="4000500"/>
            <a:chExt cx="10972800" cy="785812"/>
          </a:xfrm>
        </p:grpSpPr>
        <p:sp>
          <p:nvSpPr>
            <p:cNvPr id="37" name="Rectangle 37"/>
            <p:cNvSpPr/>
            <p:nvPr/>
          </p:nvSpPr>
          <p:spPr>
            <a:xfrm>
              <a:off x="609600" y="4000500"/>
              <a:ext cx="51435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43600" y="4000500"/>
              <a:ext cx="56388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5822" y="419719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DIMENSION · 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9155" y="43881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个性化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2965" y="45729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统一样式 · 全员相同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99822" y="419719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62828"/>
                  </a:solidFill>
                  <a:latin typeface="Arial"/>
                  <a:ea typeface="Microsoft YaHei"/>
                  <a:cs typeface="Arial"/>
                </a:rPr>
                <a:t>DIMENSION · 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93155" y="43881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个性化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96965" y="457295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声纹 · 节律 · 偏好自适应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4724400"/>
            <a:ext cx="10972800" cy="785812"/>
            <a:chOff x="609600" y="4724400"/>
            <a:chExt cx="10972800" cy="785812"/>
          </a:xfrm>
        </p:grpSpPr>
        <p:sp>
          <p:nvSpPr>
            <p:cNvPr id="46" name="Rectangle 46"/>
            <p:cNvSpPr/>
            <p:nvPr/>
          </p:nvSpPr>
          <p:spPr>
            <a:xfrm>
              <a:off x="609600" y="4724400"/>
              <a:ext cx="51435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943600" y="4724400"/>
              <a:ext cx="5638800" cy="723900"/>
            </a:xfrm>
            <a:prstGeom prst="rect">
              <a:avLst/>
            </a:prstGeom>
            <a:solidFill>
              <a:srgbClr val="F5F5F0"/>
            </a:solidFill>
            <a:ln w="9525">
              <a:solidFill>
                <a:srgbClr val="D9D9D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5822" y="492109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DIMENSION · 04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9155" y="5112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可达性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2965" y="5296852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依赖视读 · 视障不友好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99822" y="492109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62828"/>
                  </a:solidFill>
                  <a:latin typeface="Arial"/>
                  <a:ea typeface="Microsoft YaHei"/>
                  <a:cs typeface="Arial"/>
                </a:rPr>
                <a:t>DIMENSION · 04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93155" y="5112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可达性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96965" y="52968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语音为主 · 视障 / 老年友好</a:t>
              </a:r>
            </a:p>
          </p:txBody>
        </p:sp>
      </p:grpSp>
      <p:sp>
        <p:nvSpPr>
          <p:cNvPr id="55" name="Rectangle 55"/>
          <p:cNvSpPr/>
          <p:nvPr/>
        </p:nvSpPr>
        <p:spPr>
          <a:xfrm>
            <a:off x="609600" y="5715000"/>
            <a:ext cx="10858500" cy="38100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863918" y="5849302"/>
            <a:ext cx="3832288" cy="213360"/>
            <a:chOff x="863918" y="5849302"/>
            <a:chExt cx="3832288" cy="213360"/>
          </a:xfrm>
        </p:grpSpPr>
        <p:sp>
          <p:nvSpPr>
            <p:cNvPr id="56" name="TextBox 56"/>
            <p:cNvSpPr txBox="1"/>
            <p:nvPr/>
          </p:nvSpPr>
          <p:spPr>
            <a:xfrm>
              <a:off x="863918" y="5857399"/>
              <a:ext cx="531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NET GAIN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01165" y="5849302"/>
              <a:ext cx="2995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从"按时响铃"到"听懂、记起、会说"的体验跃迁</a:t>
              </a:r>
            </a:p>
          </p:txBody>
        </p:sp>
      </p:grpSp>
      <p:sp>
        <p:nvSpPr>
          <p:cNvPr id="59" name="Line 59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62" name="Group 62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09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7645"/>
            <a:ext cx="10995660" cy="182880"/>
            <a:chOff x="598170" y="207645"/>
            <a:chExt cx="10995660" cy="182880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207645"/>
              <a:ext cx="748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09 · CLOSING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8920" y="207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10 / 10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0" y="47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0" y="476250"/>
            <a:ext cx="1143000" cy="58102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329284" y="1613535"/>
            <a:ext cx="484432" cy="548640"/>
            <a:chOff x="329284" y="1613535"/>
            <a:chExt cx="484432" cy="548640"/>
          </a:xfrm>
        </p:grpSpPr>
        <p:sp>
          <p:nvSpPr>
            <p:cNvPr id="9" name="TextBox 9"/>
            <p:cNvSpPr txBox="1"/>
            <p:nvPr/>
          </p:nvSpPr>
          <p:spPr>
            <a:xfrm>
              <a:off x="470261" y="1625441"/>
              <a:ext cx="202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END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9284" y="16135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5F5F0"/>
                  </a:solidFill>
                  <a:latin typeface="Georgia"/>
                  <a:ea typeface="SimSun"/>
                  <a:cs typeface="Georgia"/>
                </a:rPr>
                <a:t>10</a:t>
              </a:r>
            </a:p>
          </p:txBody>
        </p:sp>
      </p:grpSp>
      <p:sp>
        <p:nvSpPr>
          <p:cNvPr id="12" name="Line 12"/>
          <p:cNvSpPr/>
          <p:nvPr/>
        </p:nvSpPr>
        <p:spPr>
          <a:xfrm>
            <a:off x="381000" y="22860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D62828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395049" y="2569845"/>
            <a:ext cx="352901" cy="735330"/>
            <a:chOff x="395049" y="2569845"/>
            <a:chExt cx="352901" cy="735330"/>
          </a:xfrm>
        </p:grpSpPr>
        <p:sp>
          <p:nvSpPr>
            <p:cNvPr id="13" name="TextBox 13"/>
            <p:cNvSpPr txBox="1"/>
            <p:nvPr/>
          </p:nvSpPr>
          <p:spPr>
            <a:xfrm>
              <a:off x="440055" y="2569845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价值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0055" y="2760345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总结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0051" y="2950845"/>
              <a:ext cx="3228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Value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5049" y="3122295"/>
              <a:ext cx="3529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5F5F0"/>
                  </a:solidFill>
                  <a:latin typeface="Segoe UI"/>
                  <a:ea typeface="Microsoft YaHei"/>
                  <a:cs typeface="Segoe UI"/>
                </a:rPr>
                <a:t>Recap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93520" y="107442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B2A4A"/>
                </a:solidFill>
                <a:latin typeface="Georgia"/>
                <a:ea typeface="SimSun"/>
                <a:cs typeface="Georgia"/>
              </a:rPr>
              <a:t>价值总结</a:t>
            </a:r>
          </a:p>
        </p:txBody>
      </p:sp>
      <p:sp>
        <p:nvSpPr>
          <p:cNvPr id="19" name="Line 19"/>
          <p:cNvSpPr/>
          <p:nvPr/>
        </p:nvSpPr>
        <p:spPr>
          <a:xfrm>
            <a:off x="1524000" y="152400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D62828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1524000" y="1905000"/>
            <a:ext cx="4762500" cy="1524000"/>
            <a:chOff x="1524000" y="1905000"/>
            <a:chExt cx="4762500" cy="1524000"/>
          </a:xfrm>
        </p:grpSpPr>
        <p:sp>
          <p:nvSpPr>
            <p:cNvPr id="20" name="Rectangle 20"/>
            <p:cNvSpPr/>
            <p:nvPr/>
          </p:nvSpPr>
          <p:spPr>
            <a:xfrm>
              <a:off x="1524000" y="1905000"/>
              <a:ext cx="47625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24000" y="1905000"/>
              <a:ext cx="57150" cy="1524000"/>
            </a:xfrm>
            <a:prstGeom prst="rect">
              <a:avLst/>
            </a:prstGeom>
            <a:solidFill>
              <a:srgbClr val="D6282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938702" y="2257342"/>
              <a:ext cx="237165" cy="206458"/>
            </a:xfrm>
            <a:custGeom>
              <a:avLst/>
              <a:gdLst/>
              <a:ahLst/>
              <a:cxnLst/>
              <a:rect l="l" t="t" r="r" b="b"/>
              <a:pathLst>
                <a:path w="237165" h="206458">
                  <a:moveTo>
                    <a:pt x="213947" y="112122"/>
                  </a:moveTo>
                  <a:lnTo>
                    <a:pt x="118697" y="206458"/>
                  </a:lnTo>
                  <a:lnTo>
                    <a:pt x="23448" y="112122"/>
                  </a:lnTo>
                  <a:cubicBezTo>
                    <a:pt x="6319" y="95455"/>
                    <a:pt x="0" y="70581"/>
                    <a:pt x="7096" y="47759"/>
                  </a:cubicBezTo>
                  <a:cubicBezTo>
                    <a:pt x="14192" y="24937"/>
                    <a:pt x="33502" y="8033"/>
                    <a:pt x="57061" y="4016"/>
                  </a:cubicBezTo>
                  <a:cubicBezTo>
                    <a:pt x="80621" y="0"/>
                    <a:pt x="104441" y="9552"/>
                    <a:pt x="118697" y="28734"/>
                  </a:cubicBezTo>
                  <a:cubicBezTo>
                    <a:pt x="133014" y="9694"/>
                    <a:pt x="156782" y="269"/>
                    <a:pt x="180257" y="4323"/>
                  </a:cubicBezTo>
                  <a:cubicBezTo>
                    <a:pt x="203731" y="8376"/>
                    <a:pt x="222962" y="25228"/>
                    <a:pt x="230063" y="47966"/>
                  </a:cubicBezTo>
                  <a:cubicBezTo>
                    <a:pt x="237165" y="70705"/>
                    <a:pt x="230942" y="95506"/>
                    <a:pt x="213947" y="112198"/>
                  </a:cubicBezTo>
                </a:path>
              </a:pathLst>
            </a:custGeom>
            <a:noFill/>
            <a:ln w="19050">
              <a:solidFill>
                <a:srgbClr val="D6282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89822" y="23112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VALUE · 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9345" y="2507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体验升级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89760" y="2918460"/>
              <a:ext cx="16626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从"被叫醒"到"被服务"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92618" y="3171349"/>
              <a:ext cx="2150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Experience: served, not startled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72250" y="1905000"/>
            <a:ext cx="4762500" cy="1524000"/>
            <a:chOff x="6572250" y="1905000"/>
            <a:chExt cx="4762500" cy="1524000"/>
          </a:xfrm>
        </p:grpSpPr>
        <p:sp>
          <p:nvSpPr>
            <p:cNvPr id="28" name="Rectangle 28"/>
            <p:cNvSpPr/>
            <p:nvPr/>
          </p:nvSpPr>
          <p:spPr>
            <a:xfrm>
              <a:off x="6572250" y="1905000"/>
              <a:ext cx="47625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72250" y="1905000"/>
              <a:ext cx="57150" cy="15240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016750" y="224790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0B2A4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38072" y="23112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VALUE · 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7595" y="2507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效率提升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8010" y="29184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一次唤醒完成多项任务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40868" y="3171349"/>
              <a:ext cx="2170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Efficiency: many tasks, one wake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24000" y="3619500"/>
            <a:ext cx="4762500" cy="1524000"/>
            <a:chOff x="1524000" y="3619500"/>
            <a:chExt cx="4762500" cy="1524000"/>
          </a:xfrm>
        </p:grpSpPr>
        <p:sp>
          <p:nvSpPr>
            <p:cNvPr id="36" name="Rectangle 36"/>
            <p:cNvSpPr/>
            <p:nvPr/>
          </p:nvSpPr>
          <p:spPr>
            <a:xfrm>
              <a:off x="1524000" y="3619500"/>
              <a:ext cx="47625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24000" y="3619500"/>
              <a:ext cx="57150" cy="1524000"/>
            </a:xfrm>
            <a:prstGeom prst="rect">
              <a:avLst/>
            </a:prstGeom>
            <a:solidFill>
              <a:srgbClr val="1E88E5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943100" y="3962400"/>
              <a:ext cx="228599" cy="228600"/>
              <a:chOff x="1943100" y="3962400"/>
              <a:chExt cx="228599" cy="228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968500" y="39624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19050">
                <a:solidFill>
                  <a:srgbClr val="1E88E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943100" y="411480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19050">
                <a:solidFill>
                  <a:srgbClr val="1E88E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2108199" y="396405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19050">
                <a:solidFill>
                  <a:srgbClr val="1E88E5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2133599" y="411670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88E5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2389822" y="40257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VALUE · 03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79345" y="42224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用户普惠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89760" y="463296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覆盖更广泛人群（含视障、老年）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92618" y="4885849"/>
              <a:ext cx="18124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Inclusivity: accessible to all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572250" y="3619500"/>
            <a:ext cx="4762500" cy="1524000"/>
            <a:chOff x="6572250" y="3619500"/>
            <a:chExt cx="4762500" cy="1524000"/>
          </a:xfrm>
        </p:grpSpPr>
        <p:sp>
          <p:nvSpPr>
            <p:cNvPr id="48" name="Rectangle 48"/>
            <p:cNvSpPr/>
            <p:nvPr/>
          </p:nvSpPr>
          <p:spPr>
            <a:xfrm>
              <a:off x="6572250" y="3619500"/>
              <a:ext cx="47625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572250" y="3619500"/>
              <a:ext cx="57150" cy="1524000"/>
            </a:xfrm>
            <a:prstGeom prst="rect">
              <a:avLst/>
            </a:prstGeom>
            <a:solidFill>
              <a:srgbClr val="0B2A4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991350" y="3975100"/>
              <a:ext cx="228600" cy="212724"/>
              <a:chOff x="6991350" y="3975100"/>
              <a:chExt cx="228600" cy="21272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91350" y="407670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3750" y="40259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067550" y="397510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004050" y="417829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B2A4A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438072" y="40257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VALUE · 04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27595" y="42224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2A4A"/>
                  </a:solidFill>
                  <a:latin typeface="Georgia"/>
                  <a:ea typeface="SimSun"/>
                  <a:cs typeface="Georgia"/>
                </a:rPr>
                <a:t>数据护城河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38010" y="46329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长期偏好与节律成为产品护城河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40868" y="4885849"/>
              <a:ext cx="1409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Data: long-term moat</a:t>
              </a:r>
            </a:p>
          </p:txBody>
        </p:sp>
      </p:grpSp>
      <p:sp>
        <p:nvSpPr>
          <p:cNvPr id="60" name="Rectangle 60"/>
          <p:cNvSpPr/>
          <p:nvPr/>
        </p:nvSpPr>
        <p:spPr>
          <a:xfrm>
            <a:off x="1524000" y="5448300"/>
            <a:ext cx="9810750" cy="5715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1809750" y="5632450"/>
            <a:ext cx="215899" cy="203199"/>
          </a:xfrm>
          <a:custGeom>
            <a:avLst/>
            <a:gdLst/>
            <a:ahLst/>
            <a:cxnLst/>
            <a:rect l="l" t="t" r="r" b="b"/>
            <a:pathLst>
              <a:path w="215899" h="203199">
                <a:moveTo>
                  <a:pt x="165100" y="177800"/>
                </a:moveTo>
                <a:cubicBezTo>
                  <a:pt x="179128" y="177800"/>
                  <a:pt x="190500" y="189171"/>
                  <a:pt x="190500" y="203199"/>
                </a:cubicBezTo>
                <a:cubicBezTo>
                  <a:pt x="190500" y="189171"/>
                  <a:pt x="201871" y="177800"/>
                  <a:pt x="215899" y="177800"/>
                </a:cubicBezTo>
                <a:cubicBezTo>
                  <a:pt x="201871" y="177800"/>
                  <a:pt x="190500" y="166428"/>
                  <a:pt x="190500" y="152400"/>
                </a:cubicBezTo>
                <a:cubicBezTo>
                  <a:pt x="190500" y="166428"/>
                  <a:pt x="179128" y="177800"/>
                  <a:pt x="165100" y="177800"/>
                </a:cubicBezTo>
                <a:moveTo>
                  <a:pt x="165100" y="25400"/>
                </a:moveTo>
                <a:cubicBezTo>
                  <a:pt x="179128" y="25400"/>
                  <a:pt x="190500" y="36772"/>
                  <a:pt x="190500" y="50800"/>
                </a:cubicBezTo>
                <a:cubicBezTo>
                  <a:pt x="190500" y="36772"/>
                  <a:pt x="201871" y="25400"/>
                  <a:pt x="215899" y="25400"/>
                </a:cubicBezTo>
                <a:cubicBezTo>
                  <a:pt x="201871" y="25400"/>
                  <a:pt x="190500" y="14028"/>
                  <a:pt x="190500" y="0"/>
                </a:cubicBezTo>
                <a:cubicBezTo>
                  <a:pt x="190500" y="14028"/>
                  <a:pt x="179128" y="25400"/>
                  <a:pt x="165100" y="25400"/>
                </a:cubicBezTo>
                <a:moveTo>
                  <a:pt x="76200" y="177800"/>
                </a:moveTo>
                <a:cubicBezTo>
                  <a:pt x="76200" y="135716"/>
                  <a:pt x="110316" y="101600"/>
                  <a:pt x="152400" y="101600"/>
                </a:cubicBezTo>
                <a:cubicBezTo>
                  <a:pt x="110316" y="101600"/>
                  <a:pt x="76200" y="67484"/>
                  <a:pt x="76200" y="25400"/>
                </a:cubicBezTo>
                <a:cubicBezTo>
                  <a:pt x="76200" y="67484"/>
                  <a:pt x="42084" y="101600"/>
                  <a:pt x="0" y="101600"/>
                </a:cubicBezTo>
                <a:cubicBezTo>
                  <a:pt x="42084" y="101600"/>
                  <a:pt x="76200" y="135716"/>
                  <a:pt x="76200" y="177800"/>
                </a:cubicBezTo>
              </a:path>
            </a:pathLst>
          </a:custGeom>
          <a:noFill/>
          <a:ln w="19050">
            <a:solidFill>
              <a:srgbClr val="F5F5F0"/>
            </a:solidFill>
          </a:ln>
        </p:spPr>
      </p:sp>
      <p:grpSp>
        <p:nvGrpSpPr>
          <p:cNvPr id="64" name="Group 64"/>
          <p:cNvGrpSpPr/>
          <p:nvPr/>
        </p:nvGrpSpPr>
        <p:grpSpPr>
          <a:xfrm>
            <a:off x="2266950" y="5541645"/>
            <a:ext cx="3419523" cy="468630"/>
            <a:chOff x="2266950" y="5541645"/>
            <a:chExt cx="3419523" cy="468630"/>
          </a:xfrm>
        </p:grpSpPr>
        <p:sp>
          <p:nvSpPr>
            <p:cNvPr id="62" name="TextBox 62"/>
            <p:cNvSpPr txBox="1"/>
            <p:nvPr/>
          </p:nvSpPr>
          <p:spPr>
            <a:xfrm>
              <a:off x="2274570" y="55416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F5F0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CALL TO ACTION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266950" y="5705475"/>
              <a:ext cx="34195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F5F0"/>
                  </a:solidFill>
                  <a:latin typeface="Georgia"/>
                  <a:ea typeface="SimSun"/>
                  <a:cs typeface="Georgia"/>
                </a:rPr>
                <a:t>让我们一起，把闹钟变成"晨间助理"</a:t>
              </a:r>
            </a:p>
          </p:txBody>
        </p:sp>
      </p:grpSp>
      <p:sp>
        <p:nvSpPr>
          <p:cNvPr id="65" name="Line 65"/>
          <p:cNvSpPr/>
          <p:nvPr/>
        </p:nvSpPr>
        <p:spPr>
          <a:xfrm>
            <a:off x="609600" y="6286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9D2"/>
            </a:solidFill>
          </a:ln>
        </p:spPr>
      </p:sp>
      <p:grpSp>
        <p:nvGrpSpPr>
          <p:cNvPr id="68" name="Group 68"/>
          <p:cNvGrpSpPr/>
          <p:nvPr/>
        </p:nvGrpSpPr>
        <p:grpSpPr>
          <a:xfrm>
            <a:off x="598170" y="6456045"/>
            <a:ext cx="10995660" cy="182880"/>
            <a:chOff x="598170" y="6456045"/>
            <a:chExt cx="10995660" cy="182880"/>
          </a:xfrm>
        </p:grpSpPr>
        <p:sp>
          <p:nvSpPr>
            <p:cNvPr id="66" name="TextBox 66"/>
            <p:cNvSpPr txBox="1"/>
            <p:nvPr/>
          </p:nvSpPr>
          <p:spPr>
            <a:xfrm>
              <a:off x="598170" y="64560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AI 语音闹钟 · 方案汇报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68920" y="64560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10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2026-06-21T11:47:23Z</dcterms:created>
  <dcterms:modified xsi:type="dcterms:W3CDTF">2026-06-21T11:47:23Z</dcterms:modified>
  <cp:category/>
  <cp:contentStatus/>
</cp:coreProperties>
</file>