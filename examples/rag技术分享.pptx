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各位同事好，今天我们用五页的篇幅，聊聊 RAG 知识库这个话题。我们会从概念讲起，看它如何处理企业里形态各异的文档，再走一遍它回答问题的完整流程，最后看四类典型应用场景。技术细节会点到为止，重点是把 RAG 解决什么问题、怎么落地说清楚。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我们先对齐一下 RAG 的定义。RAG 的全称是检索增强生成，它把"信息检索"和"大模型生成"结合在一起：模型不再只凭训练时学到的参数化记忆作答，而是先从外部知识库里检索与问题相关的片段，再基于这些片段生成答案。它主要解决三类问题：知识有时效，参数化记忆有截止日期；企业内部有大量私域数据，没法进入公网训练；以及每条结论都需要可溯源，附上来源才让人敢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接下来看真实企业知识库面对的数据。文本类的 Markdown、Word、PDF 都常见；结构化数据来自 Excel、数据库、API；图像、扫描件、截图需要 OCR；音视频要做 ASR 转写；代码仓库和文档片段也是重要来源。这些异构数据要进入知识库，必须经过五个统一步骤：解析，按格式选 loader；清洗，去噪、还原版式；切分，按语义或段落切 chunk；嵌入，用 Embedding 模型把文本变成向量；最后入库到向量数据库。期间还要把来源、更新时间、部门归属、访问级别等元数据一同写入，检索时按权限过滤，保证私域安全。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现在我们走一遍 RAG 是怎么回答问题的。流程分五步：第一步是 Query 理解，改写、扩写、提取关键实体；第二步是混合检索，向量检索捕捉语义，关键词检索兜底字面，两者并行提升召回；第三步是重排与过滤，用 Cross-encoder 做精排，再按权限、时效、相关度过滤；第四步是 Prompt 拼装，把 Top-K 片段和系统提示一起塞进上下文；最后是大模型生成，要求附上来源引用。工程上的关键点：检索质量决定了天花板，排序与过滤决定了准确率，Prompt 拼装决定了回答风格，生成环节要设计好拒答和回退路径。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最后我们看 RAG 的四类典型应用场景。按用户角色和任务复杂度划分：通用知识助手面向全员，处理 HR 政策、IT 指南、产品手册问答；专业领域问答面向工程师和分析师，做技术规范、代码片段、行业报告的精准引用；决策辅助与洞察面向管理者，做跨部门数据汇总、会议纪要到行动项的抽取、竞品与合规检索；流程自动化面向运营和客服，做工单自动归类与回复草稿、合同条款抽取与对比。四类场景共用一套检索与生成链路，本质上都是把会说话的大模型，变成会读你公司文档的同事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C0">
                    <a:alpha val="10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8A65">
                    <a:alpha val="8000"/>
                  </a:srgbClr>
                </a:gs>
                <a:gs pos="100000">
                  <a:srgbClr val="FF8A65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8165" y="648652"/>
            <a:ext cx="1592416" cy="313373"/>
            <a:chOff x="558165" y="648652"/>
            <a:chExt cx="1592416" cy="313373"/>
          </a:xfrm>
        </p:grpSpPr>
        <p:sp>
          <p:nvSpPr>
            <p:cNvPr id="7" name="TextBox 7"/>
            <p:cNvSpPr txBox="1"/>
            <p:nvPr/>
          </p:nvSpPr>
          <p:spPr>
            <a:xfrm>
              <a:off x="558165" y="648652"/>
              <a:ext cx="15924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RAG · KNOWLEDGE BASE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952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0540" y="2148840"/>
            <a:ext cx="6137072" cy="1508760"/>
            <a:chOff x="510540" y="2148840"/>
            <a:chExt cx="6137072" cy="1508760"/>
          </a:xfrm>
        </p:grpSpPr>
        <p:sp>
          <p:nvSpPr>
            <p:cNvPr id="10" name="TextBox 10"/>
            <p:cNvSpPr txBox="1"/>
            <p:nvPr/>
          </p:nvSpPr>
          <p:spPr>
            <a:xfrm>
              <a:off x="510540" y="2148840"/>
              <a:ext cx="613707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gradFill>
                    <a:gsLst>
                      <a:gs pos="0">
                        <a:srgbClr val="1565C0"/>
                      </a:gs>
                      <a:gs pos="100000">
                        <a:srgbClr val="0D47A1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RAG 知识库技术分享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1020" y="3169920"/>
              <a:ext cx="530321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多元异构数据处理 与 典型应用场景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3810000"/>
            <a:ext cx="1200150" cy="38100"/>
            <a:chOff x="571500" y="3810000"/>
            <a:chExt cx="1200150" cy="38100"/>
          </a:xfrm>
        </p:grpSpPr>
        <p:sp>
          <p:nvSpPr>
            <p:cNvPr id="13" name="Rectangle 13"/>
            <p:cNvSpPr/>
            <p:nvPr/>
          </p:nvSpPr>
          <p:spPr>
            <a:xfrm>
              <a:off x="571500" y="3810000"/>
              <a:ext cx="762000" cy="38100"/>
            </a:xfrm>
            <a:prstGeom prst="rect">
              <a:avLst/>
            </a:prstGeom>
            <a:solidFill>
              <a:srgbClr val="FF8A6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428750" y="3810000"/>
              <a:ext cx="190500" cy="38100"/>
            </a:xfrm>
            <a:prstGeom prst="rect">
              <a:avLst/>
            </a:prstGeom>
            <a:solidFill>
              <a:srgbClr val="26A6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714500" y="3810000"/>
              <a:ext cx="57150" cy="381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52450" y="4314825"/>
            <a:ext cx="2808446" cy="1447800"/>
            <a:chOff x="552450" y="4314825"/>
            <a:chExt cx="2808446" cy="1447800"/>
          </a:xfrm>
        </p:grpSpPr>
        <p:sp>
          <p:nvSpPr>
            <p:cNvPr id="17" name="TextBox 17"/>
            <p:cNvSpPr txBox="1"/>
            <p:nvPr/>
          </p:nvSpPr>
          <p:spPr>
            <a:xfrm>
              <a:off x="552450" y="4314825"/>
              <a:ext cx="18583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· 什么是 RAG 知识库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2450" y="4695825"/>
              <a:ext cx="28084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· 多元异构数据如何进入知识库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2450" y="5076825"/>
              <a:ext cx="21983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· RAG 检索增强生成流程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2450" y="5457825"/>
              <a:ext cx="14082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· 典型应用场景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8165" y="6363652"/>
            <a:ext cx="11075670" cy="213360"/>
            <a:chOff x="558165" y="6363652"/>
            <a:chExt cx="11075670" cy="213360"/>
          </a:xfrm>
        </p:grpSpPr>
        <p:sp>
          <p:nvSpPr>
            <p:cNvPr id="22" name="TextBox 22"/>
            <p:cNvSpPr txBox="1"/>
            <p:nvPr/>
          </p:nvSpPr>
          <p:spPr>
            <a:xfrm>
              <a:off x="558165" y="6363652"/>
              <a:ext cx="17768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技术分享 · 2026 · 内部交流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38106" y="6363652"/>
              <a:ext cx="4957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01 / 05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448550" y="1428750"/>
            <a:ext cx="3867150" cy="3695700"/>
            <a:chOff x="7448550" y="1428750"/>
            <a:chExt cx="3867150" cy="3695700"/>
          </a:xfrm>
        </p:grpSpPr>
        <p:sp>
          <p:nvSpPr>
            <p:cNvPr id="25" name="Ellipse 25"/>
            <p:cNvSpPr/>
            <p:nvPr/>
          </p:nvSpPr>
          <p:spPr>
            <a:xfrm>
              <a:off x="7715250" y="1428750"/>
              <a:ext cx="3238500" cy="3238500"/>
            </a:xfrm>
            <a:prstGeom prst="ellipse">
              <a:avLst/>
            </a:prstGeom>
            <a:solidFill>
              <a:srgbClr val="1565C0">
                <a:alpha val="6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191500" y="1905000"/>
              <a:ext cx="2286000" cy="2286000"/>
            </a:xfrm>
            <a:prstGeom prst="ellipse">
              <a:avLst/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667750" y="2381250"/>
              <a:ext cx="1333500" cy="1333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88321" y="268033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RAG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51069" y="32204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RETRIEVAL · AUGMENTED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448550" y="1543050"/>
              <a:ext cx="723900" cy="723900"/>
              <a:chOff x="7448550" y="1543050"/>
              <a:chExt cx="723900" cy="72390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7448550" y="1543050"/>
                <a:ext cx="723900" cy="723900"/>
              </a:xfrm>
              <a:prstGeom prst="ellipse">
                <a:avLst/>
              </a:prstGeom>
              <a:solidFill>
                <a:srgbClr val="FF8A65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86437" y="1819275"/>
                <a:ext cx="24812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检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0591800" y="1733550"/>
              <a:ext cx="723900" cy="723900"/>
              <a:chOff x="10591800" y="1733550"/>
              <a:chExt cx="723900" cy="723900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10591800" y="1733550"/>
                <a:ext cx="723900" cy="723900"/>
              </a:xfrm>
              <a:prstGeom prst="ellipse">
                <a:avLst/>
              </a:prstGeom>
              <a:solidFill>
                <a:srgbClr val="26A69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829687" y="2009775"/>
                <a:ext cx="24812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增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7448550" y="4400550"/>
              <a:ext cx="723900" cy="723900"/>
              <a:chOff x="7448550" y="4400550"/>
              <a:chExt cx="723900" cy="72390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7448550" y="4400550"/>
                <a:ext cx="723900" cy="723900"/>
              </a:xfrm>
              <a:prstGeom prst="ellipse">
                <a:avLst/>
              </a:prstGeom>
              <a:solidFill>
                <a:srgbClr val="26A69A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686437" y="4676775"/>
                <a:ext cx="24812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生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0591800" y="4210050"/>
              <a:ext cx="723900" cy="723900"/>
              <a:chOff x="10591800" y="4210050"/>
              <a:chExt cx="723900" cy="723900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10591800" y="4210050"/>
                <a:ext cx="723900" cy="723900"/>
              </a:xfrm>
              <a:prstGeom prst="ellipse">
                <a:avLst/>
              </a:prstGeom>
              <a:solidFill>
                <a:srgbClr val="FF8A65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829687" y="4486275"/>
                <a:ext cx="24812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用</a:t>
                </a: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8172450" y="2095500"/>
              <a:ext cx="609600" cy="666750"/>
            </a:xfrm>
            <a:custGeom>
              <a:avLst/>
              <a:gdLst/>
              <a:ahLst/>
              <a:cxnLst/>
              <a:rect l="l" t="t" r="r" b="b"/>
              <a:pathLst>
                <a:path w="609600" h="666750">
                  <a:moveTo>
                    <a:pt x="0" y="0"/>
                  </a:moveTo>
                  <a:lnTo>
                    <a:pt x="609600" y="666750"/>
                  </a:lnTo>
                </a:path>
              </a:pathLst>
            </a:custGeom>
            <a:noFill/>
            <a:ln w="14288">
              <a:solidFill>
                <a:srgbClr val="5F6368"/>
              </a:solidFill>
              <a:prstDash val="dash"/>
            </a:ln>
          </p:spPr>
        </p:sp>
        <p:sp>
          <p:nvSpPr>
            <p:cNvPr id="43" name="Line 43"/>
            <p:cNvSpPr/>
            <p:nvPr/>
          </p:nvSpPr>
          <p:spPr>
            <a:xfrm>
              <a:off x="9925050" y="2209800"/>
              <a:ext cx="666750" cy="628650"/>
            </a:xfrm>
            <a:custGeom>
              <a:avLst/>
              <a:gdLst/>
              <a:ahLst/>
              <a:cxnLst/>
              <a:rect l="l" t="t" r="r" b="b"/>
              <a:pathLst>
                <a:path w="666750" h="628650">
                  <a:moveTo>
                    <a:pt x="666750" y="0"/>
                  </a:moveTo>
                  <a:lnTo>
                    <a:pt x="0" y="628650"/>
                  </a:lnTo>
                </a:path>
              </a:pathLst>
            </a:custGeom>
            <a:noFill/>
            <a:ln w="14288">
              <a:solidFill>
                <a:srgbClr val="5F6368"/>
              </a:solidFill>
              <a:prstDash val="dash"/>
            </a:ln>
          </p:spPr>
        </p:sp>
        <p:sp>
          <p:nvSpPr>
            <p:cNvPr id="44" name="Line 44"/>
            <p:cNvSpPr/>
            <p:nvPr/>
          </p:nvSpPr>
          <p:spPr>
            <a:xfrm>
              <a:off x="8172450" y="3619500"/>
              <a:ext cx="609600" cy="952500"/>
            </a:xfrm>
            <a:custGeom>
              <a:avLst/>
              <a:gdLst/>
              <a:ahLst/>
              <a:cxnLst/>
              <a:rect l="l" t="t" r="r" b="b"/>
              <a:pathLst>
                <a:path w="609600" h="952500">
                  <a:moveTo>
                    <a:pt x="0" y="952500"/>
                  </a:moveTo>
                  <a:lnTo>
                    <a:pt x="609600" y="0"/>
                  </a:lnTo>
                </a:path>
              </a:pathLst>
            </a:custGeom>
            <a:noFill/>
            <a:ln w="14288">
              <a:solidFill>
                <a:srgbClr val="5F6368"/>
              </a:solidFill>
              <a:prstDash val="dash"/>
            </a:ln>
          </p:spPr>
        </p:sp>
        <p:sp>
          <p:nvSpPr>
            <p:cNvPr id="45" name="Line 45"/>
            <p:cNvSpPr/>
            <p:nvPr/>
          </p:nvSpPr>
          <p:spPr>
            <a:xfrm>
              <a:off x="9925050" y="3448050"/>
              <a:ext cx="666750" cy="933450"/>
            </a:xfrm>
            <a:custGeom>
              <a:avLst/>
              <a:gdLst/>
              <a:ahLst/>
              <a:cxnLst/>
              <a:rect l="l" t="t" r="r" b="b"/>
              <a:pathLst>
                <a:path w="666750" h="933450">
                  <a:moveTo>
                    <a:pt x="666750" y="9334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5F6368"/>
              </a:solidFill>
              <a:prstDash val="dash"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470535"/>
            <a:ext cx="3721727" cy="684371"/>
            <a:chOff x="571500" y="470535"/>
            <a:chExt cx="3721727" cy="684371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D47A1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7710" y="470535"/>
              <a:ext cx="356551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什么是 RAG 知识库？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7712" y="926306"/>
              <a:ext cx="34565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Retrieval-Augmented Generation · 检索增强生成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333500"/>
            <a:ext cx="11049000" cy="9525"/>
            <a:chOff x="571500" y="1333500"/>
            <a:chExt cx="11049000" cy="9525"/>
          </a:xfrm>
        </p:grpSpPr>
        <p:sp>
          <p:nvSpPr>
            <p:cNvPr id="9" name="Line 9"/>
            <p:cNvSpPr/>
            <p:nvPr/>
          </p:nvSpPr>
          <p:spPr>
            <a:xfrm>
              <a:off x="571500" y="1333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0E3E7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71500" y="1714500"/>
            <a:ext cx="3619500" cy="4381500"/>
            <a:chOff x="571500" y="1714500"/>
            <a:chExt cx="3619500" cy="4381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3619500" cy="4381500"/>
            </a:xfrm>
            <a:prstGeom prst="roundRect">
              <a:avLst>
                <a:gd name="adj" fmla="val 3158"/>
              </a:avLst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7145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3915" y="2077402"/>
              <a:ext cx="622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CONCEPT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580" y="2440305"/>
              <a:ext cx="239093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RAG = 检索 + 生成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066800" y="3162300"/>
              <a:ext cx="914400" cy="914400"/>
              <a:chOff x="1066800" y="3162300"/>
              <a:chExt cx="914400" cy="914400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1066800" y="3162300"/>
                <a:ext cx="914400" cy="914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215489" y="3306927"/>
                <a:ext cx="596717" cy="600779"/>
              </a:xfrm>
              <a:custGeom>
                <a:avLst/>
                <a:gdLst/>
                <a:ahLst/>
                <a:cxnLst/>
                <a:rect l="l" t="t" r="r" b="b"/>
                <a:pathLst>
                  <a:path w="596717" h="600779">
                    <a:moveTo>
                      <a:pt x="365661" y="57455"/>
                    </a:moveTo>
                    <a:cubicBezTo>
                      <a:pt x="422870" y="90479"/>
                      <a:pt x="462997" y="146636"/>
                      <a:pt x="475705" y="211458"/>
                    </a:cubicBezTo>
                    <a:cubicBezTo>
                      <a:pt x="488413" y="276281"/>
                      <a:pt x="472460" y="343431"/>
                      <a:pt x="431955" y="395612"/>
                    </a:cubicBezTo>
                    <a:lnTo>
                      <a:pt x="585888" y="549545"/>
                    </a:lnTo>
                    <a:cubicBezTo>
                      <a:pt x="596717" y="560758"/>
                      <a:pt x="596562" y="578580"/>
                      <a:pt x="585540" y="589602"/>
                    </a:cubicBezTo>
                    <a:cubicBezTo>
                      <a:pt x="574518" y="600625"/>
                      <a:pt x="556695" y="600779"/>
                      <a:pt x="545483" y="589950"/>
                    </a:cubicBezTo>
                    <a:lnTo>
                      <a:pt x="391521" y="436017"/>
                    </a:lnTo>
                    <a:cubicBezTo>
                      <a:pt x="300766" y="506438"/>
                      <a:pt x="171846" y="498574"/>
                      <a:pt x="90324" y="417642"/>
                    </a:cubicBezTo>
                    <a:cubicBezTo>
                      <a:pt x="8802" y="336711"/>
                      <a:pt x="0" y="207852"/>
                      <a:pt x="69760" y="116587"/>
                    </a:cubicBezTo>
                    <a:cubicBezTo>
                      <a:pt x="139520" y="25322"/>
                      <a:pt x="266172" y="0"/>
                      <a:pt x="365661" y="5742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17831" y="41405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检索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1536" y="44191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从知识库召回相关片段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2381250" y="3238500"/>
              <a:ext cx="381000" cy="381000"/>
              <a:chOff x="2381250" y="3238500"/>
              <a:chExt cx="381000" cy="381000"/>
            </a:xfrm>
          </p:grpSpPr>
          <p:sp>
            <p:nvSpPr>
              <p:cNvPr id="20" name="Line 20"/>
              <p:cNvSpPr/>
              <p:nvPr/>
            </p:nvSpPr>
            <p:spPr>
              <a:xfrm>
                <a:off x="2381250" y="34290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5F6368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2571750" y="32385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rgbClr val="5F6368"/>
                </a:solidFill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2876550" y="3162300"/>
              <a:ext cx="914400" cy="914400"/>
              <a:chOff x="2876550" y="3162300"/>
              <a:chExt cx="914400" cy="914400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2876550" y="3162300"/>
                <a:ext cx="914400" cy="914400"/>
              </a:xfrm>
              <a:prstGeom prst="ellipse">
                <a:avLst/>
              </a:prstGeom>
              <a:solidFill>
                <a:srgbClr val="FF8A65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3038485" y="3352810"/>
                <a:ext cx="561955" cy="533381"/>
                <a:chOff x="3038485" y="3352810"/>
                <a:chExt cx="561955" cy="533381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3419475" y="3695710"/>
                  <a:ext cx="180965" cy="19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65" h="190481">
                      <a:moveTo>
                        <a:pt x="28575" y="123815"/>
                      </a:moveTo>
                      <a:cubicBezTo>
                        <a:pt x="12793" y="123815"/>
                        <a:pt x="0" y="111022"/>
                        <a:pt x="0" y="95240"/>
                      </a:cubicBezTo>
                      <a:cubicBezTo>
                        <a:pt x="0" y="79459"/>
                        <a:pt x="12793" y="66665"/>
                        <a:pt x="28575" y="66665"/>
                      </a:cubicBezTo>
                      <a:cubicBezTo>
                        <a:pt x="44357" y="66665"/>
                        <a:pt x="57150" y="53872"/>
                        <a:pt x="57150" y="38090"/>
                      </a:cubicBezTo>
                      <a:cubicBezTo>
                        <a:pt x="57150" y="0"/>
                        <a:pt x="114300" y="0"/>
                        <a:pt x="114300" y="38090"/>
                      </a:cubicBezTo>
                      <a:cubicBezTo>
                        <a:pt x="114300" y="53872"/>
                        <a:pt x="127093" y="66665"/>
                        <a:pt x="142875" y="66665"/>
                      </a:cubicBezTo>
                      <a:cubicBezTo>
                        <a:pt x="180965" y="66665"/>
                        <a:pt x="180965" y="123815"/>
                        <a:pt x="142875" y="123815"/>
                      </a:cubicBezTo>
                      <a:cubicBezTo>
                        <a:pt x="127093" y="123815"/>
                        <a:pt x="114300" y="136609"/>
                        <a:pt x="114300" y="152390"/>
                      </a:cubicBezTo>
                      <a:cubicBezTo>
                        <a:pt x="114300" y="190481"/>
                        <a:pt x="57150" y="190481"/>
                        <a:pt x="57150" y="152390"/>
                      </a:cubicBezTo>
                      <a:cubicBezTo>
                        <a:pt x="57150" y="136609"/>
                        <a:pt x="44357" y="123815"/>
                        <a:pt x="28575" y="123815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038485" y="3409960"/>
                  <a:ext cx="419081" cy="4095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081" h="409565">
                      <a:moveTo>
                        <a:pt x="38090" y="180965"/>
                      </a:moveTo>
                      <a:cubicBezTo>
                        <a:pt x="116998" y="180965"/>
                        <a:pt x="180965" y="116998"/>
                        <a:pt x="180965" y="38090"/>
                      </a:cubicBezTo>
                      <a:cubicBezTo>
                        <a:pt x="180965" y="0"/>
                        <a:pt x="238115" y="0"/>
                        <a:pt x="238115" y="38090"/>
                      </a:cubicBezTo>
                      <a:cubicBezTo>
                        <a:pt x="238115" y="116998"/>
                        <a:pt x="302083" y="180965"/>
                        <a:pt x="380990" y="180965"/>
                      </a:cubicBezTo>
                      <a:cubicBezTo>
                        <a:pt x="419081" y="180965"/>
                        <a:pt x="419081" y="238115"/>
                        <a:pt x="380990" y="238115"/>
                      </a:cubicBezTo>
                      <a:cubicBezTo>
                        <a:pt x="302083" y="238115"/>
                        <a:pt x="238115" y="302083"/>
                        <a:pt x="238115" y="380990"/>
                      </a:cubicBezTo>
                      <a:cubicBezTo>
                        <a:pt x="238115" y="396772"/>
                        <a:pt x="225322" y="409565"/>
                        <a:pt x="209540" y="409565"/>
                      </a:cubicBezTo>
                      <a:cubicBezTo>
                        <a:pt x="193759" y="409565"/>
                        <a:pt x="180965" y="396772"/>
                        <a:pt x="180965" y="380990"/>
                      </a:cubicBezTo>
                      <a:cubicBezTo>
                        <a:pt x="180965" y="302083"/>
                        <a:pt x="116998" y="238115"/>
                        <a:pt x="38090" y="238115"/>
                      </a:cubicBezTo>
                      <a:cubicBezTo>
                        <a:pt x="0" y="238115"/>
                        <a:pt x="0" y="180965"/>
                        <a:pt x="38090" y="180965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419475" y="3352810"/>
                  <a:ext cx="180965" cy="19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65" h="190481">
                      <a:moveTo>
                        <a:pt x="28575" y="123815"/>
                      </a:moveTo>
                      <a:cubicBezTo>
                        <a:pt x="12793" y="123815"/>
                        <a:pt x="0" y="111022"/>
                        <a:pt x="0" y="95240"/>
                      </a:cubicBezTo>
                      <a:cubicBezTo>
                        <a:pt x="0" y="79459"/>
                        <a:pt x="12793" y="66665"/>
                        <a:pt x="28575" y="66665"/>
                      </a:cubicBezTo>
                      <a:cubicBezTo>
                        <a:pt x="44357" y="66665"/>
                        <a:pt x="57150" y="53872"/>
                        <a:pt x="57150" y="38090"/>
                      </a:cubicBezTo>
                      <a:cubicBezTo>
                        <a:pt x="57150" y="0"/>
                        <a:pt x="114300" y="0"/>
                        <a:pt x="114300" y="38090"/>
                      </a:cubicBezTo>
                      <a:cubicBezTo>
                        <a:pt x="114300" y="53872"/>
                        <a:pt x="127093" y="66665"/>
                        <a:pt x="142875" y="66665"/>
                      </a:cubicBezTo>
                      <a:cubicBezTo>
                        <a:pt x="180965" y="66665"/>
                        <a:pt x="180965" y="123815"/>
                        <a:pt x="142875" y="123815"/>
                      </a:cubicBezTo>
                      <a:cubicBezTo>
                        <a:pt x="127093" y="123815"/>
                        <a:pt x="114300" y="136609"/>
                        <a:pt x="114300" y="152390"/>
                      </a:cubicBezTo>
                      <a:cubicBezTo>
                        <a:pt x="114300" y="190481"/>
                        <a:pt x="57150" y="190481"/>
                        <a:pt x="57150" y="152390"/>
                      </a:cubicBezTo>
                      <a:cubicBezTo>
                        <a:pt x="57150" y="136609"/>
                        <a:pt x="44357" y="123815"/>
                        <a:pt x="28575" y="123815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</p:grpSp>
        <p:sp>
          <p:nvSpPr>
            <p:cNvPr id="29" name="TextBox 29"/>
            <p:cNvSpPr txBox="1"/>
            <p:nvPr/>
          </p:nvSpPr>
          <p:spPr>
            <a:xfrm>
              <a:off x="3127581" y="41405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8A65"/>
                  </a:solidFill>
                  <a:latin typeface="Arial"/>
                  <a:ea typeface="SimHei"/>
                  <a:cs typeface="Arial"/>
                </a:rPr>
                <a:t>生成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36294" y="44191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大模型基于片段作答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915" y="5220652"/>
              <a:ext cx="28340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RAG 让模型回答"可溯源、可更新、可私有化"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646295" y="1726882"/>
            <a:ext cx="6688455" cy="4464368"/>
            <a:chOff x="4646295" y="1726882"/>
            <a:chExt cx="6688455" cy="4464368"/>
          </a:xfrm>
        </p:grpSpPr>
        <p:sp>
          <p:nvSpPr>
            <p:cNvPr id="33" name="TextBox 33"/>
            <p:cNvSpPr txBox="1"/>
            <p:nvPr/>
          </p:nvSpPr>
          <p:spPr>
            <a:xfrm>
              <a:off x="4646295" y="17268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一句话定义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50105" y="2187892"/>
              <a:ext cx="3326130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将"信息检索"与"大模型生成"结合的架构：</a:t>
              </a:r>
              <a:r>
                <a:rPr lang="zh-CN" sz="13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模型不再只凭参数化记忆作答，而是先从</a:t>
              </a:r>
              <a:r>
                <a:rPr lang="zh-CN" sz="13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外部知识库中检索与问题相关的片段，</a:t>
              </a:r>
              <a:r>
                <a:rPr lang="zh-CN" sz="13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再基于这些片段生成答案。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46295" y="39176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它解决三类问题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4667250" y="4381500"/>
              <a:ext cx="2095500" cy="952500"/>
              <a:chOff x="4667250" y="4381500"/>
              <a:chExt cx="2095500" cy="9525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4667250" y="4381500"/>
                <a:ext cx="2095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E0E3E7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667250" y="4381500"/>
                <a:ext cx="38100" cy="9525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840605" y="45215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565C0"/>
                    </a:solidFill>
                    <a:latin typeface="Arial"/>
                    <a:ea typeface="SimHei"/>
                    <a:cs typeface="Arial"/>
                  </a:rPr>
                  <a:t>知识时效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844415" y="48396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参数化记忆存在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844415" y="50301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训练截止日期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953250" y="4381500"/>
              <a:ext cx="2095500" cy="952500"/>
              <a:chOff x="6953250" y="4381500"/>
              <a:chExt cx="2095500" cy="952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953250" y="4381500"/>
                <a:ext cx="2095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E0E3E7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6953250" y="4381500"/>
                <a:ext cx="38100" cy="952500"/>
              </a:xfrm>
              <a:prstGeom prst="rect">
                <a:avLst/>
              </a:prstGeom>
              <a:solidFill>
                <a:srgbClr val="FF8A65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126605" y="45215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8A65"/>
                    </a:solidFill>
                    <a:latin typeface="Arial"/>
                    <a:ea typeface="SimHei"/>
                    <a:cs typeface="Arial"/>
                  </a:rPr>
                  <a:t>私域数据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130415" y="48396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企业自有文档无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130415" y="50301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法进入公网训练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9239250" y="4381500"/>
              <a:ext cx="2095500" cy="952500"/>
              <a:chOff x="9239250" y="4381500"/>
              <a:chExt cx="2095500" cy="9525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9239250" y="4381500"/>
                <a:ext cx="2095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E0E3E7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9239250" y="4381500"/>
                <a:ext cx="38100" cy="952500"/>
              </a:xfrm>
              <a:prstGeom prst="rect">
                <a:avLst/>
              </a:prstGeom>
              <a:solidFill>
                <a:srgbClr val="26A69A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9412605" y="45215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6A69A"/>
                    </a:solidFill>
                    <a:latin typeface="Arial"/>
                    <a:ea typeface="SimHei"/>
                    <a:cs typeface="Arial"/>
                  </a:rPr>
                  <a:t>可信溯源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416415" y="48396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每条结论都能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416415" y="50301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附上来源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667250" y="5619750"/>
              <a:ext cx="6667500" cy="571500"/>
              <a:chOff x="4667250" y="5619750"/>
              <a:chExt cx="6667500" cy="5715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4667250" y="5619750"/>
                <a:ext cx="66675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1565C0">
                  <a:alpha val="6000"/>
                </a:srgbClr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4842510" y="5756910"/>
                <a:ext cx="38549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企业部署</a:t>
                </a:r>
                <a:r>
                  <a:rPr lang="zh-CN" sz="12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 xml:space="preserve"> 文档接入 → 解析切分 → 向量化 → 检索 → 生成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845368" y="5990749"/>
                <a:ext cx="22350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五段链路，每段都允许独立替换与监控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559118" y="6466999"/>
            <a:ext cx="11073764" cy="198120"/>
            <a:chOff x="559118" y="6466999"/>
            <a:chExt cx="11073764" cy="198120"/>
          </a:xfrm>
        </p:grpSpPr>
        <p:sp>
          <p:nvSpPr>
            <p:cNvPr id="59" name="TextBox 59"/>
            <p:cNvSpPr txBox="1"/>
            <p:nvPr/>
          </p:nvSpPr>
          <p:spPr>
            <a:xfrm>
              <a:off x="559118" y="6466999"/>
              <a:ext cx="10778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RAG 知识库 · 概念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725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02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470535"/>
            <a:ext cx="5517452" cy="684371"/>
            <a:chOff x="571500" y="470535"/>
            <a:chExt cx="5517452" cy="684371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D47A1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7710" y="470535"/>
              <a:ext cx="536124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多元异构数据如何进入知识库？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7712" y="926306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把不同形态归一化为可检索的向量片段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333500"/>
            <a:ext cx="11049000" cy="9525"/>
            <a:chOff x="571500" y="1333500"/>
            <a:chExt cx="11049000" cy="9525"/>
          </a:xfrm>
        </p:grpSpPr>
        <p:sp>
          <p:nvSpPr>
            <p:cNvPr id="9" name="Line 9"/>
            <p:cNvSpPr/>
            <p:nvPr/>
          </p:nvSpPr>
          <p:spPr>
            <a:xfrm>
              <a:off x="571500" y="1333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0E3E7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2450" y="1552575"/>
            <a:ext cx="1476780" cy="304800"/>
            <a:chOff x="552450" y="1552575"/>
            <a:chExt cx="1476780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52450" y="1552575"/>
              <a:ext cx="14767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① 常见数据形态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905000"/>
            <a:ext cx="1524000" cy="1333500"/>
            <a:chOff x="571500" y="1905000"/>
            <a:chExt cx="1524000" cy="1333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905000"/>
              <a:ext cx="15240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E0E3E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104900" y="2057400"/>
              <a:ext cx="457200" cy="4572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181098" y="2095500"/>
              <a:ext cx="304803" cy="381002"/>
              <a:chOff x="1181098" y="2095500"/>
              <a:chExt cx="304803" cy="38100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181098" y="2095500"/>
                <a:ext cx="304803" cy="381002"/>
              </a:xfrm>
              <a:custGeom>
                <a:avLst/>
                <a:gdLst/>
                <a:ahLst/>
                <a:cxnLst/>
                <a:rect l="l" t="t" r="r" b="b"/>
                <a:pathLst>
                  <a:path w="304803" h="381002">
                    <a:moveTo>
                      <a:pt x="152402" y="0"/>
                    </a:moveTo>
                    <a:lnTo>
                      <a:pt x="154631" y="133"/>
                    </a:lnTo>
                    <a:cubicBezTo>
                      <a:pt x="163384" y="1166"/>
                      <a:pt x="170286" y="8068"/>
                      <a:pt x="171318" y="16821"/>
                    </a:cubicBezTo>
                    <a:lnTo>
                      <a:pt x="171452" y="19050"/>
                    </a:lnTo>
                    <a:lnTo>
                      <a:pt x="171452" y="95250"/>
                    </a:lnTo>
                    <a:lnTo>
                      <a:pt x="171547" y="98108"/>
                    </a:lnTo>
                    <a:cubicBezTo>
                      <a:pt x="172955" y="116851"/>
                      <a:pt x="187822" y="131766"/>
                      <a:pt x="206561" y="133236"/>
                    </a:cubicBezTo>
                    <a:lnTo>
                      <a:pt x="209552" y="133350"/>
                    </a:lnTo>
                    <a:lnTo>
                      <a:pt x="285752" y="133350"/>
                    </a:lnTo>
                    <a:lnTo>
                      <a:pt x="287981" y="133483"/>
                    </a:lnTo>
                    <a:cubicBezTo>
                      <a:pt x="296734" y="134516"/>
                      <a:pt x="303636" y="141418"/>
                      <a:pt x="304668" y="150171"/>
                    </a:cubicBezTo>
                    <a:lnTo>
                      <a:pt x="304802" y="152400"/>
                    </a:lnTo>
                    <a:lnTo>
                      <a:pt x="304802" y="323850"/>
                    </a:lnTo>
                    <a:cubicBezTo>
                      <a:pt x="304803" y="354112"/>
                      <a:pt x="281214" y="379129"/>
                      <a:pt x="251004" y="380905"/>
                    </a:cubicBezTo>
                    <a:lnTo>
                      <a:pt x="247652" y="381000"/>
                    </a:lnTo>
                    <a:lnTo>
                      <a:pt x="57152" y="381000"/>
                    </a:lnTo>
                    <a:cubicBezTo>
                      <a:pt x="26890" y="381002"/>
                      <a:pt x="1872" y="357413"/>
                      <a:pt x="97" y="327203"/>
                    </a:cubicBezTo>
                    <a:lnTo>
                      <a:pt x="2" y="323850"/>
                    </a:lnTo>
                    <a:lnTo>
                      <a:pt x="2" y="57150"/>
                    </a:lnTo>
                    <a:cubicBezTo>
                      <a:pt x="0" y="26888"/>
                      <a:pt x="23589" y="1871"/>
                      <a:pt x="53799" y="95"/>
                    </a:cubicBezTo>
                    <a:lnTo>
                      <a:pt x="57152" y="0"/>
                    </a:lnTo>
                    <a:close/>
                    <a:moveTo>
                      <a:pt x="209552" y="266700"/>
                    </a:moveTo>
                    <a:lnTo>
                      <a:pt x="95252" y="266700"/>
                    </a:lnTo>
                    <a:cubicBezTo>
                      <a:pt x="84731" y="266700"/>
                      <a:pt x="76202" y="275229"/>
                      <a:pt x="76202" y="285750"/>
                    </a:cubicBezTo>
                    <a:cubicBezTo>
                      <a:pt x="76202" y="296271"/>
                      <a:pt x="84731" y="304800"/>
                      <a:pt x="95252" y="304800"/>
                    </a:cubicBezTo>
                    <a:lnTo>
                      <a:pt x="209552" y="304800"/>
                    </a:lnTo>
                    <a:cubicBezTo>
                      <a:pt x="220073" y="304800"/>
                      <a:pt x="228602" y="296271"/>
                      <a:pt x="228602" y="285750"/>
                    </a:cubicBezTo>
                    <a:cubicBezTo>
                      <a:pt x="228602" y="275229"/>
                      <a:pt x="220073" y="266700"/>
                      <a:pt x="209552" y="266700"/>
                    </a:cubicBezTo>
                    <a:moveTo>
                      <a:pt x="209552" y="190500"/>
                    </a:moveTo>
                    <a:lnTo>
                      <a:pt x="95252" y="190500"/>
                    </a:lnTo>
                    <a:cubicBezTo>
                      <a:pt x="84731" y="190500"/>
                      <a:pt x="76202" y="199029"/>
                      <a:pt x="76202" y="209550"/>
                    </a:cubicBezTo>
                    <a:cubicBezTo>
                      <a:pt x="76202" y="220071"/>
                      <a:pt x="84731" y="228600"/>
                      <a:pt x="95252" y="228600"/>
                    </a:cubicBezTo>
                    <a:lnTo>
                      <a:pt x="209552" y="228600"/>
                    </a:lnTo>
                    <a:cubicBezTo>
                      <a:pt x="220073" y="228600"/>
                      <a:pt x="228602" y="220071"/>
                      <a:pt x="228602" y="209550"/>
                    </a:cubicBezTo>
                    <a:cubicBezTo>
                      <a:pt x="228602" y="199029"/>
                      <a:pt x="220073" y="190500"/>
                      <a:pt x="209552" y="190500"/>
                    </a:cubicBezTo>
                    <a:moveTo>
                      <a:pt x="114302" y="114300"/>
                    </a:moveTo>
                    <a:lnTo>
                      <a:pt x="95252" y="114300"/>
                    </a:lnTo>
                    <a:cubicBezTo>
                      <a:pt x="84731" y="114300"/>
                      <a:pt x="76202" y="122829"/>
                      <a:pt x="76202" y="133350"/>
                    </a:cubicBezTo>
                    <a:cubicBezTo>
                      <a:pt x="76202" y="143871"/>
                      <a:pt x="84731" y="152400"/>
                      <a:pt x="95252" y="152400"/>
                    </a:cubicBezTo>
                    <a:lnTo>
                      <a:pt x="114302" y="152400"/>
                    </a:lnTo>
                    <a:cubicBezTo>
                      <a:pt x="124823" y="152400"/>
                      <a:pt x="133352" y="143871"/>
                      <a:pt x="133352" y="133350"/>
                    </a:cubicBezTo>
                    <a:cubicBezTo>
                      <a:pt x="133352" y="122829"/>
                      <a:pt x="124823" y="114300"/>
                      <a:pt x="114302" y="114300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390631" y="2114531"/>
                <a:ext cx="76219" cy="76219"/>
              </a:xfrm>
              <a:custGeom>
                <a:avLst/>
                <a:gdLst/>
                <a:ahLst/>
                <a:cxnLst/>
                <a:rect l="l" t="t" r="r" b="b"/>
                <a:pathLst>
                  <a:path w="76219" h="76219">
                    <a:moveTo>
                      <a:pt x="76219" y="76219"/>
                    </a:moveTo>
                    <a:lnTo>
                      <a:pt x="19" y="762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50239" y="268033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文本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3989" y="2950845"/>
              <a:ext cx="13190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MD / Word / PDF / 网页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286000" y="1905000"/>
            <a:ext cx="1524000" cy="1333500"/>
            <a:chOff x="2286000" y="1905000"/>
            <a:chExt cx="1524000" cy="1333500"/>
          </a:xfrm>
        </p:grpSpPr>
        <p:sp>
          <p:nvSpPr>
            <p:cNvPr id="21" name="Rectangle 21"/>
            <p:cNvSpPr/>
            <p:nvPr/>
          </p:nvSpPr>
          <p:spPr>
            <a:xfrm>
              <a:off x="2286000" y="1905000"/>
              <a:ext cx="15240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E0E3E7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819400" y="2057400"/>
              <a:ext cx="457200" cy="457200"/>
            </a:xfrm>
            <a:prstGeom prst="ellipse">
              <a:avLst/>
            </a:prstGeom>
            <a:solidFill>
              <a:srgbClr val="26A69A">
                <a:alpha val="12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2876548" y="2114548"/>
              <a:ext cx="342904" cy="342904"/>
              <a:chOff x="2876548" y="2114548"/>
              <a:chExt cx="342904" cy="34290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2876550" y="2266950"/>
                <a:ext cx="114300" cy="19050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90502">
                    <a:moveTo>
                      <a:pt x="19050" y="0"/>
                    </a:move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171450"/>
                    </a:lnTo>
                    <a:cubicBezTo>
                      <a:pt x="114300" y="181971"/>
                      <a:pt x="105771" y="190500"/>
                      <a:pt x="95250" y="190500"/>
                    </a:cubicBezTo>
                    <a:lnTo>
                      <a:pt x="57150" y="190500"/>
                    </a:lnTo>
                    <a:cubicBezTo>
                      <a:pt x="26888" y="190502"/>
                      <a:pt x="1871" y="166913"/>
                      <a:pt x="95" y="136703"/>
                    </a:cubicBezTo>
                    <a:lnTo>
                      <a:pt x="0" y="133350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26A69A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028950" y="2266950"/>
                <a:ext cx="190502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2" h="190500">
                    <a:moveTo>
                      <a:pt x="190500" y="19050"/>
                    </a:moveTo>
                    <a:lnTo>
                      <a:pt x="190500" y="133350"/>
                    </a:lnTo>
                    <a:cubicBezTo>
                      <a:pt x="190502" y="163612"/>
                      <a:pt x="166913" y="188629"/>
                      <a:pt x="136703" y="190405"/>
                    </a:cubicBezTo>
                    <a:lnTo>
                      <a:pt x="133350" y="190500"/>
                    </a:lnTo>
                    <a:lnTo>
                      <a:pt x="19050" y="190500"/>
                    </a:lnTo>
                    <a:cubicBezTo>
                      <a:pt x="8529" y="190500"/>
                      <a:pt x="0" y="181971"/>
                      <a:pt x="0" y="1714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171450" y="0"/>
                    </a:lnTo>
                    <a:cubicBezTo>
                      <a:pt x="181971" y="0"/>
                      <a:pt x="190500" y="8529"/>
                      <a:pt x="190500" y="19050"/>
                    </a:cubicBezTo>
                    <a:close/>
                  </a:path>
                </a:pathLst>
              </a:custGeom>
              <a:solidFill>
                <a:srgbClr val="26A69A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028950" y="2114548"/>
                <a:ext cx="190500" cy="114302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14302">
                    <a:moveTo>
                      <a:pt x="133350" y="2"/>
                    </a:moveTo>
                    <a:cubicBezTo>
                      <a:pt x="163612" y="0"/>
                      <a:pt x="188629" y="23589"/>
                      <a:pt x="190405" y="53799"/>
                    </a:cubicBezTo>
                    <a:lnTo>
                      <a:pt x="190500" y="57152"/>
                    </a:lnTo>
                    <a:lnTo>
                      <a:pt x="190500" y="95252"/>
                    </a:lnTo>
                    <a:cubicBezTo>
                      <a:pt x="190500" y="105773"/>
                      <a:pt x="181971" y="114302"/>
                      <a:pt x="171450" y="114302"/>
                    </a:cubicBezTo>
                    <a:lnTo>
                      <a:pt x="19050" y="114302"/>
                    </a:lnTo>
                    <a:cubicBezTo>
                      <a:pt x="8529" y="114302"/>
                      <a:pt x="0" y="105773"/>
                      <a:pt x="0" y="95252"/>
                    </a:cubicBezTo>
                    <a:lnTo>
                      <a:pt x="0" y="19052"/>
                    </a:lnTo>
                    <a:cubicBezTo>
                      <a:pt x="0" y="8531"/>
                      <a:pt x="8529" y="2"/>
                      <a:pt x="19050" y="2"/>
                    </a:cubicBezTo>
                    <a:lnTo>
                      <a:pt x="133350" y="2"/>
                    </a:lnTo>
                    <a:close/>
                  </a:path>
                </a:pathLst>
              </a:custGeom>
              <a:solidFill>
                <a:srgbClr val="26A69A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876548" y="2114550"/>
                <a:ext cx="11430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2" h="114300">
                    <a:moveTo>
                      <a:pt x="114302" y="19050"/>
                    </a:moveTo>
                    <a:lnTo>
                      <a:pt x="114302" y="95250"/>
                    </a:lnTo>
                    <a:cubicBezTo>
                      <a:pt x="114302" y="105771"/>
                      <a:pt x="105773" y="114300"/>
                      <a:pt x="95252" y="114300"/>
                    </a:cubicBezTo>
                    <a:lnTo>
                      <a:pt x="19052" y="114300"/>
                    </a:lnTo>
                    <a:cubicBezTo>
                      <a:pt x="8531" y="114300"/>
                      <a:pt x="2" y="105771"/>
                      <a:pt x="2" y="95250"/>
                    </a:cubicBezTo>
                    <a:lnTo>
                      <a:pt x="2" y="57150"/>
                    </a:lnTo>
                    <a:cubicBezTo>
                      <a:pt x="0" y="26888"/>
                      <a:pt x="23589" y="1871"/>
                      <a:pt x="53799" y="95"/>
                    </a:cubicBezTo>
                    <a:lnTo>
                      <a:pt x="57152" y="0"/>
                    </a:lnTo>
                    <a:lnTo>
                      <a:pt x="95252" y="0"/>
                    </a:lnTo>
                    <a:cubicBezTo>
                      <a:pt x="105773" y="0"/>
                      <a:pt x="114302" y="8529"/>
                      <a:pt x="114302" y="19050"/>
                    </a:cubicBezTo>
                    <a:close/>
                  </a:path>
                </a:pathLst>
              </a:custGeom>
              <a:solidFill>
                <a:srgbClr val="26A69A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2780728" y="2680335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结构化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98515" y="2950845"/>
              <a:ext cx="898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Excel / DB / API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000500" y="1905000"/>
            <a:ext cx="1524000" cy="1333500"/>
            <a:chOff x="4000500" y="1905000"/>
            <a:chExt cx="1524000" cy="1333500"/>
          </a:xfrm>
        </p:grpSpPr>
        <p:sp>
          <p:nvSpPr>
            <p:cNvPr id="31" name="Rectangle 31"/>
            <p:cNvSpPr/>
            <p:nvPr/>
          </p:nvSpPr>
          <p:spPr>
            <a:xfrm>
              <a:off x="4000500" y="1905000"/>
              <a:ext cx="15240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E0E3E7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533900" y="2057400"/>
              <a:ext cx="457200" cy="457200"/>
            </a:xfrm>
            <a:prstGeom prst="ellipse">
              <a:avLst/>
            </a:prstGeom>
            <a:solidFill>
              <a:srgbClr val="FF8A65">
                <a:alpha val="12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572000" y="2095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29788" y="183109"/>
                  </a:moveTo>
                  <a:cubicBezTo>
                    <a:pt x="138494" y="175870"/>
                    <a:pt x="147276" y="175870"/>
                    <a:pt x="156191" y="183318"/>
                  </a:cubicBezTo>
                  <a:lnTo>
                    <a:pt x="158248" y="185185"/>
                  </a:lnTo>
                  <a:lnTo>
                    <a:pt x="253232" y="280168"/>
                  </a:lnTo>
                  <a:lnTo>
                    <a:pt x="255022" y="281750"/>
                  </a:lnTo>
                  <a:cubicBezTo>
                    <a:pt x="262606" y="287628"/>
                    <a:pt x="273378" y="286948"/>
                    <a:pt x="280163" y="280163"/>
                  </a:cubicBezTo>
                  <a:cubicBezTo>
                    <a:pt x="286948" y="273378"/>
                    <a:pt x="287628" y="262606"/>
                    <a:pt x="281750" y="255022"/>
                  </a:cubicBezTo>
                  <a:lnTo>
                    <a:pt x="280168" y="253232"/>
                  </a:lnTo>
                  <a:lnTo>
                    <a:pt x="255556" y="228600"/>
                  </a:lnTo>
                  <a:lnTo>
                    <a:pt x="261118" y="223018"/>
                  </a:lnTo>
                  <a:lnTo>
                    <a:pt x="263138" y="221209"/>
                  </a:lnTo>
                  <a:cubicBezTo>
                    <a:pt x="271844" y="213970"/>
                    <a:pt x="280626" y="213970"/>
                    <a:pt x="289541" y="221418"/>
                  </a:cubicBezTo>
                  <a:lnTo>
                    <a:pt x="291598" y="223285"/>
                  </a:lnTo>
                  <a:lnTo>
                    <a:pt x="380638" y="312344"/>
                  </a:lnTo>
                  <a:cubicBezTo>
                    <a:pt x="376911" y="349832"/>
                    <a:pt x="346348" y="378970"/>
                    <a:pt x="308724" y="380905"/>
                  </a:cubicBezTo>
                  <a:lnTo>
                    <a:pt x="304800" y="381000"/>
                  </a:lnTo>
                  <a:lnTo>
                    <a:pt x="76200" y="381000"/>
                  </a:lnTo>
                  <a:cubicBezTo>
                    <a:pt x="37047" y="380998"/>
                    <a:pt x="4267" y="351323"/>
                    <a:pt x="381" y="312363"/>
                  </a:cubicBezTo>
                  <a:lnTo>
                    <a:pt x="127768" y="184918"/>
                  </a:lnTo>
                  <a:lnTo>
                    <a:pt x="129788" y="183109"/>
                  </a:lnTo>
                  <a:close/>
                  <a:moveTo>
                    <a:pt x="304800" y="0"/>
                  </a:moveTo>
                  <a:cubicBezTo>
                    <a:pt x="345403" y="0"/>
                    <a:pt x="378875" y="31838"/>
                    <a:pt x="380905" y="72390"/>
                  </a:cubicBezTo>
                  <a:lnTo>
                    <a:pt x="381000" y="76200"/>
                  </a:lnTo>
                  <a:lnTo>
                    <a:pt x="381000" y="258794"/>
                  </a:lnTo>
                  <a:lnTo>
                    <a:pt x="318268" y="196082"/>
                  </a:lnTo>
                  <a:lnTo>
                    <a:pt x="315411" y="193472"/>
                  </a:lnTo>
                  <a:cubicBezTo>
                    <a:pt x="291484" y="172612"/>
                    <a:pt x="261118" y="172574"/>
                    <a:pt x="237382" y="193148"/>
                  </a:cubicBezTo>
                  <a:lnTo>
                    <a:pt x="234448" y="195815"/>
                  </a:lnTo>
                  <a:lnTo>
                    <a:pt x="228600" y="201644"/>
                  </a:lnTo>
                  <a:lnTo>
                    <a:pt x="184918" y="157982"/>
                  </a:lnTo>
                  <a:lnTo>
                    <a:pt x="182061" y="155372"/>
                  </a:lnTo>
                  <a:cubicBezTo>
                    <a:pt x="158134" y="134512"/>
                    <a:pt x="127768" y="134474"/>
                    <a:pt x="104032" y="155048"/>
                  </a:cubicBezTo>
                  <a:lnTo>
                    <a:pt x="101098" y="157715"/>
                  </a:lnTo>
                  <a:lnTo>
                    <a:pt x="0" y="258794"/>
                  </a:lnTo>
                  <a:lnTo>
                    <a:pt x="0" y="76200"/>
                  </a:lnTo>
                  <a:cubicBezTo>
                    <a:pt x="0" y="35597"/>
                    <a:pt x="31838" y="2125"/>
                    <a:pt x="72390" y="95"/>
                  </a:cubicBezTo>
                  <a:lnTo>
                    <a:pt x="76200" y="0"/>
                  </a:lnTo>
                  <a:lnTo>
                    <a:pt x="304800" y="0"/>
                  </a:lnTo>
                  <a:close/>
                  <a:moveTo>
                    <a:pt x="247841" y="95250"/>
                  </a:moveTo>
                  <a:lnTo>
                    <a:pt x="245421" y="95383"/>
                  </a:lnTo>
                  <a:cubicBezTo>
                    <a:pt x="235838" y="96523"/>
                    <a:pt x="228621" y="104649"/>
                    <a:pt x="228621" y="114300"/>
                  </a:cubicBezTo>
                  <a:cubicBezTo>
                    <a:pt x="228621" y="123951"/>
                    <a:pt x="235838" y="132077"/>
                    <a:pt x="245421" y="133217"/>
                  </a:cubicBezTo>
                  <a:lnTo>
                    <a:pt x="247650" y="133350"/>
                  </a:lnTo>
                  <a:lnTo>
                    <a:pt x="250069" y="133217"/>
                  </a:lnTo>
                  <a:cubicBezTo>
                    <a:pt x="259653" y="132077"/>
                    <a:pt x="266869" y="123951"/>
                    <a:pt x="266869" y="114300"/>
                  </a:cubicBezTo>
                  <a:cubicBezTo>
                    <a:pt x="266869" y="104649"/>
                    <a:pt x="259653" y="96523"/>
                    <a:pt x="250069" y="95383"/>
                  </a:cubicBezTo>
                  <a:lnTo>
                    <a:pt x="247841" y="95250"/>
                  </a:lnTo>
                  <a:close/>
                </a:path>
              </a:pathLst>
            </a:custGeom>
            <a:solidFill>
              <a:srgbClr val="FF8A6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79239" y="268033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图像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93000" y="2950845"/>
              <a:ext cx="1139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扫描件 / 截图 / 图表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0" y="1905000"/>
            <a:ext cx="1524000" cy="1333500"/>
            <a:chOff x="5715000" y="1905000"/>
            <a:chExt cx="1524000" cy="1333500"/>
          </a:xfrm>
        </p:grpSpPr>
        <p:sp>
          <p:nvSpPr>
            <p:cNvPr id="37" name="Rectangle 37"/>
            <p:cNvSpPr/>
            <p:nvPr/>
          </p:nvSpPr>
          <p:spPr>
            <a:xfrm>
              <a:off x="5715000" y="1905000"/>
              <a:ext cx="15240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E0E3E7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248400" y="2057400"/>
              <a:ext cx="457200" cy="457200"/>
            </a:xfrm>
            <a:prstGeom prst="ellipse">
              <a:avLst/>
            </a:prstGeom>
            <a:solidFill>
              <a:srgbClr val="7B1FA2">
                <a:alpha val="12000"/>
              </a:srgbClr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286500" y="2152650"/>
              <a:ext cx="361950" cy="266700"/>
              <a:chOff x="6286500" y="2152650"/>
              <a:chExt cx="361950" cy="2667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34150" y="2202230"/>
                <a:ext cx="114300" cy="168156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68156">
                    <a:moveTo>
                      <a:pt x="97479" y="426"/>
                    </a:moveTo>
                    <a:cubicBezTo>
                      <a:pt x="93788" y="0"/>
                      <a:pt x="90054" y="662"/>
                      <a:pt x="86735" y="2331"/>
                    </a:cubicBezTo>
                    <a:lnTo>
                      <a:pt x="0" y="45670"/>
                    </a:lnTo>
                    <a:lnTo>
                      <a:pt x="0" y="121870"/>
                    </a:lnTo>
                    <a:lnTo>
                      <a:pt x="86735" y="165209"/>
                    </a:lnTo>
                    <a:cubicBezTo>
                      <a:pt x="92632" y="168156"/>
                      <a:pt x="99634" y="167844"/>
                      <a:pt x="105247" y="164384"/>
                    </a:cubicBezTo>
                    <a:cubicBezTo>
                      <a:pt x="110859" y="160925"/>
                      <a:pt x="114283" y="154809"/>
                      <a:pt x="114300" y="148216"/>
                    </a:cubicBezTo>
                    <a:lnTo>
                      <a:pt x="114300" y="19324"/>
                    </a:lnTo>
                    <a:cubicBezTo>
                      <a:pt x="114289" y="9673"/>
                      <a:pt x="107063" y="1555"/>
                      <a:pt x="97479" y="426"/>
                    </a:cubicBezTo>
                    <a:close/>
                  </a:path>
                </a:pathLst>
              </a:custGeom>
              <a:solidFill>
                <a:srgbClr val="7B1FA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286500" y="21526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57150" y="0"/>
                    </a:moveTo>
                    <a:cubicBezTo>
                      <a:pt x="25813" y="0"/>
                      <a:pt x="0" y="25813"/>
                      <a:pt x="0" y="57150"/>
                    </a:cubicBezTo>
                    <a:lnTo>
                      <a:pt x="0" y="209550"/>
                    </a:lnTo>
                    <a:cubicBezTo>
                      <a:pt x="0" y="240887"/>
                      <a:pt x="25813" y="266700"/>
                      <a:pt x="57150" y="266700"/>
                    </a:cubicBezTo>
                    <a:lnTo>
                      <a:pt x="209550" y="266700"/>
                    </a:lnTo>
                    <a:cubicBezTo>
                      <a:pt x="240887" y="266700"/>
                      <a:pt x="266700" y="240887"/>
                      <a:pt x="266700" y="209550"/>
                    </a:cubicBezTo>
                    <a:lnTo>
                      <a:pt x="266700" y="57150"/>
                    </a:lnTo>
                    <a:cubicBezTo>
                      <a:pt x="266700" y="25813"/>
                      <a:pt x="240887" y="0"/>
                      <a:pt x="209550" y="0"/>
                    </a:cubicBezTo>
                    <a:close/>
                  </a:path>
                </a:pathLst>
              </a:custGeom>
              <a:solidFill>
                <a:srgbClr val="7B1FA2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209728" y="2680335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音视频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36516" y="2950845"/>
              <a:ext cx="8809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会议 / 教学视频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429500" y="1905000"/>
            <a:ext cx="1524000" cy="1333500"/>
            <a:chOff x="7429500" y="1905000"/>
            <a:chExt cx="1524000" cy="1333500"/>
          </a:xfrm>
        </p:grpSpPr>
        <p:sp>
          <p:nvSpPr>
            <p:cNvPr id="45" name="Rectangle 45"/>
            <p:cNvSpPr/>
            <p:nvPr/>
          </p:nvSpPr>
          <p:spPr>
            <a:xfrm>
              <a:off x="7429500" y="1905000"/>
              <a:ext cx="15240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E0E3E7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962900" y="2057400"/>
              <a:ext cx="457200" cy="457200"/>
            </a:xfrm>
            <a:prstGeom prst="ellipse">
              <a:avLst/>
            </a:prstGeom>
            <a:solidFill>
              <a:srgbClr val="00796B">
                <a:alpha val="12000"/>
              </a:srgbClr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000998" y="2086967"/>
              <a:ext cx="401133" cy="402699"/>
            </a:xfrm>
            <a:custGeom>
              <a:avLst/>
              <a:gdLst/>
              <a:ahLst/>
              <a:cxnLst/>
              <a:rect l="l" t="t" r="r" b="b"/>
              <a:pathLst>
                <a:path w="401133" h="402699">
                  <a:moveTo>
                    <a:pt x="285752" y="34060"/>
                  </a:moveTo>
                  <a:cubicBezTo>
                    <a:pt x="365816" y="80285"/>
                    <a:pt x="401133" y="177321"/>
                    <a:pt x="369513" y="264194"/>
                  </a:cubicBezTo>
                  <a:cubicBezTo>
                    <a:pt x="337893" y="351068"/>
                    <a:pt x="248463" y="402699"/>
                    <a:pt x="157419" y="386643"/>
                  </a:cubicBezTo>
                  <a:cubicBezTo>
                    <a:pt x="66375" y="370588"/>
                    <a:pt x="0" y="291482"/>
                    <a:pt x="2" y="199033"/>
                  </a:cubicBezTo>
                  <a:lnTo>
                    <a:pt x="98" y="192861"/>
                  </a:lnTo>
                  <a:cubicBezTo>
                    <a:pt x="2268" y="125938"/>
                    <a:pt x="39413" y="65068"/>
                    <a:pt x="97936" y="32534"/>
                  </a:cubicBezTo>
                  <a:cubicBezTo>
                    <a:pt x="156459" y="0"/>
                    <a:pt x="227766" y="579"/>
                    <a:pt x="285752" y="34060"/>
                  </a:cubicBezTo>
                  <a:moveTo>
                    <a:pt x="216067" y="133501"/>
                  </a:moveTo>
                  <a:cubicBezTo>
                    <a:pt x="211318" y="131772"/>
                    <a:pt x="206077" y="132001"/>
                    <a:pt x="201496" y="134137"/>
                  </a:cubicBezTo>
                  <a:cubicBezTo>
                    <a:pt x="196916" y="136274"/>
                    <a:pt x="193372" y="140143"/>
                    <a:pt x="191645" y="144893"/>
                  </a:cubicBezTo>
                  <a:lnTo>
                    <a:pt x="153545" y="249668"/>
                  </a:lnTo>
                  <a:cubicBezTo>
                    <a:pt x="149947" y="259558"/>
                    <a:pt x="155047" y="270492"/>
                    <a:pt x="164937" y="274090"/>
                  </a:cubicBezTo>
                  <a:cubicBezTo>
                    <a:pt x="174827" y="277688"/>
                    <a:pt x="185761" y="272588"/>
                    <a:pt x="189359" y="262698"/>
                  </a:cubicBezTo>
                  <a:lnTo>
                    <a:pt x="227459" y="157923"/>
                  </a:lnTo>
                  <a:cubicBezTo>
                    <a:pt x="229189" y="153174"/>
                    <a:pt x="228960" y="147932"/>
                    <a:pt x="226823" y="143352"/>
                  </a:cubicBezTo>
                  <a:cubicBezTo>
                    <a:pt x="224687" y="138772"/>
                    <a:pt x="220818" y="135228"/>
                    <a:pt x="216067" y="133501"/>
                  </a:cubicBezTo>
                  <a:moveTo>
                    <a:pt x="137296" y="156990"/>
                  </a:moveTo>
                  <a:cubicBezTo>
                    <a:pt x="129857" y="149553"/>
                    <a:pt x="117798" y="149553"/>
                    <a:pt x="110359" y="156990"/>
                  </a:cubicBezTo>
                  <a:lnTo>
                    <a:pt x="81784" y="185565"/>
                  </a:lnTo>
                  <a:cubicBezTo>
                    <a:pt x="74347" y="193004"/>
                    <a:pt x="74347" y="205063"/>
                    <a:pt x="81784" y="212502"/>
                  </a:cubicBezTo>
                  <a:lnTo>
                    <a:pt x="110359" y="241077"/>
                  </a:lnTo>
                  <a:cubicBezTo>
                    <a:pt x="117798" y="248513"/>
                    <a:pt x="129857" y="248513"/>
                    <a:pt x="137296" y="241077"/>
                  </a:cubicBezTo>
                  <a:lnTo>
                    <a:pt x="138877" y="239286"/>
                  </a:lnTo>
                  <a:cubicBezTo>
                    <a:pt x="144760" y="231702"/>
                    <a:pt x="144082" y="220927"/>
                    <a:pt x="137296" y="214140"/>
                  </a:cubicBezTo>
                  <a:lnTo>
                    <a:pt x="122208" y="199033"/>
                  </a:lnTo>
                  <a:lnTo>
                    <a:pt x="137296" y="183927"/>
                  </a:lnTo>
                  <a:cubicBezTo>
                    <a:pt x="144732" y="176488"/>
                    <a:pt x="144732" y="164429"/>
                    <a:pt x="137296" y="156990"/>
                  </a:cubicBezTo>
                  <a:moveTo>
                    <a:pt x="270646" y="156990"/>
                  </a:moveTo>
                  <a:cubicBezTo>
                    <a:pt x="263207" y="149553"/>
                    <a:pt x="251148" y="149553"/>
                    <a:pt x="243709" y="156990"/>
                  </a:cubicBezTo>
                  <a:lnTo>
                    <a:pt x="242128" y="158781"/>
                  </a:lnTo>
                  <a:cubicBezTo>
                    <a:pt x="236245" y="166364"/>
                    <a:pt x="236923" y="177140"/>
                    <a:pt x="243709" y="183927"/>
                  </a:cubicBezTo>
                  <a:lnTo>
                    <a:pt x="258797" y="199033"/>
                  </a:lnTo>
                  <a:lnTo>
                    <a:pt x="243709" y="214140"/>
                  </a:lnTo>
                  <a:cubicBezTo>
                    <a:pt x="236490" y="221615"/>
                    <a:pt x="236593" y="233496"/>
                    <a:pt x="243941" y="240845"/>
                  </a:cubicBezTo>
                  <a:cubicBezTo>
                    <a:pt x="251289" y="248193"/>
                    <a:pt x="263171" y="248296"/>
                    <a:pt x="270646" y="241077"/>
                  </a:cubicBezTo>
                  <a:lnTo>
                    <a:pt x="299221" y="212502"/>
                  </a:lnTo>
                  <a:cubicBezTo>
                    <a:pt x="306657" y="205063"/>
                    <a:pt x="306657" y="193004"/>
                    <a:pt x="299221" y="185565"/>
                  </a:cubicBezTo>
                  <a:close/>
                </a:path>
              </a:pathLst>
            </a:custGeom>
            <a:solidFill>
              <a:srgbClr val="00796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08239" y="268033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代码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51016" y="2950845"/>
              <a:ext cx="8809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仓库 / 文档片段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144000" y="1905000"/>
            <a:ext cx="2476500" cy="1333500"/>
            <a:chOff x="9144000" y="1905000"/>
            <a:chExt cx="2476500" cy="1333500"/>
          </a:xfrm>
        </p:grpSpPr>
        <p:sp>
          <p:nvSpPr>
            <p:cNvPr id="51" name="Rectangle 51"/>
            <p:cNvSpPr/>
            <p:nvPr/>
          </p:nvSpPr>
          <p:spPr>
            <a:xfrm>
              <a:off x="9144000" y="1905000"/>
              <a:ext cx="2476500" cy="1333500"/>
            </a:xfrm>
            <a:prstGeom prst="roundRect">
              <a:avLst>
                <a:gd name="adj" fmla="val 7143"/>
              </a:avLst>
            </a:prstGeom>
            <a:solidFill>
              <a:srgbClr val="1565C0">
                <a:alpha val="6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19260" y="21564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真实企业知识库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22118" y="2466499"/>
              <a:ext cx="2053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文本 / 表格 / 图像 / 音视频 / 代码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22118" y="2704624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多模态混合 + 不同部门权限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322118" y="2942749"/>
              <a:ext cx="9599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→ 必须统一处理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52450" y="3552825"/>
            <a:ext cx="1476780" cy="304800"/>
            <a:chOff x="552450" y="3552825"/>
            <a:chExt cx="1476780" cy="304800"/>
          </a:xfrm>
        </p:grpSpPr>
        <p:sp>
          <p:nvSpPr>
            <p:cNvPr id="57" name="TextBox 57"/>
            <p:cNvSpPr txBox="1"/>
            <p:nvPr/>
          </p:nvSpPr>
          <p:spPr>
            <a:xfrm>
              <a:off x="552450" y="3552825"/>
              <a:ext cx="14767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② 统一处理流程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571500" y="3905250"/>
            <a:ext cx="11064240" cy="952500"/>
            <a:chOff x="571500" y="3905250"/>
            <a:chExt cx="11064240" cy="952500"/>
          </a:xfrm>
        </p:grpSpPr>
        <p:grpSp>
          <p:nvGrpSpPr>
            <p:cNvPr id="68" name="Group 68"/>
            <p:cNvGrpSpPr/>
            <p:nvPr/>
          </p:nvGrpSpPr>
          <p:grpSpPr>
            <a:xfrm>
              <a:off x="571500" y="3905250"/>
              <a:ext cx="2095500" cy="952500"/>
              <a:chOff x="571500" y="3905250"/>
              <a:chExt cx="2095500" cy="9525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571500" y="3905250"/>
                <a:ext cx="2095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9050">
                <a:solidFill>
                  <a:srgbClr val="1565C0"/>
                </a:solidFill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685800" y="4019550"/>
                <a:ext cx="342900" cy="342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95804" y="41281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1</a:t>
                </a:r>
              </a:p>
            </p:txBody>
          </p:sp>
          <p:grpSp>
            <p:nvGrpSpPr>
              <p:cNvPr id="64" name="Group 64"/>
              <p:cNvGrpSpPr/>
              <p:nvPr/>
            </p:nvGrpSpPr>
            <p:grpSpPr>
              <a:xfrm>
                <a:off x="1149349" y="4056063"/>
                <a:ext cx="215903" cy="269877"/>
                <a:chOff x="1149349" y="4056063"/>
                <a:chExt cx="215903" cy="269877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1149349" y="4056063"/>
                  <a:ext cx="215903" cy="2698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3" h="269877">
                      <a:moveTo>
                        <a:pt x="107951" y="0"/>
                      </a:moveTo>
                      <a:lnTo>
                        <a:pt x="109530" y="94"/>
                      </a:lnTo>
                      <a:cubicBezTo>
                        <a:pt x="115730" y="826"/>
                        <a:pt x="120620" y="5715"/>
                        <a:pt x="121351" y="11915"/>
                      </a:cubicBezTo>
                      <a:lnTo>
                        <a:pt x="121445" y="13494"/>
                      </a:lnTo>
                      <a:lnTo>
                        <a:pt x="121445" y="67469"/>
                      </a:lnTo>
                      <a:lnTo>
                        <a:pt x="121513" y="69493"/>
                      </a:lnTo>
                      <a:cubicBezTo>
                        <a:pt x="122510" y="82769"/>
                        <a:pt x="133041" y="93335"/>
                        <a:pt x="146314" y="94376"/>
                      </a:cubicBezTo>
                      <a:lnTo>
                        <a:pt x="148433" y="94456"/>
                      </a:lnTo>
                      <a:lnTo>
                        <a:pt x="202408" y="94456"/>
                      </a:lnTo>
                      <a:lnTo>
                        <a:pt x="203987" y="94551"/>
                      </a:lnTo>
                      <a:cubicBezTo>
                        <a:pt x="210187" y="95282"/>
                        <a:pt x="215076" y="100171"/>
                        <a:pt x="215807" y="106371"/>
                      </a:cubicBezTo>
                      <a:lnTo>
                        <a:pt x="215902" y="107950"/>
                      </a:lnTo>
                      <a:lnTo>
                        <a:pt x="215902" y="229394"/>
                      </a:lnTo>
                      <a:cubicBezTo>
                        <a:pt x="215903" y="250830"/>
                        <a:pt x="199194" y="268551"/>
                        <a:pt x="177795" y="269808"/>
                      </a:cubicBezTo>
                      <a:lnTo>
                        <a:pt x="175420" y="269876"/>
                      </a:lnTo>
                      <a:lnTo>
                        <a:pt x="40483" y="269876"/>
                      </a:lnTo>
                      <a:cubicBezTo>
                        <a:pt x="19047" y="269877"/>
                        <a:pt x="1326" y="253168"/>
                        <a:pt x="69" y="231769"/>
                      </a:cubicBezTo>
                      <a:lnTo>
                        <a:pt x="1" y="229394"/>
                      </a:lnTo>
                      <a:lnTo>
                        <a:pt x="1" y="40481"/>
                      </a:lnTo>
                      <a:cubicBezTo>
                        <a:pt x="0" y="19046"/>
                        <a:pt x="16709" y="1325"/>
                        <a:pt x="38108" y="67"/>
                      </a:cubicBezTo>
                      <a:lnTo>
                        <a:pt x="40483" y="0"/>
                      </a:lnTo>
                      <a:close/>
                      <a:moveTo>
                        <a:pt x="148433" y="188913"/>
                      </a:moveTo>
                      <a:lnTo>
                        <a:pt x="67470" y="188913"/>
                      </a:lnTo>
                      <a:cubicBezTo>
                        <a:pt x="60018" y="188913"/>
                        <a:pt x="53976" y="194954"/>
                        <a:pt x="53976" y="202407"/>
                      </a:cubicBezTo>
                      <a:cubicBezTo>
                        <a:pt x="53976" y="209859"/>
                        <a:pt x="60018" y="215901"/>
                        <a:pt x="67470" y="215901"/>
                      </a:cubicBezTo>
                      <a:lnTo>
                        <a:pt x="148433" y="215901"/>
                      </a:lnTo>
                      <a:cubicBezTo>
                        <a:pt x="155885" y="215901"/>
                        <a:pt x="161927" y="209859"/>
                        <a:pt x="161927" y="202407"/>
                      </a:cubicBezTo>
                      <a:cubicBezTo>
                        <a:pt x="161927" y="194954"/>
                        <a:pt x="155885" y="188913"/>
                        <a:pt x="148433" y="188913"/>
                      </a:cubicBezTo>
                      <a:moveTo>
                        <a:pt x="148433" y="134938"/>
                      </a:moveTo>
                      <a:lnTo>
                        <a:pt x="67470" y="134938"/>
                      </a:lnTo>
                      <a:cubicBezTo>
                        <a:pt x="60018" y="134938"/>
                        <a:pt x="53976" y="140979"/>
                        <a:pt x="53976" y="148432"/>
                      </a:cubicBezTo>
                      <a:cubicBezTo>
                        <a:pt x="53976" y="155884"/>
                        <a:pt x="60018" y="161925"/>
                        <a:pt x="67470" y="161925"/>
                      </a:cubicBezTo>
                      <a:lnTo>
                        <a:pt x="148433" y="161925"/>
                      </a:lnTo>
                      <a:cubicBezTo>
                        <a:pt x="155885" y="161925"/>
                        <a:pt x="161927" y="155884"/>
                        <a:pt x="161927" y="148432"/>
                      </a:cubicBezTo>
                      <a:cubicBezTo>
                        <a:pt x="161927" y="140979"/>
                        <a:pt x="155885" y="134938"/>
                        <a:pt x="148433" y="134938"/>
                      </a:cubicBezTo>
                      <a:moveTo>
                        <a:pt x="80964" y="80963"/>
                      </a:moveTo>
                      <a:lnTo>
                        <a:pt x="67470" y="80963"/>
                      </a:lnTo>
                      <a:cubicBezTo>
                        <a:pt x="60018" y="80963"/>
                        <a:pt x="53976" y="87004"/>
                        <a:pt x="53976" y="94456"/>
                      </a:cubicBezTo>
                      <a:cubicBezTo>
                        <a:pt x="53976" y="101909"/>
                        <a:pt x="60018" y="107950"/>
                        <a:pt x="67470" y="107950"/>
                      </a:cubicBezTo>
                      <a:lnTo>
                        <a:pt x="80964" y="107950"/>
                      </a:lnTo>
                      <a:cubicBezTo>
                        <a:pt x="88416" y="107950"/>
                        <a:pt x="94458" y="101909"/>
                        <a:pt x="94458" y="94456"/>
                      </a:cubicBezTo>
                      <a:cubicBezTo>
                        <a:pt x="94458" y="87004"/>
                        <a:pt x="88416" y="80963"/>
                        <a:pt x="80964" y="80963"/>
                      </a:cubicBezTo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1297768" y="4069543"/>
                  <a:ext cx="53989" cy="539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89" h="53989">
                      <a:moveTo>
                        <a:pt x="53989" y="53989"/>
                      </a:moveTo>
                      <a:lnTo>
                        <a:pt x="13" y="5398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1553718" y="4109085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1D1D1F"/>
                    </a:solidFill>
                    <a:latin typeface="Arial"/>
                    <a:ea typeface="SimHei"/>
                    <a:cs typeface="Arial"/>
                  </a:rPr>
                  <a:t>解析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011460" y="4427220"/>
                <a:ext cx="9049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按格式选 loader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99458" y="4617720"/>
                <a:ext cx="9169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PDF / OCR / ASR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2762250" y="4333875"/>
              <a:ext cx="285750" cy="95250"/>
              <a:chOff x="2762250" y="4333875"/>
              <a:chExt cx="285750" cy="95250"/>
            </a:xfrm>
          </p:grpSpPr>
          <p:sp>
            <p:nvSpPr>
              <p:cNvPr id="69" name="Line 69"/>
              <p:cNvSpPr/>
              <p:nvPr/>
            </p:nvSpPr>
            <p:spPr>
              <a:xfrm>
                <a:off x="2762250" y="4381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0" name="Polygon 70"/>
              <p:cNvSpPr/>
              <p:nvPr/>
            </p:nvSpPr>
            <p:spPr>
              <a:xfrm>
                <a:off x="2952750" y="4333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grpSp>
          <p:nvGrpSpPr>
            <p:cNvPr id="79" name="Group 79"/>
            <p:cNvGrpSpPr/>
            <p:nvPr/>
          </p:nvGrpSpPr>
          <p:grpSpPr>
            <a:xfrm>
              <a:off x="3143250" y="3905250"/>
              <a:ext cx="2095500" cy="952500"/>
              <a:chOff x="3143250" y="3905250"/>
              <a:chExt cx="2095500" cy="95250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3143250" y="3905250"/>
                <a:ext cx="2095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9050">
                <a:solidFill>
                  <a:srgbClr val="1565C0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3257550" y="4019550"/>
                <a:ext cx="342900" cy="342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3367554" y="41281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2</a:t>
                </a:r>
              </a:p>
            </p:txBody>
          </p:sp>
          <p:sp>
            <p:nvSpPr>
              <p:cNvPr id="75" name="Freeform 75"/>
              <p:cNvSpPr/>
              <p:nvPr/>
            </p:nvSpPr>
            <p:spPr>
              <a:xfrm>
                <a:off x="3684748" y="4046698"/>
                <a:ext cx="288605" cy="288605"/>
              </a:xfrm>
              <a:custGeom>
                <a:avLst/>
                <a:gdLst/>
                <a:ahLst/>
                <a:cxnLst/>
                <a:rect l="l" t="t" r="r" b="b"/>
                <a:pathLst>
                  <a:path w="288605" h="288605">
                    <a:moveTo>
                      <a:pt x="180021" y="37445"/>
                    </a:moveTo>
                    <a:cubicBezTo>
                      <a:pt x="180755" y="40476"/>
                      <a:pt x="182892" y="42974"/>
                      <a:pt x="185772" y="44169"/>
                    </a:cubicBezTo>
                    <a:cubicBezTo>
                      <a:pt x="188652" y="45363"/>
                      <a:pt x="191930" y="45111"/>
                      <a:pt x="194594" y="43490"/>
                    </a:cubicBezTo>
                    <a:cubicBezTo>
                      <a:pt x="227505" y="23452"/>
                      <a:pt x="265166" y="61100"/>
                      <a:pt x="245128" y="94011"/>
                    </a:cubicBezTo>
                    <a:cubicBezTo>
                      <a:pt x="243507" y="96673"/>
                      <a:pt x="243253" y="99949"/>
                      <a:pt x="244445" y="102829"/>
                    </a:cubicBezTo>
                    <a:cubicBezTo>
                      <a:pt x="245637" y="105708"/>
                      <a:pt x="248132" y="107847"/>
                      <a:pt x="251160" y="108584"/>
                    </a:cubicBezTo>
                    <a:cubicBezTo>
                      <a:pt x="288605" y="117666"/>
                      <a:pt x="288605" y="170926"/>
                      <a:pt x="251160" y="180021"/>
                    </a:cubicBezTo>
                    <a:cubicBezTo>
                      <a:pt x="248129" y="180755"/>
                      <a:pt x="245631" y="182892"/>
                      <a:pt x="244436" y="185772"/>
                    </a:cubicBezTo>
                    <a:cubicBezTo>
                      <a:pt x="243242" y="188652"/>
                      <a:pt x="243494" y="191930"/>
                      <a:pt x="245115" y="194594"/>
                    </a:cubicBezTo>
                    <a:cubicBezTo>
                      <a:pt x="265153" y="227505"/>
                      <a:pt x="227505" y="265166"/>
                      <a:pt x="194594" y="245128"/>
                    </a:cubicBezTo>
                    <a:cubicBezTo>
                      <a:pt x="191932" y="243507"/>
                      <a:pt x="188656" y="243253"/>
                      <a:pt x="185776" y="244445"/>
                    </a:cubicBezTo>
                    <a:cubicBezTo>
                      <a:pt x="182897" y="245637"/>
                      <a:pt x="180758" y="248132"/>
                      <a:pt x="180021" y="251160"/>
                    </a:cubicBezTo>
                    <a:cubicBezTo>
                      <a:pt x="170939" y="288605"/>
                      <a:pt x="117679" y="288605"/>
                      <a:pt x="108584" y="251160"/>
                    </a:cubicBezTo>
                    <a:cubicBezTo>
                      <a:pt x="107850" y="248129"/>
                      <a:pt x="105713" y="245631"/>
                      <a:pt x="102833" y="244436"/>
                    </a:cubicBezTo>
                    <a:cubicBezTo>
                      <a:pt x="99953" y="243242"/>
                      <a:pt x="96675" y="243494"/>
                      <a:pt x="94011" y="245115"/>
                    </a:cubicBezTo>
                    <a:cubicBezTo>
                      <a:pt x="61100" y="265153"/>
                      <a:pt x="23439" y="227505"/>
                      <a:pt x="43477" y="194594"/>
                    </a:cubicBezTo>
                    <a:cubicBezTo>
                      <a:pt x="45098" y="191932"/>
                      <a:pt x="45352" y="188656"/>
                      <a:pt x="44160" y="185776"/>
                    </a:cubicBezTo>
                    <a:cubicBezTo>
                      <a:pt x="42968" y="182897"/>
                      <a:pt x="40473" y="180758"/>
                      <a:pt x="37445" y="180021"/>
                    </a:cubicBezTo>
                    <a:cubicBezTo>
                      <a:pt x="0" y="170939"/>
                      <a:pt x="0" y="117679"/>
                      <a:pt x="37445" y="108584"/>
                    </a:cubicBezTo>
                    <a:cubicBezTo>
                      <a:pt x="40476" y="107850"/>
                      <a:pt x="42974" y="105713"/>
                      <a:pt x="44169" y="102833"/>
                    </a:cubicBezTo>
                    <a:cubicBezTo>
                      <a:pt x="45363" y="99953"/>
                      <a:pt x="45111" y="96675"/>
                      <a:pt x="43490" y="94011"/>
                    </a:cubicBezTo>
                    <a:cubicBezTo>
                      <a:pt x="23452" y="61100"/>
                      <a:pt x="61100" y="23439"/>
                      <a:pt x="94011" y="43477"/>
                    </a:cubicBezTo>
                    <a:cubicBezTo>
                      <a:pt x="96671" y="45110"/>
                      <a:pt x="99952" y="45371"/>
                      <a:pt x="102836" y="44177"/>
                    </a:cubicBezTo>
                    <a:cubicBezTo>
                      <a:pt x="105720" y="42984"/>
                      <a:pt x="107857" y="40481"/>
                      <a:pt x="108584" y="37445"/>
                    </a:cubicBezTo>
                    <a:cubicBezTo>
                      <a:pt x="117666" y="0"/>
                      <a:pt x="170926" y="0"/>
                      <a:pt x="180021" y="37445"/>
                    </a:cubicBezTo>
                    <a:close/>
                    <a:moveTo>
                      <a:pt x="144303" y="103821"/>
                    </a:moveTo>
                    <a:cubicBezTo>
                      <a:pt x="121945" y="103821"/>
                      <a:pt x="103821" y="121945"/>
                      <a:pt x="103821" y="144303"/>
                    </a:cubicBezTo>
                    <a:cubicBezTo>
                      <a:pt x="103821" y="166660"/>
                      <a:pt x="121945" y="184784"/>
                      <a:pt x="144303" y="184784"/>
                    </a:cubicBezTo>
                    <a:cubicBezTo>
                      <a:pt x="166660" y="184784"/>
                      <a:pt x="184784" y="166660"/>
                      <a:pt x="184784" y="144303"/>
                    </a:cubicBezTo>
                    <a:cubicBezTo>
                      <a:pt x="184784" y="121945"/>
                      <a:pt x="166660" y="103821"/>
                      <a:pt x="144303" y="103821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4125468" y="4109085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1D1D1F"/>
                    </a:solidFill>
                    <a:latin typeface="Arial"/>
                    <a:ea typeface="SimHei"/>
                    <a:cs typeface="Arial"/>
                  </a:rPr>
                  <a:t>清洗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3625215" y="4427220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去噪、版式还原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3865245" y="4617720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统一元数据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5334000" y="4333875"/>
              <a:ext cx="285750" cy="95250"/>
              <a:chOff x="5334000" y="4333875"/>
              <a:chExt cx="285750" cy="95250"/>
            </a:xfrm>
          </p:grpSpPr>
          <p:sp>
            <p:nvSpPr>
              <p:cNvPr id="80" name="Line 80"/>
              <p:cNvSpPr/>
              <p:nvPr/>
            </p:nvSpPr>
            <p:spPr>
              <a:xfrm>
                <a:off x="5334000" y="4381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1" name="Polygon 81"/>
              <p:cNvSpPr/>
              <p:nvPr/>
            </p:nvSpPr>
            <p:spPr>
              <a:xfrm>
                <a:off x="5524500" y="4333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grpSp>
          <p:nvGrpSpPr>
            <p:cNvPr id="90" name="Group 90"/>
            <p:cNvGrpSpPr/>
            <p:nvPr/>
          </p:nvGrpSpPr>
          <p:grpSpPr>
            <a:xfrm>
              <a:off x="5715000" y="3905250"/>
              <a:ext cx="2095500" cy="952500"/>
              <a:chOff x="5715000" y="3905250"/>
              <a:chExt cx="2095500" cy="952500"/>
            </a:xfrm>
          </p:grpSpPr>
          <p:sp>
            <p:nvSpPr>
              <p:cNvPr id="83" name="Rectangle 83"/>
              <p:cNvSpPr/>
              <p:nvPr/>
            </p:nvSpPr>
            <p:spPr>
              <a:xfrm>
                <a:off x="5715000" y="3905250"/>
                <a:ext cx="2095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9050">
                <a:solidFill>
                  <a:srgbClr val="1565C0"/>
                </a:solidFill>
              </a:ln>
            </p:spPr>
          </p:sp>
          <p:sp>
            <p:nvSpPr>
              <p:cNvPr id="84" name="Ellipse 84"/>
              <p:cNvSpPr/>
              <p:nvPr/>
            </p:nvSpPr>
            <p:spPr>
              <a:xfrm>
                <a:off x="5829300" y="4019550"/>
                <a:ext cx="342900" cy="342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5939304" y="41281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3</a:t>
                </a:r>
              </a:p>
            </p:txBody>
          </p:sp>
          <p:sp>
            <p:nvSpPr>
              <p:cNvPr id="86" name="Freeform 86"/>
              <p:cNvSpPr/>
              <p:nvPr/>
            </p:nvSpPr>
            <p:spPr>
              <a:xfrm>
                <a:off x="6279356" y="4069556"/>
                <a:ext cx="242893" cy="257064"/>
              </a:xfrm>
              <a:custGeom>
                <a:avLst/>
                <a:gdLst/>
                <a:ahLst/>
                <a:cxnLst/>
                <a:rect l="l" t="t" r="r" b="b"/>
                <a:pathLst>
                  <a:path w="242893" h="257064">
                    <a:moveTo>
                      <a:pt x="229394" y="0"/>
                    </a:moveTo>
                    <a:lnTo>
                      <a:pt x="13494" y="0"/>
                    </a:lnTo>
                    <a:cubicBezTo>
                      <a:pt x="6041" y="0"/>
                      <a:pt x="0" y="6041"/>
                      <a:pt x="0" y="13494"/>
                    </a:cubicBezTo>
                    <a:lnTo>
                      <a:pt x="0" y="43544"/>
                    </a:lnTo>
                    <a:lnTo>
                      <a:pt x="108" y="46554"/>
                    </a:lnTo>
                    <a:cubicBezTo>
                      <a:pt x="780" y="55564"/>
                      <a:pt x="4447" y="64090"/>
                      <a:pt x="10525" y="70775"/>
                    </a:cubicBezTo>
                    <a:lnTo>
                      <a:pt x="67469" y="133400"/>
                    </a:lnTo>
                    <a:lnTo>
                      <a:pt x="67469" y="242888"/>
                    </a:lnTo>
                    <a:cubicBezTo>
                      <a:pt x="67468" y="247226"/>
                      <a:pt x="69552" y="251299"/>
                      <a:pt x="73070" y="253836"/>
                    </a:cubicBezTo>
                    <a:cubicBezTo>
                      <a:pt x="76588" y="256373"/>
                      <a:pt x="81111" y="257064"/>
                      <a:pt x="85227" y="255694"/>
                    </a:cubicBezTo>
                    <a:lnTo>
                      <a:pt x="166189" y="228706"/>
                    </a:lnTo>
                    <a:lnTo>
                      <a:pt x="167647" y="228126"/>
                    </a:lnTo>
                    <a:cubicBezTo>
                      <a:pt x="172391" y="225905"/>
                      <a:pt x="175421" y="221139"/>
                      <a:pt x="175419" y="215901"/>
                    </a:cubicBezTo>
                    <a:lnTo>
                      <a:pt x="175419" y="127030"/>
                    </a:lnTo>
                    <a:lnTo>
                      <a:pt x="231027" y="71436"/>
                    </a:lnTo>
                    <a:cubicBezTo>
                      <a:pt x="238626" y="63840"/>
                      <a:pt x="242893" y="53534"/>
                      <a:pt x="242888" y="42789"/>
                    </a:cubicBezTo>
                    <a:lnTo>
                      <a:pt x="242888" y="13494"/>
                    </a:lnTo>
                    <a:cubicBezTo>
                      <a:pt x="242888" y="6041"/>
                      <a:pt x="236847" y="0"/>
                      <a:pt x="229394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6697218" y="4109085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1D1D1F"/>
                    </a:solidFill>
                    <a:latin typeface="Arial"/>
                    <a:ea typeface="SimHei"/>
                    <a:cs typeface="Arial"/>
                  </a:rPr>
                  <a:t>切分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6539008" y="4427220"/>
                <a:ext cx="52092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chunking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5800916" y="4617720"/>
                <a:ext cx="12590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语义 / 段落 / 滑动窗口</a:t>
                </a: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7905750" y="4333875"/>
              <a:ext cx="285750" cy="95250"/>
              <a:chOff x="7905750" y="4333875"/>
              <a:chExt cx="285750" cy="95250"/>
            </a:xfrm>
          </p:grpSpPr>
          <p:sp>
            <p:nvSpPr>
              <p:cNvPr id="91" name="Line 91"/>
              <p:cNvSpPr/>
              <p:nvPr/>
            </p:nvSpPr>
            <p:spPr>
              <a:xfrm>
                <a:off x="7905750" y="4381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2" name="Polygon 92"/>
              <p:cNvSpPr/>
              <p:nvPr/>
            </p:nvSpPr>
            <p:spPr>
              <a:xfrm>
                <a:off x="8096250" y="4333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grpSp>
          <p:nvGrpSpPr>
            <p:cNvPr id="104" name="Group 104"/>
            <p:cNvGrpSpPr/>
            <p:nvPr/>
          </p:nvGrpSpPr>
          <p:grpSpPr>
            <a:xfrm>
              <a:off x="8286750" y="3905250"/>
              <a:ext cx="1524000" cy="952500"/>
              <a:chOff x="8286750" y="3905250"/>
              <a:chExt cx="1524000" cy="952500"/>
            </a:xfrm>
          </p:grpSpPr>
          <p:sp>
            <p:nvSpPr>
              <p:cNvPr id="94" name="Rectangle 94"/>
              <p:cNvSpPr/>
              <p:nvPr/>
            </p:nvSpPr>
            <p:spPr>
              <a:xfrm>
                <a:off x="8286750" y="3905250"/>
                <a:ext cx="15240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9050">
                <a:solidFill>
                  <a:srgbClr val="1565C0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8401050" y="4019550"/>
                <a:ext cx="342900" cy="342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8511054" y="41281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4</a:t>
                </a:r>
              </a:p>
            </p:txBody>
          </p:sp>
          <p:grpSp>
            <p:nvGrpSpPr>
              <p:cNvPr id="100" name="Group 100"/>
              <p:cNvGrpSpPr/>
              <p:nvPr/>
            </p:nvGrpSpPr>
            <p:grpSpPr>
              <a:xfrm>
                <a:off x="8833119" y="4065063"/>
                <a:ext cx="265369" cy="251875"/>
                <a:chOff x="8833119" y="4065063"/>
                <a:chExt cx="265369" cy="251875"/>
              </a:xfrm>
            </p:grpSpPr>
            <p:sp>
              <p:nvSpPr>
                <p:cNvPr id="97" name="Freeform 97"/>
                <p:cNvSpPr/>
                <p:nvPr/>
              </p:nvSpPr>
              <p:spPr>
                <a:xfrm>
                  <a:off x="9013032" y="4226988"/>
                  <a:ext cx="85456" cy="8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56" h="89950">
                      <a:moveTo>
                        <a:pt x="13494" y="58469"/>
                      </a:moveTo>
                      <a:cubicBezTo>
                        <a:pt x="6041" y="58469"/>
                        <a:pt x="0" y="52427"/>
                        <a:pt x="0" y="44975"/>
                      </a:cubicBezTo>
                      <a:cubicBezTo>
                        <a:pt x="0" y="37522"/>
                        <a:pt x="6041" y="31481"/>
                        <a:pt x="13494" y="31481"/>
                      </a:cubicBezTo>
                      <a:cubicBezTo>
                        <a:pt x="20946" y="31481"/>
                        <a:pt x="26988" y="25440"/>
                        <a:pt x="26988" y="17987"/>
                      </a:cubicBezTo>
                      <a:cubicBezTo>
                        <a:pt x="26988" y="0"/>
                        <a:pt x="53975" y="0"/>
                        <a:pt x="53975" y="17987"/>
                      </a:cubicBezTo>
                      <a:cubicBezTo>
                        <a:pt x="53975" y="25440"/>
                        <a:pt x="60016" y="31481"/>
                        <a:pt x="67469" y="31481"/>
                      </a:cubicBezTo>
                      <a:cubicBezTo>
                        <a:pt x="85456" y="31481"/>
                        <a:pt x="85456" y="58469"/>
                        <a:pt x="67469" y="58469"/>
                      </a:cubicBezTo>
                      <a:cubicBezTo>
                        <a:pt x="60016" y="58469"/>
                        <a:pt x="53975" y="64510"/>
                        <a:pt x="53975" y="71962"/>
                      </a:cubicBezTo>
                      <a:cubicBezTo>
                        <a:pt x="53975" y="89950"/>
                        <a:pt x="26988" y="89950"/>
                        <a:pt x="26988" y="71962"/>
                      </a:cubicBezTo>
                      <a:cubicBezTo>
                        <a:pt x="26988" y="64510"/>
                        <a:pt x="20946" y="58469"/>
                        <a:pt x="13494" y="58469"/>
                      </a:cubicBezTo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8833119" y="4092050"/>
                  <a:ext cx="197900" cy="193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900" h="193406">
                      <a:moveTo>
                        <a:pt x="17987" y="85456"/>
                      </a:moveTo>
                      <a:cubicBezTo>
                        <a:pt x="55249" y="85456"/>
                        <a:pt x="85456" y="55249"/>
                        <a:pt x="85456" y="17987"/>
                      </a:cubicBezTo>
                      <a:cubicBezTo>
                        <a:pt x="85456" y="0"/>
                        <a:pt x="112444" y="0"/>
                        <a:pt x="112444" y="17987"/>
                      </a:cubicBezTo>
                      <a:cubicBezTo>
                        <a:pt x="112444" y="55249"/>
                        <a:pt x="142651" y="85456"/>
                        <a:pt x="179913" y="85456"/>
                      </a:cubicBezTo>
                      <a:cubicBezTo>
                        <a:pt x="197900" y="85456"/>
                        <a:pt x="197900" y="112444"/>
                        <a:pt x="179913" y="112444"/>
                      </a:cubicBezTo>
                      <a:cubicBezTo>
                        <a:pt x="142651" y="112444"/>
                        <a:pt x="112444" y="142651"/>
                        <a:pt x="112444" y="179913"/>
                      </a:cubicBezTo>
                      <a:cubicBezTo>
                        <a:pt x="112444" y="187365"/>
                        <a:pt x="106402" y="193406"/>
                        <a:pt x="98950" y="193406"/>
                      </a:cubicBezTo>
                      <a:cubicBezTo>
                        <a:pt x="91497" y="193406"/>
                        <a:pt x="85456" y="187365"/>
                        <a:pt x="85456" y="179913"/>
                      </a:cubicBezTo>
                      <a:cubicBezTo>
                        <a:pt x="85456" y="142651"/>
                        <a:pt x="55249" y="112444"/>
                        <a:pt x="17987" y="112444"/>
                      </a:cubicBezTo>
                      <a:cubicBezTo>
                        <a:pt x="0" y="112444"/>
                        <a:pt x="0" y="85456"/>
                        <a:pt x="17987" y="85456"/>
                      </a:cubicBezTo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99" name="Freeform 99"/>
                <p:cNvSpPr/>
                <p:nvPr/>
              </p:nvSpPr>
              <p:spPr>
                <a:xfrm>
                  <a:off x="9013032" y="4065063"/>
                  <a:ext cx="85456" cy="8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56" h="89950">
                      <a:moveTo>
                        <a:pt x="13494" y="58469"/>
                      </a:moveTo>
                      <a:cubicBezTo>
                        <a:pt x="6041" y="58469"/>
                        <a:pt x="0" y="52427"/>
                        <a:pt x="0" y="44975"/>
                      </a:cubicBezTo>
                      <a:cubicBezTo>
                        <a:pt x="0" y="37522"/>
                        <a:pt x="6041" y="31481"/>
                        <a:pt x="13494" y="31481"/>
                      </a:cubicBezTo>
                      <a:cubicBezTo>
                        <a:pt x="20946" y="31481"/>
                        <a:pt x="26988" y="25440"/>
                        <a:pt x="26988" y="17987"/>
                      </a:cubicBezTo>
                      <a:cubicBezTo>
                        <a:pt x="26988" y="0"/>
                        <a:pt x="53975" y="0"/>
                        <a:pt x="53975" y="17987"/>
                      </a:cubicBezTo>
                      <a:cubicBezTo>
                        <a:pt x="53975" y="25440"/>
                        <a:pt x="60016" y="31481"/>
                        <a:pt x="67469" y="31481"/>
                      </a:cubicBezTo>
                      <a:cubicBezTo>
                        <a:pt x="85456" y="31481"/>
                        <a:pt x="85456" y="58469"/>
                        <a:pt x="67469" y="58469"/>
                      </a:cubicBezTo>
                      <a:cubicBezTo>
                        <a:pt x="60016" y="58469"/>
                        <a:pt x="53975" y="64510"/>
                        <a:pt x="53975" y="71962"/>
                      </a:cubicBezTo>
                      <a:cubicBezTo>
                        <a:pt x="53975" y="89950"/>
                        <a:pt x="26988" y="89950"/>
                        <a:pt x="26988" y="71962"/>
                      </a:cubicBezTo>
                      <a:cubicBezTo>
                        <a:pt x="26988" y="64510"/>
                        <a:pt x="20946" y="58469"/>
                        <a:pt x="13494" y="58469"/>
                      </a:cubicBezTo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101" name="TextBox 101"/>
              <p:cNvSpPr txBox="1"/>
              <p:nvPr/>
            </p:nvSpPr>
            <p:spPr>
              <a:xfrm>
                <a:off x="9268968" y="4109085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1D1D1F"/>
                    </a:solidFill>
                    <a:latin typeface="Arial"/>
                    <a:ea typeface="SimHei"/>
                    <a:cs typeface="Arial"/>
                  </a:rPr>
                  <a:t>嵌入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9020746" y="4427220"/>
                <a:ext cx="61093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Embedding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8990743" y="4617720"/>
                <a:ext cx="6409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文本 → 向量</a:t>
                </a:r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9906000" y="4333875"/>
              <a:ext cx="285750" cy="95250"/>
              <a:chOff x="9906000" y="4333875"/>
              <a:chExt cx="285750" cy="95250"/>
            </a:xfrm>
          </p:grpSpPr>
          <p:sp>
            <p:nvSpPr>
              <p:cNvPr id="105" name="Line 105"/>
              <p:cNvSpPr/>
              <p:nvPr/>
            </p:nvSpPr>
            <p:spPr>
              <a:xfrm>
                <a:off x="9906000" y="4381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6" name="Polygon 106"/>
              <p:cNvSpPr/>
              <p:nvPr/>
            </p:nvSpPr>
            <p:spPr>
              <a:xfrm>
                <a:off x="10096500" y="4333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grpSp>
          <p:nvGrpSpPr>
            <p:cNvPr id="118" name="Group 118"/>
            <p:cNvGrpSpPr/>
            <p:nvPr/>
          </p:nvGrpSpPr>
          <p:grpSpPr>
            <a:xfrm>
              <a:off x="10287000" y="3905250"/>
              <a:ext cx="1348740" cy="952500"/>
              <a:chOff x="10287000" y="3905250"/>
              <a:chExt cx="1348740" cy="952500"/>
            </a:xfrm>
          </p:grpSpPr>
          <p:sp>
            <p:nvSpPr>
              <p:cNvPr id="108" name="Rectangle 108"/>
              <p:cNvSpPr/>
              <p:nvPr/>
            </p:nvSpPr>
            <p:spPr>
              <a:xfrm>
                <a:off x="10287000" y="3905250"/>
                <a:ext cx="1333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10401300" y="4019550"/>
                <a:ext cx="342900" cy="3429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10511304" y="41281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C0"/>
                    </a:solidFill>
                    <a:latin typeface="Arial"/>
                    <a:ea typeface="SimHei"/>
                    <a:cs typeface="Arial"/>
                  </a:rPr>
                  <a:t>5</a:t>
                </a:r>
              </a:p>
            </p:txBody>
          </p:sp>
          <p:grpSp>
            <p:nvGrpSpPr>
              <p:cNvPr id="114" name="Group 114"/>
              <p:cNvGrpSpPr/>
              <p:nvPr/>
            </p:nvGrpSpPr>
            <p:grpSpPr>
              <a:xfrm>
                <a:off x="10851355" y="4056063"/>
                <a:ext cx="242889" cy="269876"/>
                <a:chOff x="10851355" y="4056063"/>
                <a:chExt cx="242889" cy="269876"/>
              </a:xfrm>
            </p:grpSpPr>
            <p:sp>
              <p:nvSpPr>
                <p:cNvPr id="111" name="Freeform 111"/>
                <p:cNvSpPr/>
                <p:nvPr/>
              </p:nvSpPr>
              <p:spPr>
                <a:xfrm>
                  <a:off x="10851356" y="4241346"/>
                  <a:ext cx="242888" cy="84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84593">
                      <a:moveTo>
                        <a:pt x="0" y="0"/>
                      </a:moveTo>
                      <a:cubicBezTo>
                        <a:pt x="26556" y="20335"/>
                        <a:pt x="70626" y="30617"/>
                        <a:pt x="121444" y="30617"/>
                      </a:cubicBezTo>
                      <a:cubicBezTo>
                        <a:pt x="172181" y="30617"/>
                        <a:pt x="216238" y="20362"/>
                        <a:pt x="242888" y="229"/>
                      </a:cubicBezTo>
                      <a:lnTo>
                        <a:pt x="242888" y="30617"/>
                      </a:lnTo>
                      <a:cubicBezTo>
                        <a:pt x="242888" y="63340"/>
                        <a:pt x="190330" y="83729"/>
                        <a:pt x="125587" y="84566"/>
                      </a:cubicBezTo>
                      <a:lnTo>
                        <a:pt x="121444" y="84593"/>
                      </a:lnTo>
                      <a:cubicBezTo>
                        <a:pt x="54812" y="84593"/>
                        <a:pt x="0" y="64041"/>
                        <a:pt x="0" y="3061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12" name="Freeform 112"/>
                <p:cNvSpPr/>
                <p:nvPr/>
              </p:nvSpPr>
              <p:spPr>
                <a:xfrm>
                  <a:off x="10851356" y="4160383"/>
                  <a:ext cx="242888" cy="84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84593">
                      <a:moveTo>
                        <a:pt x="0" y="0"/>
                      </a:moveTo>
                      <a:cubicBezTo>
                        <a:pt x="26556" y="20335"/>
                        <a:pt x="70626" y="30617"/>
                        <a:pt x="121444" y="30617"/>
                      </a:cubicBezTo>
                      <a:cubicBezTo>
                        <a:pt x="172181" y="30617"/>
                        <a:pt x="216238" y="20362"/>
                        <a:pt x="242888" y="229"/>
                      </a:cubicBezTo>
                      <a:lnTo>
                        <a:pt x="242888" y="30617"/>
                      </a:lnTo>
                      <a:cubicBezTo>
                        <a:pt x="242888" y="64041"/>
                        <a:pt x="188076" y="84593"/>
                        <a:pt x="121444" y="84593"/>
                      </a:cubicBezTo>
                      <a:cubicBezTo>
                        <a:pt x="56701" y="84593"/>
                        <a:pt x="3104" y="65188"/>
                        <a:pt x="283" y="33384"/>
                      </a:cubicBezTo>
                      <a:lnTo>
                        <a:pt x="67" y="32021"/>
                      </a:lnTo>
                      <a:lnTo>
                        <a:pt x="0" y="306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10851355" y="4056063"/>
                  <a:ext cx="242889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9" h="107950">
                      <a:moveTo>
                        <a:pt x="121445" y="0"/>
                      </a:moveTo>
                      <a:cubicBezTo>
                        <a:pt x="135492" y="0"/>
                        <a:pt x="149026" y="918"/>
                        <a:pt x="161616" y="2672"/>
                      </a:cubicBezTo>
                      <a:lnTo>
                        <a:pt x="167945" y="3630"/>
                      </a:lnTo>
                      <a:cubicBezTo>
                        <a:pt x="175501" y="4889"/>
                        <a:pt x="182635" y="6455"/>
                        <a:pt x="189346" y="8326"/>
                      </a:cubicBezTo>
                      <a:lnTo>
                        <a:pt x="195283" y="10093"/>
                      </a:lnTo>
                      <a:lnTo>
                        <a:pt x="196295" y="10417"/>
                      </a:lnTo>
                      <a:cubicBezTo>
                        <a:pt x="199967" y="11625"/>
                        <a:pt x="203591" y="12975"/>
                        <a:pt x="207158" y="14465"/>
                      </a:cubicBezTo>
                      <a:lnTo>
                        <a:pt x="209843" y="15626"/>
                      </a:lnTo>
                      <a:cubicBezTo>
                        <a:pt x="214656" y="17803"/>
                        <a:pt x="219005" y="20187"/>
                        <a:pt x="222891" y="22778"/>
                      </a:cubicBezTo>
                      <a:cubicBezTo>
                        <a:pt x="224376" y="23767"/>
                        <a:pt x="225784" y="24779"/>
                        <a:pt x="227115" y="25814"/>
                      </a:cubicBezTo>
                      <a:cubicBezTo>
                        <a:pt x="230487" y="28431"/>
                        <a:pt x="233520" y="31459"/>
                        <a:pt x="236142" y="34827"/>
                      </a:cubicBezTo>
                      <a:lnTo>
                        <a:pt x="237370" y="36555"/>
                      </a:lnTo>
                      <a:cubicBezTo>
                        <a:pt x="238000" y="37499"/>
                        <a:pt x="238580" y="38448"/>
                        <a:pt x="239111" y="39402"/>
                      </a:cubicBezTo>
                      <a:lnTo>
                        <a:pt x="240055" y="41277"/>
                      </a:lnTo>
                      <a:cubicBezTo>
                        <a:pt x="241522" y="44426"/>
                        <a:pt x="242421" y="47710"/>
                        <a:pt x="242754" y="51128"/>
                      </a:cubicBezTo>
                      <a:lnTo>
                        <a:pt x="242889" y="53975"/>
                      </a:lnTo>
                      <a:cubicBezTo>
                        <a:pt x="242889" y="87399"/>
                        <a:pt x="188077" y="107950"/>
                        <a:pt x="121445" y="107950"/>
                      </a:cubicBezTo>
                      <a:cubicBezTo>
                        <a:pt x="56702" y="107950"/>
                        <a:pt x="3105" y="88546"/>
                        <a:pt x="284" y="56741"/>
                      </a:cubicBezTo>
                      <a:cubicBezTo>
                        <a:pt x="95" y="55831"/>
                        <a:pt x="0" y="54905"/>
                        <a:pt x="1" y="53975"/>
                      </a:cubicBezTo>
                      <a:lnTo>
                        <a:pt x="69" y="52572"/>
                      </a:lnTo>
                      <a:lnTo>
                        <a:pt x="284" y="51222"/>
                      </a:lnTo>
                      <a:cubicBezTo>
                        <a:pt x="3051" y="20106"/>
                        <a:pt x="54394" y="850"/>
                        <a:pt x="117235" y="2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115" name="TextBox 115"/>
              <p:cNvSpPr txBox="1"/>
              <p:nvPr/>
            </p:nvSpPr>
            <p:spPr>
              <a:xfrm>
                <a:off x="11269218" y="4109085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入库</a:t>
                </a: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11249025" y="4427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Arial"/>
                    <a:ea typeface="Microsoft YaHei"/>
                    <a:cs typeface="Arial"/>
                  </a:rPr>
                  <a:t>向量库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11026997" y="46177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Arial"/>
                    <a:ea typeface="Microsoft YaHei"/>
                    <a:cs typeface="Arial"/>
                  </a:rPr>
                  <a:t>+ 倒排索引</a:t>
                </a:r>
              </a:p>
            </p:txBody>
          </p:sp>
        </p:grpSp>
      </p:grpSp>
      <p:grpSp>
        <p:nvGrpSpPr>
          <p:cNvPr id="121" name="Group 121"/>
          <p:cNvGrpSpPr/>
          <p:nvPr/>
        </p:nvGrpSpPr>
        <p:grpSpPr>
          <a:xfrm>
            <a:off x="552450" y="5172075"/>
            <a:ext cx="1476780" cy="304800"/>
            <a:chOff x="552450" y="5172075"/>
            <a:chExt cx="1476780" cy="304800"/>
          </a:xfrm>
        </p:grpSpPr>
        <p:sp>
          <p:nvSpPr>
            <p:cNvPr id="120" name="TextBox 120"/>
            <p:cNvSpPr txBox="1"/>
            <p:nvPr/>
          </p:nvSpPr>
          <p:spPr>
            <a:xfrm>
              <a:off x="552450" y="5172075"/>
              <a:ext cx="14767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③ 元数据与权限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571500" y="5524500"/>
            <a:ext cx="11049000" cy="952500"/>
            <a:chOff x="571500" y="5524500"/>
            <a:chExt cx="11049000" cy="952500"/>
          </a:xfrm>
        </p:grpSpPr>
        <p:sp>
          <p:nvSpPr>
            <p:cNvPr id="122" name="Rectangle 122"/>
            <p:cNvSpPr/>
            <p:nvPr/>
          </p:nvSpPr>
          <p:spPr>
            <a:xfrm>
              <a:off x="571500" y="5524500"/>
              <a:ext cx="11049000" cy="952500"/>
            </a:xfrm>
            <a:prstGeom prst="roundRect">
              <a:avLst>
                <a:gd name="adj" fmla="val 10000"/>
              </a:avLst>
            </a:prstGeom>
            <a:solidFill>
              <a:srgbClr val="F4F6F8"/>
            </a:solidFill>
            <a:ln>
              <a:noFill/>
            </a:ln>
          </p:spPr>
        </p:sp>
        <p:grpSp>
          <p:nvGrpSpPr>
            <p:cNvPr id="127" name="Group 127"/>
            <p:cNvGrpSpPr/>
            <p:nvPr/>
          </p:nvGrpSpPr>
          <p:grpSpPr>
            <a:xfrm>
              <a:off x="933450" y="5791200"/>
              <a:ext cx="1598104" cy="438150"/>
              <a:chOff x="933450" y="5791200"/>
              <a:chExt cx="1598104" cy="438150"/>
            </a:xfrm>
          </p:grpSpPr>
          <p:sp>
            <p:nvSpPr>
              <p:cNvPr id="123" name="Ellipse 123"/>
              <p:cNvSpPr/>
              <p:nvPr/>
            </p:nvSpPr>
            <p:spPr>
              <a:xfrm>
                <a:off x="933450" y="5791200"/>
                <a:ext cx="419100" cy="419100"/>
              </a:xfrm>
              <a:prstGeom prst="ellipse">
                <a:avLst/>
              </a:prstGeom>
              <a:solidFill>
                <a:srgbClr val="26A69A"/>
              </a:solidFill>
              <a:ln>
                <a:noFill/>
              </a:ln>
            </p:spPr>
          </p:sp>
          <p:sp>
            <p:nvSpPr>
              <p:cNvPr id="124" name="TextBox 124"/>
              <p:cNvSpPr txBox="1"/>
              <p:nvPr/>
            </p:nvSpPr>
            <p:spPr>
              <a:xfrm>
                <a:off x="1043750" y="5937885"/>
                <a:ext cx="1985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源</a:t>
                </a:r>
              </a:p>
            </p:txBody>
          </p:sp>
          <p:sp>
            <p:nvSpPr>
              <p:cNvPr id="125" name="TextBox 125"/>
              <p:cNvSpPr txBox="1"/>
              <p:nvPr/>
            </p:nvSpPr>
            <p:spPr>
              <a:xfrm>
                <a:off x="1510665" y="582072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1D1F"/>
                    </a:solidFill>
                    <a:latin typeface="Arial"/>
                    <a:ea typeface="SimHei"/>
                    <a:cs typeface="Arial"/>
                  </a:rPr>
                  <a:t>来源</a:t>
                </a:r>
              </a:p>
            </p:txBody>
          </p:sp>
          <p:sp>
            <p:nvSpPr>
              <p:cNvPr id="126" name="TextBox 126"/>
              <p:cNvSpPr txBox="1"/>
              <p:nvPr/>
            </p:nvSpPr>
            <p:spPr>
              <a:xfrm>
                <a:off x="1512570" y="6046470"/>
                <a:ext cx="10189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文件 / 系统 / 部门</a:t>
                </a:r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3409950" y="5791200"/>
              <a:ext cx="1580102" cy="438150"/>
              <a:chOff x="3409950" y="5791200"/>
              <a:chExt cx="1580102" cy="438150"/>
            </a:xfrm>
          </p:grpSpPr>
          <p:sp>
            <p:nvSpPr>
              <p:cNvPr id="128" name="Ellipse 128"/>
              <p:cNvSpPr/>
              <p:nvPr/>
            </p:nvSpPr>
            <p:spPr>
              <a:xfrm>
                <a:off x="3409950" y="5791200"/>
                <a:ext cx="419100" cy="4191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3520250" y="5937885"/>
                <a:ext cx="1985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时</a:t>
                </a:r>
              </a:p>
            </p:txBody>
          </p:sp>
          <p:sp>
            <p:nvSpPr>
              <p:cNvPr id="130" name="TextBox 130"/>
              <p:cNvSpPr txBox="1"/>
              <p:nvPr/>
            </p:nvSpPr>
            <p:spPr>
              <a:xfrm>
                <a:off x="3987165" y="58207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1D1F"/>
                    </a:solidFill>
                    <a:latin typeface="Arial"/>
                    <a:ea typeface="SimHei"/>
                    <a:cs typeface="Arial"/>
                  </a:rPr>
                  <a:t>更新时间</a:t>
                </a:r>
              </a:p>
            </p:txBody>
          </p:sp>
          <p:sp>
            <p:nvSpPr>
              <p:cNvPr id="131" name="TextBox 131"/>
              <p:cNvSpPr txBox="1"/>
              <p:nvPr/>
            </p:nvSpPr>
            <p:spPr>
              <a:xfrm>
                <a:off x="3989070" y="6046470"/>
                <a:ext cx="10009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版本号 / 修订时间</a:t>
                </a:r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5886450" y="5791200"/>
              <a:ext cx="1460087" cy="438150"/>
              <a:chOff x="5886450" y="5791200"/>
              <a:chExt cx="1460087" cy="438150"/>
            </a:xfrm>
          </p:grpSpPr>
          <p:sp>
            <p:nvSpPr>
              <p:cNvPr id="133" name="Ellipse 133"/>
              <p:cNvSpPr/>
              <p:nvPr/>
            </p:nvSpPr>
            <p:spPr>
              <a:xfrm>
                <a:off x="5886450" y="5791200"/>
                <a:ext cx="419100" cy="419100"/>
              </a:xfrm>
              <a:prstGeom prst="ellipse">
                <a:avLst/>
              </a:prstGeom>
              <a:solidFill>
                <a:srgbClr val="FF8A65"/>
              </a:solidFill>
              <a:ln>
                <a:noFill/>
              </a:ln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5996749" y="5937885"/>
                <a:ext cx="1985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部</a:t>
                </a:r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6463665" y="58207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1D1F"/>
                    </a:solidFill>
                    <a:latin typeface="Arial"/>
                    <a:ea typeface="SimHei"/>
                    <a:cs typeface="Arial"/>
                  </a:rPr>
                  <a:t>部门归属</a:t>
                </a:r>
              </a:p>
            </p:txBody>
          </p:sp>
          <p:sp>
            <p:nvSpPr>
              <p:cNvPr id="136" name="TextBox 136"/>
              <p:cNvSpPr txBox="1"/>
              <p:nvPr/>
            </p:nvSpPr>
            <p:spPr>
              <a:xfrm>
                <a:off x="6465570" y="6046470"/>
                <a:ext cx="8809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业务线 / 责任人</a:t>
                </a: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8362950" y="5791200"/>
              <a:ext cx="1562100" cy="438150"/>
              <a:chOff x="8362950" y="5791200"/>
              <a:chExt cx="1562100" cy="438150"/>
            </a:xfrm>
          </p:grpSpPr>
          <p:sp>
            <p:nvSpPr>
              <p:cNvPr id="138" name="Ellipse 138"/>
              <p:cNvSpPr/>
              <p:nvPr/>
            </p:nvSpPr>
            <p:spPr>
              <a:xfrm>
                <a:off x="8362950" y="5791200"/>
                <a:ext cx="419100" cy="419100"/>
              </a:xfrm>
              <a:prstGeom prst="ellipse">
                <a:avLst/>
              </a:prstGeom>
              <a:solidFill>
                <a:srgbClr val="7B1FA2"/>
              </a:solidFill>
              <a:ln>
                <a:noFill/>
              </a:ln>
            </p:spPr>
          </p:sp>
          <p:sp>
            <p:nvSpPr>
              <p:cNvPr id="139" name="TextBox 139"/>
              <p:cNvSpPr txBox="1"/>
              <p:nvPr/>
            </p:nvSpPr>
            <p:spPr>
              <a:xfrm>
                <a:off x="8473250" y="5937885"/>
                <a:ext cx="1985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权</a:t>
                </a:r>
              </a:p>
            </p:txBody>
          </p:sp>
          <p:sp>
            <p:nvSpPr>
              <p:cNvPr id="140" name="TextBox 140"/>
              <p:cNvSpPr txBox="1"/>
              <p:nvPr/>
            </p:nvSpPr>
            <p:spPr>
              <a:xfrm>
                <a:off x="8940165" y="58207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1D1F"/>
                    </a:solidFill>
                    <a:latin typeface="Arial"/>
                    <a:ea typeface="SimHei"/>
                    <a:cs typeface="Arial"/>
                  </a:rPr>
                  <a:t>访问级别</a:t>
                </a:r>
              </a:p>
            </p:txBody>
          </p:sp>
          <p:sp>
            <p:nvSpPr>
              <p:cNvPr id="141" name="TextBox 141"/>
              <p:cNvSpPr txBox="1"/>
              <p:nvPr/>
            </p:nvSpPr>
            <p:spPr>
              <a:xfrm>
                <a:off x="8942070" y="604647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检索时按权限过滤</a:t>
                </a:r>
              </a:p>
            </p:txBody>
          </p:sp>
        </p:grpSp>
      </p:grpSp>
      <p:grpSp>
        <p:nvGrpSpPr>
          <p:cNvPr id="146" name="Group 146"/>
          <p:cNvGrpSpPr/>
          <p:nvPr/>
        </p:nvGrpSpPr>
        <p:grpSpPr>
          <a:xfrm>
            <a:off x="560070" y="6646545"/>
            <a:ext cx="11071860" cy="182880"/>
            <a:chOff x="560070" y="6646545"/>
            <a:chExt cx="11071860" cy="182880"/>
          </a:xfrm>
        </p:grpSpPr>
        <p:sp>
          <p:nvSpPr>
            <p:cNvPr id="144" name="TextBox 144"/>
            <p:cNvSpPr txBox="1"/>
            <p:nvPr/>
          </p:nvSpPr>
          <p:spPr>
            <a:xfrm>
              <a:off x="560070" y="6646545"/>
              <a:ext cx="14750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RAG 知识库 · 多元异构数据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11207020" y="66465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03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470535"/>
            <a:ext cx="4364407" cy="684371"/>
            <a:chOff x="571500" y="470535"/>
            <a:chExt cx="4364407" cy="684371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D47A1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7710" y="470535"/>
              <a:ext cx="420819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RAG 是怎么回答问题的？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7712" y="926306"/>
              <a:ext cx="3726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一次"问-答"被拆成五个步骤，每一步都可观测、可替换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333500"/>
            <a:ext cx="11049000" cy="9525"/>
            <a:chOff x="571500" y="1333500"/>
            <a:chExt cx="11049000" cy="9525"/>
          </a:xfrm>
        </p:grpSpPr>
        <p:sp>
          <p:nvSpPr>
            <p:cNvPr id="9" name="Line 9"/>
            <p:cNvSpPr/>
            <p:nvPr/>
          </p:nvSpPr>
          <p:spPr>
            <a:xfrm>
              <a:off x="571500" y="1333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0E3E7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714500"/>
            <a:ext cx="11049000" cy="1905000"/>
            <a:chOff x="571500" y="1714500"/>
            <a:chExt cx="11049000" cy="1905000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11049000" cy="1905000"/>
            </a:xfrm>
            <a:prstGeom prst="roundRect">
              <a:avLst>
                <a:gd name="adj" fmla="val 7000"/>
              </a:avLst>
            </a:prstGeom>
            <a:solidFill>
              <a:srgbClr val="F4F6F8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010668" y="2190750"/>
            <a:ext cx="10133582" cy="1704975"/>
            <a:chOff x="1010668" y="2190750"/>
            <a:chExt cx="10133582" cy="1704975"/>
          </a:xfrm>
        </p:grpSpPr>
        <p:grpSp>
          <p:nvGrpSpPr>
            <p:cNvPr id="17" name="Group 17"/>
            <p:cNvGrpSpPr/>
            <p:nvPr/>
          </p:nvGrpSpPr>
          <p:grpSpPr>
            <a:xfrm>
              <a:off x="1010668" y="2190750"/>
              <a:ext cx="1026664" cy="1704975"/>
              <a:chOff x="1010668" y="2190750"/>
              <a:chExt cx="1026664" cy="1704975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047750" y="2190750"/>
                <a:ext cx="952500" cy="9525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08789" y="2385393"/>
                <a:ext cx="631307" cy="565242"/>
              </a:xfrm>
              <a:custGeom>
                <a:avLst/>
                <a:gdLst/>
                <a:ahLst/>
                <a:cxnLst/>
                <a:rect l="l" t="t" r="r" b="b"/>
                <a:pathLst>
                  <a:path w="631307" h="565242">
                    <a:moveTo>
                      <a:pt x="138646" y="79010"/>
                    </a:moveTo>
                    <a:cubicBezTo>
                      <a:pt x="250060" y="0"/>
                      <a:pt x="409194" y="6458"/>
                      <a:pt x="512207" y="94297"/>
                    </a:cubicBezTo>
                    <a:cubicBezTo>
                      <a:pt x="616991" y="183709"/>
                      <a:pt x="631307" y="329698"/>
                      <a:pt x="545125" y="434283"/>
                    </a:cubicBezTo>
                    <a:cubicBezTo>
                      <a:pt x="463944" y="532781"/>
                      <a:pt x="317525" y="565242"/>
                      <a:pt x="195624" y="514436"/>
                    </a:cubicBezTo>
                    <a:lnTo>
                      <a:pt x="188966" y="511550"/>
                    </a:lnTo>
                    <a:lnTo>
                      <a:pt x="63979" y="538153"/>
                    </a:lnTo>
                    <a:lnTo>
                      <a:pt x="62836" y="538324"/>
                    </a:lnTo>
                    <a:lnTo>
                      <a:pt x="61836" y="538524"/>
                    </a:lnTo>
                    <a:lnTo>
                      <a:pt x="61322" y="538524"/>
                    </a:lnTo>
                    <a:lnTo>
                      <a:pt x="60693" y="538667"/>
                    </a:lnTo>
                    <a:lnTo>
                      <a:pt x="59607" y="538667"/>
                    </a:lnTo>
                    <a:lnTo>
                      <a:pt x="58664" y="538782"/>
                    </a:lnTo>
                    <a:lnTo>
                      <a:pt x="58064" y="538753"/>
                    </a:lnTo>
                    <a:lnTo>
                      <a:pt x="57407" y="538782"/>
                    </a:lnTo>
                    <a:lnTo>
                      <a:pt x="56464" y="538696"/>
                    </a:lnTo>
                    <a:lnTo>
                      <a:pt x="55464" y="538696"/>
                    </a:lnTo>
                    <a:lnTo>
                      <a:pt x="54835" y="538582"/>
                    </a:lnTo>
                    <a:lnTo>
                      <a:pt x="54207" y="538524"/>
                    </a:lnTo>
                    <a:lnTo>
                      <a:pt x="53207" y="538324"/>
                    </a:lnTo>
                    <a:lnTo>
                      <a:pt x="52235" y="538182"/>
                    </a:lnTo>
                    <a:lnTo>
                      <a:pt x="51778" y="538067"/>
                    </a:lnTo>
                    <a:lnTo>
                      <a:pt x="51092" y="537924"/>
                    </a:lnTo>
                    <a:lnTo>
                      <a:pt x="49692" y="537467"/>
                    </a:lnTo>
                    <a:lnTo>
                      <a:pt x="49006" y="537324"/>
                    </a:lnTo>
                    <a:lnTo>
                      <a:pt x="48692" y="537181"/>
                    </a:lnTo>
                    <a:lnTo>
                      <a:pt x="48063" y="536981"/>
                    </a:lnTo>
                    <a:lnTo>
                      <a:pt x="46777" y="536410"/>
                    </a:lnTo>
                    <a:lnTo>
                      <a:pt x="45920" y="536067"/>
                    </a:lnTo>
                    <a:lnTo>
                      <a:pt x="45606" y="535896"/>
                    </a:lnTo>
                    <a:lnTo>
                      <a:pt x="45206" y="535724"/>
                    </a:lnTo>
                    <a:lnTo>
                      <a:pt x="44320" y="535210"/>
                    </a:lnTo>
                    <a:lnTo>
                      <a:pt x="43034" y="534524"/>
                    </a:lnTo>
                    <a:lnTo>
                      <a:pt x="42577" y="534210"/>
                    </a:lnTo>
                    <a:lnTo>
                      <a:pt x="41519" y="533467"/>
                    </a:lnTo>
                    <a:lnTo>
                      <a:pt x="40376" y="532695"/>
                    </a:lnTo>
                    <a:lnTo>
                      <a:pt x="40319" y="532581"/>
                    </a:lnTo>
                    <a:lnTo>
                      <a:pt x="39948" y="532324"/>
                    </a:lnTo>
                    <a:lnTo>
                      <a:pt x="38719" y="531181"/>
                    </a:lnTo>
                    <a:lnTo>
                      <a:pt x="38005" y="530609"/>
                    </a:lnTo>
                    <a:lnTo>
                      <a:pt x="37833" y="530409"/>
                    </a:lnTo>
                    <a:lnTo>
                      <a:pt x="36233" y="528638"/>
                    </a:lnTo>
                    <a:lnTo>
                      <a:pt x="35862" y="528237"/>
                    </a:lnTo>
                    <a:lnTo>
                      <a:pt x="35547" y="527837"/>
                    </a:lnTo>
                    <a:lnTo>
                      <a:pt x="34433" y="526237"/>
                    </a:lnTo>
                    <a:lnTo>
                      <a:pt x="34033" y="525694"/>
                    </a:lnTo>
                    <a:lnTo>
                      <a:pt x="33890" y="525409"/>
                    </a:lnTo>
                    <a:lnTo>
                      <a:pt x="32690" y="523323"/>
                    </a:lnTo>
                    <a:lnTo>
                      <a:pt x="32490" y="522980"/>
                    </a:lnTo>
                    <a:lnTo>
                      <a:pt x="32375" y="522751"/>
                    </a:lnTo>
                    <a:lnTo>
                      <a:pt x="32175" y="522408"/>
                    </a:lnTo>
                    <a:lnTo>
                      <a:pt x="31775" y="521322"/>
                    </a:lnTo>
                    <a:lnTo>
                      <a:pt x="31204" y="520122"/>
                    </a:lnTo>
                    <a:lnTo>
                      <a:pt x="31090" y="519665"/>
                    </a:lnTo>
                    <a:lnTo>
                      <a:pt x="30975" y="519379"/>
                    </a:lnTo>
                    <a:lnTo>
                      <a:pt x="30490" y="517636"/>
                    </a:lnTo>
                    <a:lnTo>
                      <a:pt x="30290" y="517122"/>
                    </a:lnTo>
                    <a:lnTo>
                      <a:pt x="30232" y="516693"/>
                    </a:lnTo>
                    <a:lnTo>
                      <a:pt x="30089" y="516150"/>
                    </a:lnTo>
                    <a:lnTo>
                      <a:pt x="29947" y="515207"/>
                    </a:lnTo>
                    <a:lnTo>
                      <a:pt x="29718" y="514007"/>
                    </a:lnTo>
                    <a:lnTo>
                      <a:pt x="29661" y="513121"/>
                    </a:lnTo>
                    <a:lnTo>
                      <a:pt x="29575" y="512836"/>
                    </a:lnTo>
                    <a:lnTo>
                      <a:pt x="29575" y="512378"/>
                    </a:lnTo>
                    <a:lnTo>
                      <a:pt x="29461" y="510835"/>
                    </a:lnTo>
                    <a:lnTo>
                      <a:pt x="29489" y="509807"/>
                    </a:lnTo>
                    <a:lnTo>
                      <a:pt x="29518" y="509149"/>
                    </a:lnTo>
                    <a:lnTo>
                      <a:pt x="29575" y="507635"/>
                    </a:lnTo>
                    <a:lnTo>
                      <a:pt x="29689" y="506920"/>
                    </a:lnTo>
                    <a:lnTo>
                      <a:pt x="29689" y="506378"/>
                    </a:lnTo>
                    <a:lnTo>
                      <a:pt x="29918" y="505377"/>
                    </a:lnTo>
                    <a:lnTo>
                      <a:pt x="30061" y="504406"/>
                    </a:lnTo>
                    <a:lnTo>
                      <a:pt x="30204" y="503834"/>
                    </a:lnTo>
                    <a:lnTo>
                      <a:pt x="30318" y="503263"/>
                    </a:lnTo>
                    <a:lnTo>
                      <a:pt x="30832" y="501548"/>
                    </a:lnTo>
                    <a:lnTo>
                      <a:pt x="30918" y="501177"/>
                    </a:lnTo>
                    <a:lnTo>
                      <a:pt x="63779" y="402593"/>
                    </a:lnTo>
                    <a:lnTo>
                      <a:pt x="63151" y="401536"/>
                    </a:lnTo>
                    <a:cubicBezTo>
                      <a:pt x="0" y="294465"/>
                      <a:pt x="28604" y="161763"/>
                      <a:pt x="132102" y="838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0668" y="3378518"/>
                <a:ext cx="102666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565C0"/>
                    </a:solidFill>
                    <a:latin typeface="Arial"/>
                    <a:ea typeface="SimHei"/>
                    <a:cs typeface="Arial"/>
                  </a:rPr>
                  <a:t>Query 理解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14508" y="3712845"/>
                <a:ext cx="10189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改写 / 扩写 / 实体</a:t>
                </a: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2095500" y="2667000"/>
              <a:ext cx="9525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309509" y="2190750"/>
              <a:ext cx="1000982" cy="1704975"/>
              <a:chOff x="3309509" y="2190750"/>
              <a:chExt cx="1000982" cy="1704975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3333750" y="2190750"/>
                <a:ext cx="952500" cy="9525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501489" y="2354427"/>
                <a:ext cx="596717" cy="600779"/>
              </a:xfrm>
              <a:custGeom>
                <a:avLst/>
                <a:gdLst/>
                <a:ahLst/>
                <a:cxnLst/>
                <a:rect l="l" t="t" r="r" b="b"/>
                <a:pathLst>
                  <a:path w="596717" h="600779">
                    <a:moveTo>
                      <a:pt x="365661" y="57455"/>
                    </a:moveTo>
                    <a:cubicBezTo>
                      <a:pt x="422870" y="90479"/>
                      <a:pt x="462997" y="146636"/>
                      <a:pt x="475705" y="211458"/>
                    </a:cubicBezTo>
                    <a:cubicBezTo>
                      <a:pt x="488413" y="276281"/>
                      <a:pt x="472460" y="343431"/>
                      <a:pt x="431955" y="395612"/>
                    </a:cubicBezTo>
                    <a:lnTo>
                      <a:pt x="585888" y="549545"/>
                    </a:lnTo>
                    <a:cubicBezTo>
                      <a:pt x="596717" y="560758"/>
                      <a:pt x="596562" y="578580"/>
                      <a:pt x="585540" y="589602"/>
                    </a:cubicBezTo>
                    <a:cubicBezTo>
                      <a:pt x="574518" y="600625"/>
                      <a:pt x="556695" y="600779"/>
                      <a:pt x="545483" y="589950"/>
                    </a:cubicBezTo>
                    <a:lnTo>
                      <a:pt x="391521" y="436017"/>
                    </a:lnTo>
                    <a:cubicBezTo>
                      <a:pt x="300766" y="506438"/>
                      <a:pt x="171846" y="498574"/>
                      <a:pt x="90324" y="417642"/>
                    </a:cubicBezTo>
                    <a:cubicBezTo>
                      <a:pt x="8802" y="336711"/>
                      <a:pt x="0" y="207852"/>
                      <a:pt x="69760" y="116587"/>
                    </a:cubicBezTo>
                    <a:cubicBezTo>
                      <a:pt x="139520" y="25322"/>
                      <a:pt x="266172" y="0"/>
                      <a:pt x="365661" y="5742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414808" y="33785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565C0"/>
                    </a:solidFill>
                    <a:latin typeface="Arial"/>
                    <a:ea typeface="SimHei"/>
                    <a:cs typeface="Arial"/>
                  </a:rPr>
                  <a:t>混合检索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309509" y="3712845"/>
                <a:ext cx="10009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向量 + 关键词双路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4381500" y="2667000"/>
              <a:ext cx="9525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5517499" y="2190750"/>
              <a:ext cx="1157002" cy="1704975"/>
              <a:chOff x="5517499" y="2190750"/>
              <a:chExt cx="1157002" cy="1704975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5619750" y="2190750"/>
                <a:ext cx="952500" cy="9525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838825" y="2409825"/>
                <a:ext cx="514360" cy="544370"/>
              </a:xfrm>
              <a:custGeom>
                <a:avLst/>
                <a:gdLst/>
                <a:ahLst/>
                <a:cxnLst/>
                <a:rect l="l" t="t" r="r" b="b"/>
                <a:pathLst>
                  <a:path w="514360" h="544370">
                    <a:moveTo>
                      <a:pt x="48577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92212"/>
                    </a:lnTo>
                    <a:lnTo>
                      <a:pt x="229" y="98584"/>
                    </a:lnTo>
                    <a:cubicBezTo>
                      <a:pt x="1652" y="117664"/>
                      <a:pt x="9417" y="135719"/>
                      <a:pt x="22289" y="149876"/>
                    </a:cubicBezTo>
                    <a:lnTo>
                      <a:pt x="142875" y="282492"/>
                    </a:lnTo>
                    <a:lnTo>
                      <a:pt x="142875" y="514350"/>
                    </a:lnTo>
                    <a:cubicBezTo>
                      <a:pt x="142873" y="523535"/>
                      <a:pt x="147286" y="532162"/>
                      <a:pt x="154736" y="537534"/>
                    </a:cubicBezTo>
                    <a:cubicBezTo>
                      <a:pt x="162187" y="542907"/>
                      <a:pt x="171765" y="544370"/>
                      <a:pt x="180480" y="541468"/>
                    </a:cubicBezTo>
                    <a:lnTo>
                      <a:pt x="351930" y="484318"/>
                    </a:lnTo>
                    <a:lnTo>
                      <a:pt x="355016" y="483089"/>
                    </a:lnTo>
                    <a:cubicBezTo>
                      <a:pt x="365062" y="478386"/>
                      <a:pt x="371479" y="468293"/>
                      <a:pt x="371475" y="457200"/>
                    </a:cubicBezTo>
                    <a:lnTo>
                      <a:pt x="371475" y="269005"/>
                    </a:lnTo>
                    <a:lnTo>
                      <a:pt x="489233" y="151276"/>
                    </a:lnTo>
                    <a:cubicBezTo>
                      <a:pt x="505324" y="135189"/>
                      <a:pt x="514360" y="113365"/>
                      <a:pt x="514350" y="90611"/>
                    </a:cubicBezTo>
                    <a:lnTo>
                      <a:pt x="514350" y="28575"/>
                    </a:lnTo>
                    <a:cubicBezTo>
                      <a:pt x="514350" y="12793"/>
                      <a:pt x="501557" y="0"/>
                      <a:pt x="4857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606296" y="337851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565C0"/>
                    </a:solidFill>
                    <a:latin typeface="Arial"/>
                    <a:ea typeface="SimHei"/>
                    <a:cs typeface="Arial"/>
                  </a:rPr>
                  <a:t>重排与过滤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517499" y="3712845"/>
                <a:ext cx="11570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Cross-encoder 精排</a:t>
                </a: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6667500" y="2667000"/>
              <a:ext cx="9525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816686" y="2190750"/>
              <a:ext cx="1130627" cy="1704975"/>
              <a:chOff x="7816686" y="2190750"/>
              <a:chExt cx="1130627" cy="1704975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7905750" y="2190750"/>
                <a:ext cx="952500" cy="9525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096250" y="2409804"/>
                <a:ext cx="571500" cy="514371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14371">
                    <a:moveTo>
                      <a:pt x="571500" y="57171"/>
                    </a:moveTo>
                    <a:cubicBezTo>
                      <a:pt x="571500" y="72953"/>
                      <a:pt x="558707" y="85746"/>
                      <a:pt x="542925" y="85746"/>
                    </a:cubicBezTo>
                    <a:lnTo>
                      <a:pt x="314325" y="85746"/>
                    </a:lnTo>
                    <a:cubicBezTo>
                      <a:pt x="298543" y="85746"/>
                      <a:pt x="285750" y="72953"/>
                      <a:pt x="285750" y="57171"/>
                    </a:cubicBezTo>
                    <a:cubicBezTo>
                      <a:pt x="285750" y="41390"/>
                      <a:pt x="298543" y="28596"/>
                      <a:pt x="314325" y="28596"/>
                    </a:cubicBezTo>
                    <a:lnTo>
                      <a:pt x="542925" y="28596"/>
                    </a:lnTo>
                    <a:cubicBezTo>
                      <a:pt x="558707" y="28596"/>
                      <a:pt x="571500" y="41390"/>
                      <a:pt x="571500" y="57171"/>
                    </a:cubicBezTo>
                    <a:moveTo>
                      <a:pt x="485775" y="171471"/>
                    </a:moveTo>
                    <a:cubicBezTo>
                      <a:pt x="485775" y="187253"/>
                      <a:pt x="472982" y="200046"/>
                      <a:pt x="457200" y="200046"/>
                    </a:cubicBezTo>
                    <a:lnTo>
                      <a:pt x="314325" y="200046"/>
                    </a:lnTo>
                    <a:cubicBezTo>
                      <a:pt x="298543" y="200046"/>
                      <a:pt x="285750" y="187253"/>
                      <a:pt x="285750" y="171471"/>
                    </a:cubicBezTo>
                    <a:cubicBezTo>
                      <a:pt x="285750" y="155690"/>
                      <a:pt x="298543" y="142896"/>
                      <a:pt x="314325" y="142896"/>
                    </a:cubicBezTo>
                    <a:lnTo>
                      <a:pt x="457200" y="142896"/>
                    </a:lnTo>
                    <a:cubicBezTo>
                      <a:pt x="472982" y="142896"/>
                      <a:pt x="485775" y="155690"/>
                      <a:pt x="485775" y="171471"/>
                    </a:cubicBezTo>
                    <a:moveTo>
                      <a:pt x="571500" y="342921"/>
                    </a:moveTo>
                    <a:cubicBezTo>
                      <a:pt x="571500" y="358703"/>
                      <a:pt x="558707" y="371496"/>
                      <a:pt x="542925" y="371496"/>
                    </a:cubicBezTo>
                    <a:lnTo>
                      <a:pt x="314325" y="371496"/>
                    </a:lnTo>
                    <a:cubicBezTo>
                      <a:pt x="298543" y="371496"/>
                      <a:pt x="285750" y="358703"/>
                      <a:pt x="285750" y="342921"/>
                    </a:cubicBezTo>
                    <a:cubicBezTo>
                      <a:pt x="285750" y="327140"/>
                      <a:pt x="298543" y="314346"/>
                      <a:pt x="314325" y="314346"/>
                    </a:cubicBezTo>
                    <a:lnTo>
                      <a:pt x="542925" y="314346"/>
                    </a:lnTo>
                    <a:cubicBezTo>
                      <a:pt x="558707" y="314346"/>
                      <a:pt x="571500" y="327140"/>
                      <a:pt x="571500" y="342921"/>
                    </a:cubicBezTo>
                    <a:moveTo>
                      <a:pt x="485775" y="457221"/>
                    </a:moveTo>
                    <a:cubicBezTo>
                      <a:pt x="485775" y="473003"/>
                      <a:pt x="472982" y="485796"/>
                      <a:pt x="457200" y="485796"/>
                    </a:cubicBezTo>
                    <a:lnTo>
                      <a:pt x="314325" y="485796"/>
                    </a:lnTo>
                    <a:cubicBezTo>
                      <a:pt x="298543" y="485796"/>
                      <a:pt x="285750" y="473003"/>
                      <a:pt x="285750" y="457221"/>
                    </a:cubicBezTo>
                    <a:cubicBezTo>
                      <a:pt x="285750" y="441440"/>
                      <a:pt x="298543" y="428646"/>
                      <a:pt x="314325" y="428646"/>
                    </a:cubicBezTo>
                    <a:lnTo>
                      <a:pt x="457200" y="428646"/>
                    </a:lnTo>
                    <a:cubicBezTo>
                      <a:pt x="472982" y="428646"/>
                      <a:pt x="485775" y="441440"/>
                      <a:pt x="485775" y="457221"/>
                    </a:cubicBezTo>
                    <a:moveTo>
                      <a:pt x="171450" y="21"/>
                    </a:moveTo>
                    <a:cubicBezTo>
                      <a:pt x="203013" y="21"/>
                      <a:pt x="228600" y="25608"/>
                      <a:pt x="228600" y="57171"/>
                    </a:cubicBezTo>
                    <a:lnTo>
                      <a:pt x="228600" y="171471"/>
                    </a:lnTo>
                    <a:cubicBezTo>
                      <a:pt x="228600" y="203035"/>
                      <a:pt x="203013" y="228621"/>
                      <a:pt x="171450" y="228621"/>
                    </a:cubicBezTo>
                    <a:lnTo>
                      <a:pt x="57150" y="228621"/>
                    </a:lnTo>
                    <a:cubicBezTo>
                      <a:pt x="25587" y="228621"/>
                      <a:pt x="0" y="203035"/>
                      <a:pt x="0" y="171471"/>
                    </a:cubicBezTo>
                    <a:lnTo>
                      <a:pt x="29" y="55714"/>
                    </a:lnTo>
                    <a:lnTo>
                      <a:pt x="143" y="54257"/>
                    </a:lnTo>
                    <a:cubicBezTo>
                      <a:pt x="1637" y="23867"/>
                      <a:pt x="26723" y="0"/>
                      <a:pt x="57150" y="21"/>
                    </a:cubicBezTo>
                    <a:close/>
                    <a:moveTo>
                      <a:pt x="171450" y="285771"/>
                    </a:moveTo>
                    <a:cubicBezTo>
                      <a:pt x="203013" y="285771"/>
                      <a:pt x="228600" y="311358"/>
                      <a:pt x="228600" y="342921"/>
                    </a:cubicBezTo>
                    <a:lnTo>
                      <a:pt x="228600" y="457221"/>
                    </a:lnTo>
                    <a:cubicBezTo>
                      <a:pt x="228600" y="488785"/>
                      <a:pt x="203013" y="514371"/>
                      <a:pt x="171450" y="514371"/>
                    </a:cubicBezTo>
                    <a:lnTo>
                      <a:pt x="57150" y="514371"/>
                    </a:lnTo>
                    <a:cubicBezTo>
                      <a:pt x="25587" y="514371"/>
                      <a:pt x="0" y="488785"/>
                      <a:pt x="0" y="457221"/>
                    </a:cubicBezTo>
                    <a:lnTo>
                      <a:pt x="29" y="341464"/>
                    </a:lnTo>
                    <a:lnTo>
                      <a:pt x="143" y="340007"/>
                    </a:lnTo>
                    <a:cubicBezTo>
                      <a:pt x="1637" y="309617"/>
                      <a:pt x="26723" y="285750"/>
                      <a:pt x="57150" y="2857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816686" y="3378518"/>
                <a:ext cx="113062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565C0"/>
                    </a:solidFill>
                    <a:latin typeface="Arial"/>
                    <a:ea typeface="SimHei"/>
                    <a:cs typeface="Arial"/>
                  </a:rPr>
                  <a:t>Prompt 拼装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896511" y="3712845"/>
                <a:ext cx="9709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Top-K + 系统提示</a:t>
                </a:r>
              </a:p>
            </p:txBody>
          </p:sp>
        </p:grpSp>
        <p:sp>
          <p:nvSpPr>
            <p:cNvPr id="36" name="Line 36"/>
            <p:cNvSpPr/>
            <p:nvPr/>
          </p:nvSpPr>
          <p:spPr>
            <a:xfrm>
              <a:off x="8953500" y="2667000"/>
              <a:ext cx="952500" cy="1"/>
            </a:xfrm>
            <a:prstGeom prst="line">
              <a:avLst/>
            </a:prstGeom>
            <a:noFill/>
            <a:ln w="19050">
              <a:solidFill>
                <a:srgbClr val="1565C0"/>
              </a:solidFill>
              <a:tailEnd type="triangle" w="lg" len="lg"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191750" y="2190750"/>
              <a:ext cx="952500" cy="1704975"/>
              <a:chOff x="10191750" y="2190750"/>
              <a:chExt cx="952500" cy="1704975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10191750" y="2190750"/>
                <a:ext cx="952500" cy="952500"/>
              </a:xfrm>
              <a:prstGeom prst="ellipse">
                <a:avLst/>
              </a:prstGeom>
              <a:solidFill>
                <a:srgbClr val="FF8A65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10372735" y="2400310"/>
                <a:ext cx="561955" cy="533381"/>
                <a:chOff x="10372735" y="2400310"/>
                <a:chExt cx="561955" cy="533381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10753725" y="2743210"/>
                  <a:ext cx="180965" cy="19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65" h="190481">
                      <a:moveTo>
                        <a:pt x="28575" y="123815"/>
                      </a:moveTo>
                      <a:cubicBezTo>
                        <a:pt x="12793" y="123815"/>
                        <a:pt x="0" y="111022"/>
                        <a:pt x="0" y="95240"/>
                      </a:cubicBezTo>
                      <a:cubicBezTo>
                        <a:pt x="0" y="79459"/>
                        <a:pt x="12793" y="66665"/>
                        <a:pt x="28575" y="66665"/>
                      </a:cubicBezTo>
                      <a:cubicBezTo>
                        <a:pt x="44357" y="66665"/>
                        <a:pt x="57150" y="53872"/>
                        <a:pt x="57150" y="38090"/>
                      </a:cubicBezTo>
                      <a:cubicBezTo>
                        <a:pt x="57150" y="0"/>
                        <a:pt x="114300" y="0"/>
                        <a:pt x="114300" y="38090"/>
                      </a:cubicBezTo>
                      <a:cubicBezTo>
                        <a:pt x="114300" y="53872"/>
                        <a:pt x="127093" y="66665"/>
                        <a:pt x="142875" y="66665"/>
                      </a:cubicBezTo>
                      <a:cubicBezTo>
                        <a:pt x="180965" y="66665"/>
                        <a:pt x="180965" y="123815"/>
                        <a:pt x="142875" y="123815"/>
                      </a:cubicBezTo>
                      <a:cubicBezTo>
                        <a:pt x="127093" y="123815"/>
                        <a:pt x="114300" y="136609"/>
                        <a:pt x="114300" y="152390"/>
                      </a:cubicBezTo>
                      <a:cubicBezTo>
                        <a:pt x="114300" y="190481"/>
                        <a:pt x="57150" y="190481"/>
                        <a:pt x="57150" y="152390"/>
                      </a:cubicBezTo>
                      <a:cubicBezTo>
                        <a:pt x="57150" y="136609"/>
                        <a:pt x="44357" y="123815"/>
                        <a:pt x="28575" y="123815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0372735" y="2457460"/>
                  <a:ext cx="419081" cy="4095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081" h="409565">
                      <a:moveTo>
                        <a:pt x="38090" y="180965"/>
                      </a:moveTo>
                      <a:cubicBezTo>
                        <a:pt x="116998" y="180965"/>
                        <a:pt x="180965" y="116998"/>
                        <a:pt x="180965" y="38090"/>
                      </a:cubicBezTo>
                      <a:cubicBezTo>
                        <a:pt x="180965" y="0"/>
                        <a:pt x="238115" y="0"/>
                        <a:pt x="238115" y="38090"/>
                      </a:cubicBezTo>
                      <a:cubicBezTo>
                        <a:pt x="238115" y="116998"/>
                        <a:pt x="302083" y="180965"/>
                        <a:pt x="380990" y="180965"/>
                      </a:cubicBezTo>
                      <a:cubicBezTo>
                        <a:pt x="419081" y="180965"/>
                        <a:pt x="419081" y="238115"/>
                        <a:pt x="380990" y="238115"/>
                      </a:cubicBezTo>
                      <a:cubicBezTo>
                        <a:pt x="302083" y="238115"/>
                        <a:pt x="238115" y="302083"/>
                        <a:pt x="238115" y="380990"/>
                      </a:cubicBezTo>
                      <a:cubicBezTo>
                        <a:pt x="238115" y="396772"/>
                        <a:pt x="225322" y="409565"/>
                        <a:pt x="209540" y="409565"/>
                      </a:cubicBezTo>
                      <a:cubicBezTo>
                        <a:pt x="193759" y="409565"/>
                        <a:pt x="180965" y="396772"/>
                        <a:pt x="180965" y="380990"/>
                      </a:cubicBezTo>
                      <a:cubicBezTo>
                        <a:pt x="180965" y="302083"/>
                        <a:pt x="116998" y="238115"/>
                        <a:pt x="38090" y="238115"/>
                      </a:cubicBezTo>
                      <a:cubicBezTo>
                        <a:pt x="0" y="238115"/>
                        <a:pt x="0" y="180965"/>
                        <a:pt x="38090" y="180965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0753725" y="2400310"/>
                  <a:ext cx="180965" cy="19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65" h="190481">
                      <a:moveTo>
                        <a:pt x="28575" y="123815"/>
                      </a:moveTo>
                      <a:cubicBezTo>
                        <a:pt x="12793" y="123815"/>
                        <a:pt x="0" y="111022"/>
                        <a:pt x="0" y="95240"/>
                      </a:cubicBezTo>
                      <a:cubicBezTo>
                        <a:pt x="0" y="79459"/>
                        <a:pt x="12793" y="66665"/>
                        <a:pt x="28575" y="66665"/>
                      </a:cubicBezTo>
                      <a:cubicBezTo>
                        <a:pt x="44357" y="66665"/>
                        <a:pt x="57150" y="53872"/>
                        <a:pt x="57150" y="38090"/>
                      </a:cubicBezTo>
                      <a:cubicBezTo>
                        <a:pt x="57150" y="0"/>
                        <a:pt x="114300" y="0"/>
                        <a:pt x="114300" y="38090"/>
                      </a:cubicBezTo>
                      <a:cubicBezTo>
                        <a:pt x="114300" y="53872"/>
                        <a:pt x="127093" y="66665"/>
                        <a:pt x="142875" y="66665"/>
                      </a:cubicBezTo>
                      <a:cubicBezTo>
                        <a:pt x="180965" y="66665"/>
                        <a:pt x="180965" y="123815"/>
                        <a:pt x="142875" y="123815"/>
                      </a:cubicBezTo>
                      <a:cubicBezTo>
                        <a:pt x="127093" y="123815"/>
                        <a:pt x="114300" y="136609"/>
                        <a:pt x="114300" y="152390"/>
                      </a:cubicBezTo>
                      <a:cubicBezTo>
                        <a:pt x="114300" y="190481"/>
                        <a:pt x="57150" y="190481"/>
                        <a:pt x="57150" y="152390"/>
                      </a:cubicBezTo>
                      <a:cubicBezTo>
                        <a:pt x="57150" y="136609"/>
                        <a:pt x="44357" y="123815"/>
                        <a:pt x="28575" y="123815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10258631" y="3378518"/>
                <a:ext cx="8187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8A65"/>
                    </a:solidFill>
                    <a:latin typeface="Arial"/>
                    <a:ea typeface="SimHei"/>
                    <a:cs typeface="Arial"/>
                  </a:rPr>
                  <a:t>LLM 生成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290524" y="3712845"/>
                <a:ext cx="75495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附"来源引用"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1089235" y="1982152"/>
            <a:ext cx="9251530" cy="213360"/>
            <a:chOff x="1089235" y="1982152"/>
            <a:chExt cx="9251530" cy="213360"/>
          </a:xfrm>
        </p:grpSpPr>
        <p:sp>
          <p:nvSpPr>
            <p:cNvPr id="46" name="TextBox 46"/>
            <p:cNvSpPr txBox="1"/>
            <p:nvPr/>
          </p:nvSpPr>
          <p:spPr>
            <a:xfrm>
              <a:off x="1089235" y="198215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75235" y="198215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61235" y="198215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47235" y="198215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33235" y="198215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8A65"/>
                  </a:solidFill>
                  <a:latin typeface="Arial"/>
                  <a:ea typeface="SimHei"/>
                  <a:cs typeface="Arial"/>
                </a:rPr>
                <a:t>⑤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52450" y="4124325"/>
            <a:ext cx="1718310" cy="304800"/>
            <a:chOff x="552450" y="4124325"/>
            <a:chExt cx="1718310" cy="304800"/>
          </a:xfrm>
        </p:grpSpPr>
        <p:sp>
          <p:nvSpPr>
            <p:cNvPr id="52" name="TextBox 52"/>
            <p:cNvSpPr txBox="1"/>
            <p:nvPr/>
          </p:nvSpPr>
          <p:spPr>
            <a:xfrm>
              <a:off x="552450" y="41243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每一步的工程要点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4476750"/>
            <a:ext cx="2667000" cy="1714500"/>
            <a:chOff x="571500" y="4476750"/>
            <a:chExt cx="2667000" cy="1714500"/>
          </a:xfrm>
        </p:grpSpPr>
        <p:sp>
          <p:nvSpPr>
            <p:cNvPr id="54" name="Rectangle 54"/>
            <p:cNvSpPr/>
            <p:nvPr/>
          </p:nvSpPr>
          <p:spPr>
            <a:xfrm>
              <a:off x="571500" y="4476750"/>
              <a:ext cx="266700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E0E3E7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71500" y="4476750"/>
              <a:ext cx="2667000" cy="381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6760" y="4728210"/>
              <a:ext cx="8453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① 检索质量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9618" y="5085874"/>
              <a:ext cx="151066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向量 + 关键词双路召回，</a:t>
              </a: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互为补充</a:t>
              </a: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选 Embedding 模型时，</a:t>
              </a: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优先同语言 / 同领域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429000" y="4476750"/>
            <a:ext cx="2667000" cy="1714500"/>
            <a:chOff x="3429000" y="4476750"/>
            <a:chExt cx="2667000" cy="1714500"/>
          </a:xfrm>
        </p:grpSpPr>
        <p:sp>
          <p:nvSpPr>
            <p:cNvPr id="59" name="Rectangle 59"/>
            <p:cNvSpPr/>
            <p:nvPr/>
          </p:nvSpPr>
          <p:spPr>
            <a:xfrm>
              <a:off x="3429000" y="4476750"/>
              <a:ext cx="266700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E0E3E7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3429000" y="4476750"/>
              <a:ext cx="2667000" cy="381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604260" y="4728210"/>
              <a:ext cx="10134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② 排序与过滤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607118" y="5085874"/>
              <a:ext cx="1423988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Cross-encoder 精排，</a:t>
              </a: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提升 Top-K 准确率</a:t>
              </a: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权限 / 时效 / 相关度</a:t>
              </a: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多维过滤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286500" y="4476750"/>
            <a:ext cx="2667000" cy="1714500"/>
            <a:chOff x="6286500" y="4476750"/>
            <a:chExt cx="2667000" cy="1714500"/>
          </a:xfrm>
        </p:grpSpPr>
        <p:sp>
          <p:nvSpPr>
            <p:cNvPr id="64" name="Rectangle 64"/>
            <p:cNvSpPr/>
            <p:nvPr/>
          </p:nvSpPr>
          <p:spPr>
            <a:xfrm>
              <a:off x="6286500" y="4476750"/>
              <a:ext cx="266700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E0E3E7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86500" y="4476750"/>
              <a:ext cx="2667000" cy="381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61760" y="4728210"/>
              <a:ext cx="114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③ Prompt 拼装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64618" y="5085874"/>
              <a:ext cx="1250632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Top-K 片段按相关度</a:t>
              </a: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排序后塞入上下文</a:t>
              </a: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系统提示约束回答</a:t>
              </a: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风格、引用、拒答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144000" y="4476750"/>
            <a:ext cx="2476500" cy="1714500"/>
            <a:chOff x="9144000" y="4476750"/>
            <a:chExt cx="2476500" cy="1714500"/>
          </a:xfrm>
        </p:grpSpPr>
        <p:sp>
          <p:nvSpPr>
            <p:cNvPr id="69" name="Rectangle 69"/>
            <p:cNvSpPr/>
            <p:nvPr/>
          </p:nvSpPr>
          <p:spPr>
            <a:xfrm>
              <a:off x="9144000" y="4476750"/>
              <a:ext cx="2476500" cy="1714500"/>
            </a:xfrm>
            <a:prstGeom prst="roundRect">
              <a:avLst>
                <a:gd name="adj" fmla="val 5556"/>
              </a:avLst>
            </a:prstGeom>
            <a:solidFill>
              <a:srgbClr val="FF8A65">
                <a:alpha val="8000"/>
              </a:srgbClr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144000" y="447675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FF8A65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19260" y="4728210"/>
              <a:ext cx="10134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8A65"/>
                  </a:solidFill>
                  <a:latin typeface="Arial"/>
                  <a:ea typeface="SimHei"/>
                  <a:cs typeface="Arial"/>
                </a:rPr>
                <a:t>④ 生成与溯源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322118" y="5085874"/>
              <a:ext cx="1244441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模型在上下文窗口内</a:t>
              </a: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 xml:space="preserve">作答，可附"引用 []" </a:t>
              </a: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失败回退：拒答 /</a:t>
              </a:r>
              <a:r>
                <a:rPr lang="zh-CN" sz="97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转人工 / 重检索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59118" y="6466999"/>
            <a:ext cx="11073764" cy="198120"/>
            <a:chOff x="559118" y="6466999"/>
            <a:chExt cx="11073764" cy="198120"/>
          </a:xfrm>
        </p:grpSpPr>
        <p:sp>
          <p:nvSpPr>
            <p:cNvPr id="74" name="TextBox 74"/>
            <p:cNvSpPr txBox="1"/>
            <p:nvPr/>
          </p:nvSpPr>
          <p:spPr>
            <a:xfrm>
              <a:off x="559118" y="6466999"/>
              <a:ext cx="1857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RAG 知识库 · 检索增强生成流程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1725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04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470535"/>
            <a:ext cx="4742455" cy="684371"/>
            <a:chOff x="571500" y="470535"/>
            <a:chExt cx="4742455" cy="684371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D47A1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7710" y="470535"/>
              <a:ext cx="458624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RAG 知识库的典型应用场景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7712" y="926306"/>
              <a:ext cx="2616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按"用户角色 × 任务复杂度"分四类场景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333500"/>
            <a:ext cx="11049000" cy="9525"/>
            <a:chOff x="571500" y="1333500"/>
            <a:chExt cx="11049000" cy="9525"/>
          </a:xfrm>
        </p:grpSpPr>
        <p:sp>
          <p:nvSpPr>
            <p:cNvPr id="9" name="Line 9"/>
            <p:cNvSpPr/>
            <p:nvPr/>
          </p:nvSpPr>
          <p:spPr>
            <a:xfrm>
              <a:off x="571500" y="1333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0E3E7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60700" y="1561624"/>
            <a:ext cx="11069300" cy="5103495"/>
            <a:chOff x="360700" y="1561624"/>
            <a:chExt cx="11069300" cy="5103495"/>
          </a:xfrm>
        </p:grpSpPr>
        <p:sp>
          <p:nvSpPr>
            <p:cNvPr id="11" name="Line 11"/>
            <p:cNvSpPr/>
            <p:nvPr/>
          </p:nvSpPr>
          <p:spPr>
            <a:xfrm>
              <a:off x="60960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E0E3E7"/>
              </a:solidFill>
              <a:prstDash val="dash"/>
            </a:ln>
          </p:spPr>
        </p:sp>
        <p:sp>
          <p:nvSpPr>
            <p:cNvPr id="12" name="Line 12"/>
            <p:cNvSpPr/>
            <p:nvPr/>
          </p:nvSpPr>
          <p:spPr>
            <a:xfrm>
              <a:off x="762000" y="4000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0E3E7"/>
              </a:solidFill>
              <a:prstDash val="dash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732086" y="1561624"/>
              <a:ext cx="7278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F6368"/>
                  </a:solidFill>
                  <a:latin typeface="Arial"/>
                  <a:ea typeface="SimHei"/>
                  <a:cs typeface="Arial"/>
                </a:rPr>
                <a:t>通用 · 全员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17072" y="6466999"/>
              <a:ext cx="11578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F6368"/>
                  </a:solidFill>
                  <a:latin typeface="Arial"/>
                  <a:ea typeface="SimHei"/>
                  <a:cs typeface="Arial"/>
                </a:rPr>
                <a:t>专业 · 业务 / 技术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0700" y="3942874"/>
              <a:ext cx="707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F6368"/>
                  </a:solidFill>
                  <a:latin typeface="Arial"/>
                  <a:ea typeface="SimHei"/>
                  <a:cs typeface="Arial"/>
                </a:rPr>
                <a:t>任务复杂度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4517" y="4141470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AA0A6"/>
                  </a:solidFill>
                  <a:latin typeface="Arial"/>
                  <a:ea typeface="SimHei"/>
                  <a:cs typeface="Arial"/>
                </a:rPr>
                <a:t>← 简单 / 标准化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24525" y="64750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AA0A6"/>
                  </a:solidFill>
                  <a:latin typeface="Arial"/>
                  <a:ea typeface="SimHei"/>
                  <a:cs typeface="Arial"/>
                </a:rPr>
                <a:t>复杂 / 决策 →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33500" y="1905000"/>
            <a:ext cx="4381500" cy="1905000"/>
            <a:chOff x="1333500" y="1905000"/>
            <a:chExt cx="4381500" cy="1905000"/>
          </a:xfrm>
        </p:grpSpPr>
        <p:sp>
          <p:nvSpPr>
            <p:cNvPr id="19" name="Rectangle 19"/>
            <p:cNvSpPr/>
            <p:nvPr/>
          </p:nvSpPr>
          <p:spPr>
            <a:xfrm>
              <a:off x="1333500" y="1905000"/>
              <a:ext cx="4381500" cy="1905000"/>
            </a:xfrm>
            <a:prstGeom prst="roundRect">
              <a:avLst>
                <a:gd name="adj" fmla="val 6000"/>
              </a:avLst>
            </a:prstGeom>
            <a:solidFill>
              <a:srgbClr val="1565C0">
                <a:alpha val="6000"/>
              </a:srgbClr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333500" y="1905000"/>
              <a:ext cx="38100" cy="1905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62100" y="2038350"/>
              <a:ext cx="495300" cy="4953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599609" y="2098262"/>
              <a:ext cx="420872" cy="376828"/>
            </a:xfrm>
            <a:custGeom>
              <a:avLst/>
              <a:gdLst/>
              <a:ahLst/>
              <a:cxnLst/>
              <a:rect l="l" t="t" r="r" b="b"/>
              <a:pathLst>
                <a:path w="420872" h="376828">
                  <a:moveTo>
                    <a:pt x="92431" y="52673"/>
                  </a:moveTo>
                  <a:cubicBezTo>
                    <a:pt x="166707" y="0"/>
                    <a:pt x="272796" y="4305"/>
                    <a:pt x="341471" y="62865"/>
                  </a:cubicBezTo>
                  <a:cubicBezTo>
                    <a:pt x="411328" y="122472"/>
                    <a:pt x="420872" y="219799"/>
                    <a:pt x="363417" y="289522"/>
                  </a:cubicBezTo>
                  <a:cubicBezTo>
                    <a:pt x="309296" y="355187"/>
                    <a:pt x="211684" y="376828"/>
                    <a:pt x="130416" y="342957"/>
                  </a:cubicBezTo>
                  <a:lnTo>
                    <a:pt x="125978" y="341033"/>
                  </a:lnTo>
                  <a:lnTo>
                    <a:pt x="42653" y="358769"/>
                  </a:lnTo>
                  <a:lnTo>
                    <a:pt x="41891" y="358883"/>
                  </a:lnTo>
                  <a:lnTo>
                    <a:pt x="41224" y="359016"/>
                  </a:lnTo>
                  <a:lnTo>
                    <a:pt x="40881" y="359016"/>
                  </a:lnTo>
                  <a:lnTo>
                    <a:pt x="40462" y="359112"/>
                  </a:lnTo>
                  <a:lnTo>
                    <a:pt x="39738" y="359112"/>
                  </a:lnTo>
                  <a:lnTo>
                    <a:pt x="39110" y="359188"/>
                  </a:lnTo>
                  <a:lnTo>
                    <a:pt x="38710" y="359169"/>
                  </a:lnTo>
                  <a:lnTo>
                    <a:pt x="38271" y="359188"/>
                  </a:lnTo>
                  <a:lnTo>
                    <a:pt x="37643" y="359131"/>
                  </a:lnTo>
                  <a:lnTo>
                    <a:pt x="36976" y="359131"/>
                  </a:lnTo>
                  <a:lnTo>
                    <a:pt x="36557" y="359054"/>
                  </a:lnTo>
                  <a:lnTo>
                    <a:pt x="36138" y="359016"/>
                  </a:lnTo>
                  <a:lnTo>
                    <a:pt x="35471" y="358883"/>
                  </a:lnTo>
                  <a:lnTo>
                    <a:pt x="34823" y="358788"/>
                  </a:lnTo>
                  <a:lnTo>
                    <a:pt x="34519" y="358711"/>
                  </a:lnTo>
                  <a:lnTo>
                    <a:pt x="34061" y="358616"/>
                  </a:lnTo>
                  <a:lnTo>
                    <a:pt x="33128" y="358311"/>
                  </a:lnTo>
                  <a:lnTo>
                    <a:pt x="32671" y="358216"/>
                  </a:lnTo>
                  <a:lnTo>
                    <a:pt x="32461" y="358121"/>
                  </a:lnTo>
                  <a:lnTo>
                    <a:pt x="32042" y="357988"/>
                  </a:lnTo>
                  <a:lnTo>
                    <a:pt x="31185" y="357607"/>
                  </a:lnTo>
                  <a:lnTo>
                    <a:pt x="30613" y="357378"/>
                  </a:lnTo>
                  <a:lnTo>
                    <a:pt x="30404" y="357264"/>
                  </a:lnTo>
                  <a:lnTo>
                    <a:pt x="30137" y="357149"/>
                  </a:lnTo>
                  <a:lnTo>
                    <a:pt x="29547" y="356807"/>
                  </a:lnTo>
                  <a:lnTo>
                    <a:pt x="28689" y="356349"/>
                  </a:lnTo>
                  <a:lnTo>
                    <a:pt x="28384" y="356140"/>
                  </a:lnTo>
                  <a:lnTo>
                    <a:pt x="27680" y="355644"/>
                  </a:lnTo>
                  <a:lnTo>
                    <a:pt x="26918" y="355130"/>
                  </a:lnTo>
                  <a:lnTo>
                    <a:pt x="26880" y="355054"/>
                  </a:lnTo>
                  <a:lnTo>
                    <a:pt x="26632" y="354882"/>
                  </a:lnTo>
                  <a:lnTo>
                    <a:pt x="25813" y="354120"/>
                  </a:lnTo>
                  <a:lnTo>
                    <a:pt x="25336" y="353739"/>
                  </a:lnTo>
                  <a:lnTo>
                    <a:pt x="25222" y="353606"/>
                  </a:lnTo>
                  <a:lnTo>
                    <a:pt x="24155" y="352425"/>
                  </a:lnTo>
                  <a:lnTo>
                    <a:pt x="23908" y="352158"/>
                  </a:lnTo>
                  <a:lnTo>
                    <a:pt x="23698" y="351892"/>
                  </a:lnTo>
                  <a:lnTo>
                    <a:pt x="22955" y="350825"/>
                  </a:lnTo>
                  <a:lnTo>
                    <a:pt x="22689" y="350463"/>
                  </a:lnTo>
                  <a:lnTo>
                    <a:pt x="22593" y="350272"/>
                  </a:lnTo>
                  <a:lnTo>
                    <a:pt x="21793" y="348882"/>
                  </a:lnTo>
                  <a:lnTo>
                    <a:pt x="21660" y="348653"/>
                  </a:lnTo>
                  <a:lnTo>
                    <a:pt x="21584" y="348501"/>
                  </a:lnTo>
                  <a:lnTo>
                    <a:pt x="21450" y="348272"/>
                  </a:lnTo>
                  <a:lnTo>
                    <a:pt x="21184" y="347548"/>
                  </a:lnTo>
                  <a:lnTo>
                    <a:pt x="20803" y="346748"/>
                  </a:lnTo>
                  <a:lnTo>
                    <a:pt x="20726" y="346443"/>
                  </a:lnTo>
                  <a:lnTo>
                    <a:pt x="20650" y="346253"/>
                  </a:lnTo>
                  <a:lnTo>
                    <a:pt x="20326" y="345091"/>
                  </a:lnTo>
                  <a:lnTo>
                    <a:pt x="20193" y="344748"/>
                  </a:lnTo>
                  <a:lnTo>
                    <a:pt x="20155" y="344462"/>
                  </a:lnTo>
                  <a:lnTo>
                    <a:pt x="20060" y="344100"/>
                  </a:lnTo>
                  <a:lnTo>
                    <a:pt x="19964" y="343472"/>
                  </a:lnTo>
                  <a:lnTo>
                    <a:pt x="19812" y="342671"/>
                  </a:lnTo>
                  <a:lnTo>
                    <a:pt x="19774" y="342081"/>
                  </a:lnTo>
                  <a:lnTo>
                    <a:pt x="19717" y="341890"/>
                  </a:lnTo>
                  <a:lnTo>
                    <a:pt x="19717" y="341586"/>
                  </a:lnTo>
                  <a:lnTo>
                    <a:pt x="19641" y="340557"/>
                  </a:lnTo>
                  <a:lnTo>
                    <a:pt x="19660" y="339871"/>
                  </a:lnTo>
                  <a:lnTo>
                    <a:pt x="19679" y="339433"/>
                  </a:lnTo>
                  <a:lnTo>
                    <a:pt x="19717" y="338423"/>
                  </a:lnTo>
                  <a:lnTo>
                    <a:pt x="19793" y="337947"/>
                  </a:lnTo>
                  <a:lnTo>
                    <a:pt x="19793" y="337585"/>
                  </a:lnTo>
                  <a:lnTo>
                    <a:pt x="19945" y="336918"/>
                  </a:lnTo>
                  <a:lnTo>
                    <a:pt x="20041" y="336271"/>
                  </a:lnTo>
                  <a:lnTo>
                    <a:pt x="20136" y="335890"/>
                  </a:lnTo>
                  <a:lnTo>
                    <a:pt x="20212" y="335509"/>
                  </a:lnTo>
                  <a:lnTo>
                    <a:pt x="20555" y="334366"/>
                  </a:lnTo>
                  <a:lnTo>
                    <a:pt x="20612" y="334118"/>
                  </a:lnTo>
                  <a:lnTo>
                    <a:pt x="42520" y="268395"/>
                  </a:lnTo>
                  <a:lnTo>
                    <a:pt x="42100" y="267691"/>
                  </a:lnTo>
                  <a:cubicBezTo>
                    <a:pt x="0" y="196310"/>
                    <a:pt x="19069" y="107842"/>
                    <a:pt x="88068" y="558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65045" y="21078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通用知识助手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73618" y="2428399"/>
              <a:ext cx="15394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面向全员 · 7×24 即问即答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524000" y="27622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E0E3E7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10665" y="2934652"/>
              <a:ext cx="1700213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HR 政策 / 福利 / 假期咨询</a:t>
              </a: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IT 指南 / 设备申请流程</a:t>
              </a: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产品手册 / 常见问题解答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77000" y="1905000"/>
            <a:ext cx="4381500" cy="1905000"/>
            <a:chOff x="6477000" y="1905000"/>
            <a:chExt cx="4381500" cy="1905000"/>
          </a:xfrm>
        </p:grpSpPr>
        <p:sp>
          <p:nvSpPr>
            <p:cNvPr id="28" name="Rectangle 28"/>
            <p:cNvSpPr/>
            <p:nvPr/>
          </p:nvSpPr>
          <p:spPr>
            <a:xfrm>
              <a:off x="6477000" y="1905000"/>
              <a:ext cx="4381500" cy="1905000"/>
            </a:xfrm>
            <a:prstGeom prst="roundRect">
              <a:avLst>
                <a:gd name="adj" fmla="val 6000"/>
              </a:avLst>
            </a:prstGeom>
            <a:solidFill>
              <a:srgbClr val="26A69A">
                <a:alpha val="7000"/>
              </a:srgb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7000" y="1905000"/>
              <a:ext cx="38100" cy="1905000"/>
            </a:xfrm>
            <a:prstGeom prst="roundRect">
              <a:avLst>
                <a:gd name="adj" fmla="val 50000"/>
              </a:avLst>
            </a:prstGeom>
            <a:solidFill>
              <a:srgbClr val="26A6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705600" y="2038350"/>
              <a:ext cx="495300" cy="495300"/>
            </a:xfrm>
            <a:prstGeom prst="ellipse">
              <a:avLst/>
            </a:prstGeom>
            <a:solidFill>
              <a:srgbClr val="26A69A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747576" y="2077618"/>
              <a:ext cx="397811" cy="400520"/>
            </a:xfrm>
            <a:custGeom>
              <a:avLst/>
              <a:gdLst/>
              <a:ahLst/>
              <a:cxnLst/>
              <a:rect l="l" t="t" r="r" b="b"/>
              <a:pathLst>
                <a:path w="397811" h="400520">
                  <a:moveTo>
                    <a:pt x="243774" y="38303"/>
                  </a:moveTo>
                  <a:cubicBezTo>
                    <a:pt x="281913" y="60319"/>
                    <a:pt x="308664" y="97757"/>
                    <a:pt x="317136" y="140972"/>
                  </a:cubicBezTo>
                  <a:cubicBezTo>
                    <a:pt x="325609" y="184187"/>
                    <a:pt x="314973" y="228954"/>
                    <a:pt x="287970" y="263741"/>
                  </a:cubicBezTo>
                  <a:lnTo>
                    <a:pt x="390592" y="366364"/>
                  </a:lnTo>
                  <a:cubicBezTo>
                    <a:pt x="397811" y="373838"/>
                    <a:pt x="397708" y="385720"/>
                    <a:pt x="390360" y="393068"/>
                  </a:cubicBezTo>
                  <a:cubicBezTo>
                    <a:pt x="383012" y="400416"/>
                    <a:pt x="371130" y="400520"/>
                    <a:pt x="363655" y="393300"/>
                  </a:cubicBezTo>
                  <a:lnTo>
                    <a:pt x="261014" y="290678"/>
                  </a:lnTo>
                  <a:cubicBezTo>
                    <a:pt x="200510" y="337626"/>
                    <a:pt x="114564" y="332382"/>
                    <a:pt x="60216" y="278428"/>
                  </a:cubicBezTo>
                  <a:cubicBezTo>
                    <a:pt x="5868" y="224474"/>
                    <a:pt x="0" y="138568"/>
                    <a:pt x="46507" y="77725"/>
                  </a:cubicBezTo>
                  <a:cubicBezTo>
                    <a:pt x="93013" y="16881"/>
                    <a:pt x="177448" y="0"/>
                    <a:pt x="243774" y="3828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08545" y="21078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专业领域问答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17118" y="2428399"/>
              <a:ext cx="1883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面向工程师 / 分析师 · 精准引用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667500" y="27622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E0E3E7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4165" y="2934652"/>
              <a:ext cx="1626870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技术规范 / 接口文档问答</a:t>
              </a: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代码片段 / 错误栈定位</a:t>
              </a: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行业报告 / 研究材料引用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33500" y="4191000"/>
            <a:ext cx="4381500" cy="1905000"/>
            <a:chOff x="1333500" y="4191000"/>
            <a:chExt cx="4381500" cy="1905000"/>
          </a:xfrm>
        </p:grpSpPr>
        <p:sp>
          <p:nvSpPr>
            <p:cNvPr id="37" name="Rectangle 37"/>
            <p:cNvSpPr/>
            <p:nvPr/>
          </p:nvSpPr>
          <p:spPr>
            <a:xfrm>
              <a:off x="1333500" y="4191000"/>
              <a:ext cx="4381500" cy="1905000"/>
            </a:xfrm>
            <a:prstGeom prst="roundRect">
              <a:avLst>
                <a:gd name="adj" fmla="val 6000"/>
              </a:avLst>
            </a:prstGeom>
            <a:solidFill>
              <a:srgbClr val="7B1FA2">
                <a:alpha val="6000"/>
              </a:srgbClr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333500" y="4191000"/>
              <a:ext cx="38100" cy="1905000"/>
            </a:xfrm>
            <a:prstGeom prst="roundRect">
              <a:avLst>
                <a:gd name="adj" fmla="val 50000"/>
              </a:avLst>
            </a:prstGeom>
            <a:solidFill>
              <a:srgbClr val="7B1FA2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562100" y="4324350"/>
              <a:ext cx="495300" cy="495300"/>
            </a:xfrm>
            <a:prstGeom prst="ellipse">
              <a:avLst/>
            </a:prstGeom>
            <a:solidFill>
              <a:srgbClr val="7B1FA2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638299" y="4381500"/>
              <a:ext cx="342901" cy="381000"/>
              <a:chOff x="1638299" y="4381500"/>
              <a:chExt cx="342901" cy="3810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638300" y="4643076"/>
                <a:ext cx="342900" cy="119424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19424">
                    <a:moveTo>
                      <a:pt x="0" y="0"/>
                    </a:moveTo>
                    <a:cubicBezTo>
                      <a:pt x="37490" y="28708"/>
                      <a:pt x="99708" y="43224"/>
                      <a:pt x="171450" y="43224"/>
                    </a:cubicBezTo>
                    <a:cubicBezTo>
                      <a:pt x="243078" y="43224"/>
                      <a:pt x="305276" y="28746"/>
                      <a:pt x="342900" y="324"/>
                    </a:cubicBezTo>
                    <a:lnTo>
                      <a:pt x="342900" y="43224"/>
                    </a:lnTo>
                    <a:cubicBezTo>
                      <a:pt x="342900" y="89421"/>
                      <a:pt x="268700" y="118205"/>
                      <a:pt x="177298" y="119386"/>
                    </a:cubicBezTo>
                    <a:lnTo>
                      <a:pt x="171450" y="119424"/>
                    </a:lnTo>
                    <a:cubicBezTo>
                      <a:pt x="77381" y="119424"/>
                      <a:pt x="0" y="90411"/>
                      <a:pt x="0" y="432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638300" y="4528776"/>
                <a:ext cx="342900" cy="119424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19424">
                    <a:moveTo>
                      <a:pt x="0" y="0"/>
                    </a:moveTo>
                    <a:cubicBezTo>
                      <a:pt x="37490" y="28708"/>
                      <a:pt x="99708" y="43224"/>
                      <a:pt x="171450" y="43224"/>
                    </a:cubicBezTo>
                    <a:cubicBezTo>
                      <a:pt x="243078" y="43224"/>
                      <a:pt x="305276" y="28746"/>
                      <a:pt x="342900" y="324"/>
                    </a:cubicBezTo>
                    <a:lnTo>
                      <a:pt x="342900" y="43224"/>
                    </a:lnTo>
                    <a:cubicBezTo>
                      <a:pt x="342900" y="90411"/>
                      <a:pt x="265519" y="119424"/>
                      <a:pt x="171450" y="119424"/>
                    </a:cubicBezTo>
                    <a:cubicBezTo>
                      <a:pt x="80048" y="119424"/>
                      <a:pt x="4382" y="92031"/>
                      <a:pt x="400" y="47130"/>
                    </a:cubicBezTo>
                    <a:lnTo>
                      <a:pt x="95" y="45206"/>
                    </a:lnTo>
                    <a:lnTo>
                      <a:pt x="0" y="432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638299" y="4381500"/>
                <a:ext cx="342901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1" h="152400">
                    <a:moveTo>
                      <a:pt x="171451" y="0"/>
                    </a:moveTo>
                    <a:cubicBezTo>
                      <a:pt x="191283" y="0"/>
                      <a:pt x="210390" y="1295"/>
                      <a:pt x="228163" y="3772"/>
                    </a:cubicBezTo>
                    <a:lnTo>
                      <a:pt x="237098" y="5124"/>
                    </a:lnTo>
                    <a:cubicBezTo>
                      <a:pt x="247766" y="6902"/>
                      <a:pt x="257837" y="9112"/>
                      <a:pt x="267311" y="11754"/>
                    </a:cubicBezTo>
                    <a:lnTo>
                      <a:pt x="275693" y="14249"/>
                    </a:lnTo>
                    <a:lnTo>
                      <a:pt x="277122" y="14707"/>
                    </a:lnTo>
                    <a:cubicBezTo>
                      <a:pt x="282306" y="16411"/>
                      <a:pt x="287422" y="18318"/>
                      <a:pt x="292457" y="20422"/>
                    </a:cubicBezTo>
                    <a:lnTo>
                      <a:pt x="296248" y="22060"/>
                    </a:lnTo>
                    <a:cubicBezTo>
                      <a:pt x="303043" y="25133"/>
                      <a:pt x="309183" y="28499"/>
                      <a:pt x="314669" y="32156"/>
                    </a:cubicBezTo>
                    <a:cubicBezTo>
                      <a:pt x="316765" y="33553"/>
                      <a:pt x="318752" y="34982"/>
                      <a:pt x="320632" y="36443"/>
                    </a:cubicBezTo>
                    <a:cubicBezTo>
                      <a:pt x="325393" y="40137"/>
                      <a:pt x="329675" y="44412"/>
                      <a:pt x="333376" y="49168"/>
                    </a:cubicBezTo>
                    <a:lnTo>
                      <a:pt x="335110" y="51606"/>
                    </a:lnTo>
                    <a:cubicBezTo>
                      <a:pt x="335999" y="52940"/>
                      <a:pt x="336818" y="54280"/>
                      <a:pt x="337567" y="55626"/>
                    </a:cubicBezTo>
                    <a:lnTo>
                      <a:pt x="338901" y="58274"/>
                    </a:lnTo>
                    <a:cubicBezTo>
                      <a:pt x="340971" y="62719"/>
                      <a:pt x="342241" y="67354"/>
                      <a:pt x="342711" y="72180"/>
                    </a:cubicBezTo>
                    <a:lnTo>
                      <a:pt x="342901" y="76200"/>
                    </a:lnTo>
                    <a:cubicBezTo>
                      <a:pt x="342901" y="123387"/>
                      <a:pt x="265520" y="152400"/>
                      <a:pt x="171451" y="152400"/>
                    </a:cubicBezTo>
                    <a:cubicBezTo>
                      <a:pt x="80050" y="152400"/>
                      <a:pt x="4383" y="125006"/>
                      <a:pt x="402" y="80105"/>
                    </a:cubicBezTo>
                    <a:cubicBezTo>
                      <a:pt x="134" y="78821"/>
                      <a:pt x="0" y="77512"/>
                      <a:pt x="1" y="76200"/>
                    </a:cubicBezTo>
                    <a:lnTo>
                      <a:pt x="97" y="74219"/>
                    </a:lnTo>
                    <a:lnTo>
                      <a:pt x="402" y="72314"/>
                    </a:lnTo>
                    <a:cubicBezTo>
                      <a:pt x="4307" y="28385"/>
                      <a:pt x="76792" y="1200"/>
                      <a:pt x="165508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2265045" y="43938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决策辅助与洞察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273618" y="47143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面向管理者 · 跨域数据汇总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1524000" y="50482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E0E3E7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510665" y="5220652"/>
              <a:ext cx="1513523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跨部门数据汇总 / 对比</a:t>
              </a: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会议纪要 → 行动项抽取</a:t>
              </a: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竞品 / 法规 / 合规检索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477000" y="4191000"/>
            <a:ext cx="4381500" cy="1905000"/>
            <a:chOff x="6477000" y="4191000"/>
            <a:chExt cx="4381500" cy="1905000"/>
          </a:xfrm>
        </p:grpSpPr>
        <p:sp>
          <p:nvSpPr>
            <p:cNvPr id="49" name="Rectangle 49"/>
            <p:cNvSpPr/>
            <p:nvPr/>
          </p:nvSpPr>
          <p:spPr>
            <a:xfrm>
              <a:off x="6477000" y="4191000"/>
              <a:ext cx="4381500" cy="1905000"/>
            </a:xfrm>
            <a:prstGeom prst="roundRect">
              <a:avLst>
                <a:gd name="adj" fmla="val 6000"/>
              </a:avLst>
            </a:prstGeom>
            <a:solidFill>
              <a:srgbClr val="FF8A65">
                <a:alpha val="7000"/>
              </a:srgbClr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7000" y="4191000"/>
              <a:ext cx="38100" cy="1905000"/>
            </a:xfrm>
            <a:prstGeom prst="roundRect">
              <a:avLst>
                <a:gd name="adj" fmla="val 50000"/>
              </a:avLst>
            </a:prstGeom>
            <a:solidFill>
              <a:srgbClr val="FF8A65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705600" y="4324350"/>
              <a:ext cx="495300" cy="495300"/>
            </a:xfrm>
            <a:prstGeom prst="ellipse">
              <a:avLst/>
            </a:prstGeom>
            <a:solidFill>
              <a:srgbClr val="FF8A6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6799987" y="4381500"/>
              <a:ext cx="306525" cy="388068"/>
            </a:xfrm>
            <a:custGeom>
              <a:avLst/>
              <a:gdLst/>
              <a:ahLst/>
              <a:cxnLst/>
              <a:rect l="l" t="t" r="r" b="b"/>
              <a:pathLst>
                <a:path w="306525" h="388068">
                  <a:moveTo>
                    <a:pt x="172313" y="0"/>
                  </a:moveTo>
                  <a:lnTo>
                    <a:pt x="172655" y="19"/>
                  </a:lnTo>
                  <a:lnTo>
                    <a:pt x="172960" y="38"/>
                  </a:lnTo>
                  <a:lnTo>
                    <a:pt x="174541" y="133"/>
                  </a:lnTo>
                  <a:lnTo>
                    <a:pt x="174751" y="171"/>
                  </a:lnTo>
                  <a:lnTo>
                    <a:pt x="174960" y="171"/>
                  </a:lnTo>
                  <a:lnTo>
                    <a:pt x="175684" y="343"/>
                  </a:lnTo>
                  <a:lnTo>
                    <a:pt x="176675" y="495"/>
                  </a:lnTo>
                  <a:lnTo>
                    <a:pt x="176980" y="610"/>
                  </a:lnTo>
                  <a:lnTo>
                    <a:pt x="177189" y="629"/>
                  </a:lnTo>
                  <a:lnTo>
                    <a:pt x="177742" y="838"/>
                  </a:lnTo>
                  <a:lnTo>
                    <a:pt x="178732" y="1105"/>
                  </a:lnTo>
                  <a:lnTo>
                    <a:pt x="179094" y="1276"/>
                  </a:lnTo>
                  <a:lnTo>
                    <a:pt x="179380" y="1353"/>
                  </a:lnTo>
                  <a:lnTo>
                    <a:pt x="179913" y="1619"/>
                  </a:lnTo>
                  <a:lnTo>
                    <a:pt x="180675" y="1943"/>
                  </a:lnTo>
                  <a:lnTo>
                    <a:pt x="181076" y="2172"/>
                  </a:lnTo>
                  <a:lnTo>
                    <a:pt x="181495" y="2362"/>
                  </a:lnTo>
                  <a:lnTo>
                    <a:pt x="181933" y="2648"/>
                  </a:lnTo>
                  <a:lnTo>
                    <a:pt x="182523" y="2972"/>
                  </a:lnTo>
                  <a:lnTo>
                    <a:pt x="183171" y="3429"/>
                  </a:lnTo>
                  <a:lnTo>
                    <a:pt x="183514" y="3639"/>
                  </a:lnTo>
                  <a:lnTo>
                    <a:pt x="183762" y="3867"/>
                  </a:lnTo>
                  <a:lnTo>
                    <a:pt x="184219" y="4191"/>
                  </a:lnTo>
                  <a:lnTo>
                    <a:pt x="184943" y="4839"/>
                  </a:lnTo>
                  <a:lnTo>
                    <a:pt x="185362" y="5163"/>
                  </a:lnTo>
                  <a:lnTo>
                    <a:pt x="185514" y="5353"/>
                  </a:lnTo>
                  <a:lnTo>
                    <a:pt x="185781" y="5582"/>
                  </a:lnTo>
                  <a:lnTo>
                    <a:pt x="186467" y="6363"/>
                  </a:lnTo>
                  <a:lnTo>
                    <a:pt x="186962" y="6877"/>
                  </a:lnTo>
                  <a:lnTo>
                    <a:pt x="187076" y="7049"/>
                  </a:lnTo>
                  <a:cubicBezTo>
                    <a:pt x="189362" y="9849"/>
                    <a:pt x="190810" y="13183"/>
                    <a:pt x="191229" y="16821"/>
                  </a:cubicBezTo>
                  <a:lnTo>
                    <a:pt x="191248" y="17050"/>
                  </a:lnTo>
                  <a:lnTo>
                    <a:pt x="191286" y="17831"/>
                  </a:lnTo>
                  <a:lnTo>
                    <a:pt x="191363" y="19050"/>
                  </a:lnTo>
                  <a:lnTo>
                    <a:pt x="191363" y="133350"/>
                  </a:lnTo>
                  <a:lnTo>
                    <a:pt x="286613" y="133350"/>
                  </a:lnTo>
                  <a:cubicBezTo>
                    <a:pt x="293407" y="133348"/>
                    <a:pt x="299689" y="136966"/>
                    <a:pt x="303097" y="142844"/>
                  </a:cubicBezTo>
                  <a:cubicBezTo>
                    <a:pt x="306506" y="148723"/>
                    <a:pt x="306525" y="155971"/>
                    <a:pt x="303148" y="161868"/>
                  </a:cubicBezTo>
                  <a:lnTo>
                    <a:pt x="302005" y="163601"/>
                  </a:lnTo>
                  <a:lnTo>
                    <a:pt x="149605" y="373151"/>
                  </a:lnTo>
                  <a:cubicBezTo>
                    <a:pt x="138785" y="388068"/>
                    <a:pt x="115163" y="380390"/>
                    <a:pt x="115163" y="361950"/>
                  </a:cubicBezTo>
                  <a:lnTo>
                    <a:pt x="115163" y="247650"/>
                  </a:lnTo>
                  <a:lnTo>
                    <a:pt x="19913" y="247650"/>
                  </a:lnTo>
                  <a:cubicBezTo>
                    <a:pt x="13118" y="247652"/>
                    <a:pt x="6836" y="244034"/>
                    <a:pt x="3428" y="238156"/>
                  </a:cubicBezTo>
                  <a:cubicBezTo>
                    <a:pt x="19" y="232277"/>
                    <a:pt x="0" y="225029"/>
                    <a:pt x="3377" y="219132"/>
                  </a:cubicBezTo>
                  <a:lnTo>
                    <a:pt x="4520" y="217399"/>
                  </a:lnTo>
                  <a:lnTo>
                    <a:pt x="156920" y="7849"/>
                  </a:lnTo>
                  <a:lnTo>
                    <a:pt x="157111" y="7601"/>
                  </a:lnTo>
                  <a:lnTo>
                    <a:pt x="157454" y="7144"/>
                  </a:lnTo>
                  <a:lnTo>
                    <a:pt x="158082" y="6420"/>
                  </a:lnTo>
                  <a:lnTo>
                    <a:pt x="158425" y="6001"/>
                  </a:lnTo>
                  <a:lnTo>
                    <a:pt x="158597" y="5848"/>
                  </a:lnTo>
                  <a:lnTo>
                    <a:pt x="158844" y="5582"/>
                  </a:lnTo>
                  <a:lnTo>
                    <a:pt x="159606" y="4896"/>
                  </a:lnTo>
                  <a:lnTo>
                    <a:pt x="160140" y="4401"/>
                  </a:lnTo>
                  <a:lnTo>
                    <a:pt x="160292" y="4286"/>
                  </a:lnTo>
                  <a:cubicBezTo>
                    <a:pt x="162525" y="2459"/>
                    <a:pt x="165143" y="1163"/>
                    <a:pt x="167950" y="495"/>
                  </a:cubicBezTo>
                  <a:lnTo>
                    <a:pt x="168160" y="476"/>
                  </a:lnTo>
                  <a:lnTo>
                    <a:pt x="168674" y="381"/>
                  </a:lnTo>
                  <a:lnTo>
                    <a:pt x="170084" y="133"/>
                  </a:lnTo>
                  <a:lnTo>
                    <a:pt x="170293" y="114"/>
                  </a:lnTo>
                  <a:lnTo>
                    <a:pt x="171074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08545" y="43938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SimHei"/>
                  <a:cs typeface="Arial"/>
                </a:rPr>
                <a:t>流程自动化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17118" y="4714399"/>
              <a:ext cx="16239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面向运营 / 客服 · 效率工具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6667500" y="50482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E0E3E7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54165" y="5220652"/>
              <a:ext cx="1646873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工单自动归类 / 回复草稿</a:t>
              </a: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合同条款抽取 / 风险对比</a:t>
              </a: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· SOP 文档检索 + 流程引导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6286500"/>
            <a:ext cx="11049000" cy="381000"/>
            <a:chOff x="571500" y="6286500"/>
            <a:chExt cx="11049000" cy="381000"/>
          </a:xfrm>
        </p:grpSpPr>
        <p:sp>
          <p:nvSpPr>
            <p:cNvPr id="58" name="Rectangle 58"/>
            <p:cNvSpPr/>
            <p:nvPr/>
          </p:nvSpPr>
          <p:spPr>
            <a:xfrm>
              <a:off x="571500" y="6286500"/>
              <a:ext cx="11049000" cy="381000"/>
            </a:xfrm>
            <a:prstGeom prst="roundRect">
              <a:avLst>
                <a:gd name="adj" fmla="val 20000"/>
              </a:avLst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8665" y="6411278"/>
              <a:ext cx="59704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小结</a:t>
              </a: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 xml:space="preserve"> RAG 把"会说话的大模型"变成"会读你公司文档的同事"，4 类场景共用一套检索 + 生成链路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0070" y="6665595"/>
            <a:ext cx="11071860" cy="182880"/>
            <a:chOff x="560070" y="6665595"/>
            <a:chExt cx="11071860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560070" y="6665595"/>
              <a:ext cx="12350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RAG 知识库 · 应用场景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07020" y="66655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05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2026-06-21T05:57:46Z</dcterms:created>
  <dcterms:modified xsi:type="dcterms:W3CDTF">2026-06-21T05:57:46Z</dcterms:modified>
  <cp:category/>
  <cp:contentStatus/>
</cp:coreProperties>
</file>